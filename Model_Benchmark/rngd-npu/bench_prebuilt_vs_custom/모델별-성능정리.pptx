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notesMaster" Target="notesMasters/notesMaster1.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크기는 배포명 기준. A3B, A23B 는 MoE 의 활성 파라미터를 뜻한다(전체 30B 중 3B 가 토큰마다 동작). 컨텍스트는 라우터 REGISTRY 의 ctx 로, 모델이 지원하는 최대와 다를 수 있다 — Qwen2.5-0.5B 만 모델은 32768 을 지원하는데 4096 으로 서빙한다. Solar-Open-100B 은 배포명이 NVFP4A16(활성 16비트)인데 config 의 input_activations 는 4비트로 적혀 있어 이름과 어긋난다. 표에는 config 값을 적었다.</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적재 = serve 로그의 Loading LLM 부터 기동 완료까지. TTFT = 첫 토큰까지(초, 중앙값). tok/s = 첫 토큰 이후 생성 속도(중앙값). 동시4 = 같은 질문 4개 동시 요청의 합계 속도. 첫응답 = 가장 짧은 프롬프트가 끝날 때까지. Qwen3-30B-A3B-FP8 은 배포 FXB 번들이 가중치를 30.2 GiB 다 읽은 뒤 embed_tokens.weight 가 F32 인데 EDF 는 bf16 을 기대해 죽는다(50회 재현). 다운로드 문제가 아니라 배포본 결함이다.</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답변 원문 전체는 results/&lt;모델&gt;.json 에 저장돼 있다. 프롬프트 4종 중 첫 번째(사실 질문)의 답이다.</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temperature 0, max_tokens 1024, 스트리밍. 답변 원문은 이어지는 절에 그대로 싣는다.</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83F8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3" name="Rectangle 2"/>
          <p:cNvSpPr/>
          <p:nvPr/>
        </p:nvSpPr>
        <p:spPr>
          <a:xfrm>
            <a:off x="0" y="5120640"/>
            <a:ext cx="12191695" cy="1737360"/>
          </a:xfrm>
          <a:prstGeom prst="rect">
            <a:avLst/>
          </a:prstGeom>
          <a:solidFill>
            <a:srgbClr val="06336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4" name="TextBox 3"/>
          <p:cNvSpPr txBox="1"/>
          <p:nvPr/>
        </p:nvSpPr>
        <p:spPr>
          <a:xfrm>
            <a:off x="914400" y="1920240"/>
            <a:ext cx="10362895" cy="1371600"/>
          </a:xfrm>
          <a:prstGeom prst="rect">
            <a:avLst/>
          </a:prstGeom>
          <a:noFill/>
        </p:spPr>
        <p:txBody>
          <a:bodyPr wrap="square" anchor="t" lIns="0" rIns="0" tIns="0" bIns="0">
            <a:spAutoFit/>
          </a:bodyPr>
          <a:lstStyle/>
          <a:p>
            <a:pPr algn="l">
              <a:lnSpc>
                <a:spcPct val="118000"/>
              </a:lnSpc>
              <a:spcBef>
                <a:spcPts val="0"/>
              </a:spcBef>
              <a:spcAft>
                <a:spcPts val="0"/>
              </a:spcAft>
            </a:pPr>
            <a:r>
              <a:rPr sz="4600" b="1" i="0">
                <a:solidFill>
                  <a:srgbClr val="FFFFFF"/>
                </a:solidFill>
                <a:latin typeface="Segoe UI"/>
                <a:ea typeface="맑은 고딕"/>
                <a:cs typeface="맑은 고딕"/>
              </a:rPr>
              <a:t>RNGD 서버에서 쓸 수 있는 모델</a:t>
            </a:r>
          </a:p>
        </p:txBody>
      </p:sp>
      <p:sp>
        <p:nvSpPr>
          <p:cNvPr id="5" name="TextBox 4"/>
          <p:cNvSpPr txBox="1"/>
          <p:nvPr/>
        </p:nvSpPr>
        <p:spPr>
          <a:xfrm>
            <a:off x="914400" y="3383280"/>
            <a:ext cx="10362895" cy="914400"/>
          </a:xfrm>
          <a:prstGeom prst="rect">
            <a:avLst/>
          </a:prstGeom>
          <a:noFill/>
        </p:spPr>
        <p:txBody>
          <a:bodyPr wrap="square" anchor="t" lIns="0" rIns="0" tIns="0" bIns="0">
            <a:spAutoFit/>
          </a:bodyPr>
          <a:lstStyle/>
          <a:p>
            <a:pPr algn="l">
              <a:lnSpc>
                <a:spcPct val="118000"/>
              </a:lnSpc>
              <a:spcBef>
                <a:spcPts val="0"/>
              </a:spcBef>
              <a:spcAft>
                <a:spcPts val="400"/>
              </a:spcAft>
            </a:pPr>
            <a:r>
              <a:rPr sz="1900" b="0" i="0">
                <a:solidFill>
                  <a:srgbClr val="C9DEF7"/>
                </a:solidFill>
                <a:latin typeface="Segoe UI"/>
                <a:ea typeface="맑은 고딕"/>
                <a:cs typeface="맑은 고딕"/>
              </a:rPr>
              <a:t>채팅 모델 전종을 같은 입력으로 재 본 처리량, 지연, 그리고 실제 답변</a:t>
            </a:r>
          </a:p>
        </p:txBody>
      </p:sp>
      <p:sp>
        <p:nvSpPr>
          <p:cNvPr id="6" name="TextBox 5"/>
          <p:cNvSpPr txBox="1"/>
          <p:nvPr/>
        </p:nvSpPr>
        <p:spPr>
          <a:xfrm>
            <a:off x="914400" y="5623560"/>
            <a:ext cx="10362895" cy="731520"/>
          </a:xfrm>
          <a:prstGeom prst="rect">
            <a:avLst/>
          </a:prstGeom>
          <a:noFill/>
        </p:spPr>
        <p:txBody>
          <a:bodyPr wrap="square" anchor="t" lIns="0" rIns="0" tIns="0" bIns="0">
            <a:spAutoFit/>
          </a:bodyPr>
          <a:lstStyle/>
          <a:p>
            <a:pPr algn="l">
              <a:lnSpc>
                <a:spcPct val="118000"/>
              </a:lnSpc>
              <a:spcBef>
                <a:spcPts val="0"/>
              </a:spcBef>
              <a:spcAft>
                <a:spcPts val="0"/>
              </a:spcAft>
            </a:pPr>
            <a:r>
              <a:rPr sz="1300" b="0" i="0">
                <a:solidFill>
                  <a:srgbClr val="9EC1EB"/>
                </a:solidFill>
                <a:latin typeface="Segoe UI"/>
                <a:ea typeface="맑은 고딕"/>
                <a:cs typeface="맑은 고딕"/>
              </a:rPr>
              <a:t>RNGD 4장 서버, 2026-08-29 실측</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46304" cy="6858000"/>
          </a:xfrm>
          <a:prstGeom prst="rect">
            <a:avLst/>
          </a:prstGeom>
          <a:solidFill>
            <a:srgbClr val="0B5FC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3" name="TextBox 2"/>
          <p:cNvSpPr txBox="1"/>
          <p:nvPr/>
        </p:nvSpPr>
        <p:spPr>
          <a:xfrm>
            <a:off x="566928" y="310896"/>
            <a:ext cx="11057839" cy="475488"/>
          </a:xfrm>
          <a:prstGeom prst="rect">
            <a:avLst/>
          </a:prstGeom>
          <a:noFill/>
        </p:spPr>
        <p:txBody>
          <a:bodyPr wrap="square" anchor="t" lIns="0" rIns="0" tIns="0" bIns="0">
            <a:spAutoFit/>
          </a:bodyPr>
          <a:lstStyle/>
          <a:p>
            <a:pPr algn="l">
              <a:lnSpc>
                <a:spcPct val="118000"/>
              </a:lnSpc>
              <a:spcBef>
                <a:spcPts val="0"/>
              </a:spcBef>
              <a:spcAft>
                <a:spcPts val="0"/>
              </a:spcAft>
            </a:pPr>
            <a:r>
              <a:rPr sz="2400" b="1" i="0">
                <a:solidFill>
                  <a:srgbClr val="16202C"/>
                </a:solidFill>
                <a:latin typeface="Segoe UI"/>
                <a:ea typeface="맑은 고딕"/>
                <a:cs typeface="맑은 고딕"/>
              </a:rPr>
              <a:t>모델 목록과 카드 점유</a:t>
            </a:r>
          </a:p>
        </p:txBody>
      </p:sp>
      <p:cxnSp>
        <p:nvCxnSpPr>
          <p:cNvPr id="4" name="Connector 3"/>
          <p:cNvCxnSpPr/>
          <p:nvPr/>
        </p:nvCxnSpPr>
        <p:spPr>
          <a:xfrm>
            <a:off x="566928" y="822960"/>
            <a:ext cx="11057839" cy="0"/>
          </a:xfrm>
          <a:prstGeom prst="line">
            <a:avLst/>
          </a:prstGeom>
          <a:ln w="15875">
            <a:solidFill>
              <a:srgbClr val="D6DEE7"/>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566928" y="6455664"/>
            <a:ext cx="9686239" cy="219456"/>
          </a:xfrm>
          <a:prstGeom prst="rect">
            <a:avLst/>
          </a:prstGeom>
          <a:noFill/>
        </p:spPr>
        <p:txBody>
          <a:bodyPr wrap="square" anchor="t" lIns="0" rIns="0" tIns="0" bIns="0">
            <a:spAutoFit/>
          </a:bodyPr>
          <a:lstStyle/>
          <a:p>
            <a:pPr algn="l">
              <a:lnSpc>
                <a:spcPct val="118000"/>
              </a:lnSpc>
              <a:spcBef>
                <a:spcPts val="0"/>
              </a:spcBef>
              <a:spcAft>
                <a:spcPts val="0"/>
              </a:spcAft>
            </a:pPr>
            <a:r>
              <a:rPr sz="950" b="0" i="0">
                <a:solidFill>
                  <a:srgbClr val="5B6B7B"/>
                </a:solidFill>
                <a:latin typeface="Segoe UI"/>
                <a:ea typeface="맑은 고딕"/>
                <a:cs typeface="맑은 고딕"/>
              </a:rPr>
              <a:t>RNGD 4장 서버, 2026-08-29 실측</a:t>
            </a:r>
          </a:p>
        </p:txBody>
      </p:sp>
      <p:sp>
        <p:nvSpPr>
          <p:cNvPr id="6" name="TextBox 5"/>
          <p:cNvSpPr txBox="1"/>
          <p:nvPr/>
        </p:nvSpPr>
        <p:spPr>
          <a:xfrm>
            <a:off x="10527487" y="6455664"/>
            <a:ext cx="1097280" cy="219456"/>
          </a:xfrm>
          <a:prstGeom prst="rect">
            <a:avLst/>
          </a:prstGeom>
          <a:noFill/>
        </p:spPr>
        <p:txBody>
          <a:bodyPr wrap="square" anchor="t" lIns="0" rIns="0" tIns="0" bIns="0">
            <a:spAutoFit/>
          </a:bodyPr>
          <a:lstStyle/>
          <a:p>
            <a:pPr algn="r">
              <a:lnSpc>
                <a:spcPct val="118000"/>
              </a:lnSpc>
              <a:spcBef>
                <a:spcPts val="0"/>
              </a:spcBef>
              <a:spcAft>
                <a:spcPts val="0"/>
              </a:spcAft>
            </a:pPr>
            <a:r>
              <a:rPr sz="950" b="0" i="0">
                <a:solidFill>
                  <a:srgbClr val="5B6B7B"/>
                </a:solidFill>
                <a:latin typeface="Segoe UI"/>
                <a:ea typeface="맑은 고딕"/>
                <a:cs typeface="맑은 고딕"/>
              </a:rPr>
              <a:t>1</a:t>
            </a:r>
          </a:p>
        </p:txBody>
      </p:sp>
      <p:sp>
        <p:nvSpPr>
          <p:cNvPr id="7" name="TextBox 6"/>
          <p:cNvSpPr txBox="1"/>
          <p:nvPr/>
        </p:nvSpPr>
        <p:spPr>
          <a:xfrm>
            <a:off x="566928" y="1115568"/>
            <a:ext cx="11057839" cy="274320"/>
          </a:xfrm>
          <a:prstGeom prst="rect">
            <a:avLst/>
          </a:prstGeom>
          <a:noFill/>
        </p:spPr>
        <p:txBody>
          <a:bodyPr wrap="square" anchor="t" lIns="0" rIns="0" tIns="0" bIns="0">
            <a:spAutoFit/>
          </a:bodyPr>
          <a:lstStyle/>
          <a:p>
            <a:pPr algn="l">
              <a:lnSpc>
                <a:spcPct val="118000"/>
              </a:lnSpc>
              <a:spcBef>
                <a:spcPts val="0"/>
              </a:spcBef>
              <a:spcAft>
                <a:spcPts val="0"/>
              </a:spcAft>
            </a:pPr>
            <a:r>
              <a:rPr sz="1400" b="1" i="0">
                <a:solidFill>
                  <a:srgbClr val="16202C"/>
                </a:solidFill>
                <a:latin typeface="Segoe UI"/>
                <a:ea typeface="맑은 고딕"/>
                <a:cs typeface="맑은 고딕"/>
              </a:rPr>
              <a:t>그림 1: 라우터에 등록된 채팅 모델 전종과 각각이 차지하는 카드 수</a:t>
            </a:r>
          </a:p>
        </p:txBody>
      </p:sp>
      <p:grpSp>
        <p:nvGrpSpPr>
          <p:cNvPr id="8" name="도해 lineup"/>
          <p:cNvGrpSpPr/>
          <p:nvPr/>
        </p:nvGrpSpPr>
        <p:grpSpPr>
          <a:xfrm>
            <a:off x="566928" y="1554480"/>
            <a:ext cx="11057839" cy="3118470"/>
            <a:chOff x="566928" y="1554480"/>
            <a:chExt cx="11057839" cy="3118470"/>
          </a:xfrm>
        </p:grpSpPr>
        <p:sp>
          <p:nvSpPr>
            <p:cNvPr id="9" name="TextBox 8"/>
            <p:cNvSpPr txBox="1"/>
            <p:nvPr/>
          </p:nvSpPr>
          <p:spPr>
            <a:xfrm>
              <a:off x="566928" y="1554480"/>
              <a:ext cx="3118464" cy="222385"/>
            </a:xfrm>
            <a:prstGeom prst="rect">
              <a:avLst/>
            </a:prstGeom>
            <a:noFill/>
          </p:spPr>
          <p:txBody>
            <a:bodyPr wrap="none" anchor="ctr" lIns="0" rIns="0" tIns="0" bIns="0">
              <a:noAutofit/>
            </a:bodyPr>
            <a:lstStyle/>
            <a:p>
              <a:pPr algn="l"/>
              <a:r>
                <a:rPr sz="1210" b="1">
                  <a:solidFill>
                    <a:srgbClr val="16202C"/>
                  </a:solidFill>
                  <a:latin typeface="맑은 고딕"/>
                  <a:ea typeface="맑은 고딕"/>
                  <a:cs typeface="맑은 고딕"/>
                </a:rPr>
                <a:t>(a) 카드 4장을 다 쓰는 모델, 한 번에 하나만 뜬다</a:t>
              </a:r>
            </a:p>
          </p:txBody>
        </p:sp>
        <p:sp>
          <p:nvSpPr>
            <p:cNvPr id="10" name="Rounded Rectangle 9"/>
            <p:cNvSpPr/>
            <p:nvPr/>
          </p:nvSpPr>
          <p:spPr>
            <a:xfrm>
              <a:off x="566928" y="1892893"/>
              <a:ext cx="1976255" cy="333872"/>
            </a:xfrm>
            <a:prstGeom prst="roundRect">
              <a:avLst>
                <a:gd name="adj" fmla="val 16000"/>
              </a:avLst>
            </a:prstGeom>
            <a:solidFill>
              <a:srgbClr val="FFFFFF"/>
            </a:solidFill>
            <a:ln w="16025">
              <a:solidFill>
                <a:srgbClr val="25376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73767" y="1999732"/>
              <a:ext cx="120194" cy="120194"/>
            </a:xfrm>
            <a:prstGeom prst="rect">
              <a:avLst/>
            </a:prstGeom>
            <a:solidFill>
              <a:srgbClr val="9DA5B8"/>
            </a:solidFill>
            <a:ln w="12019">
              <a:solidFill>
                <a:srgbClr val="25376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820671" y="1999732"/>
              <a:ext cx="120194" cy="120194"/>
            </a:xfrm>
            <a:prstGeom prst="rect">
              <a:avLst/>
            </a:prstGeom>
            <a:solidFill>
              <a:srgbClr val="9DA5B8"/>
            </a:solidFill>
            <a:ln w="12019">
              <a:solidFill>
                <a:srgbClr val="25376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967574" y="1999732"/>
              <a:ext cx="120194" cy="120194"/>
            </a:xfrm>
            <a:prstGeom prst="rect">
              <a:avLst/>
            </a:prstGeom>
            <a:solidFill>
              <a:srgbClr val="9DA5B8"/>
            </a:solidFill>
            <a:ln w="12019">
              <a:solidFill>
                <a:srgbClr val="25376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1114478" y="1999732"/>
              <a:ext cx="120194" cy="120194"/>
            </a:xfrm>
            <a:prstGeom prst="rect">
              <a:avLst/>
            </a:prstGeom>
            <a:solidFill>
              <a:srgbClr val="9DA5B8"/>
            </a:solidFill>
            <a:ln w="12019">
              <a:solidFill>
                <a:srgbClr val="25376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288091" y="1949517"/>
              <a:ext cx="971768" cy="212716"/>
            </a:xfrm>
            <a:prstGeom prst="rect">
              <a:avLst/>
            </a:prstGeom>
            <a:noFill/>
          </p:spPr>
          <p:txBody>
            <a:bodyPr wrap="none" anchor="ctr" lIns="0" rIns="0" tIns="0" bIns="0">
              <a:noAutofit/>
            </a:bodyPr>
            <a:lstStyle/>
            <a:p>
              <a:pPr algn="l"/>
              <a:r>
                <a:rPr sz="1160" b="1">
                  <a:solidFill>
                    <a:srgbClr val="16202C"/>
                  </a:solidFill>
                  <a:latin typeface="맑은 고딕"/>
                  <a:ea typeface="맑은 고딕"/>
                  <a:cs typeface="맑은 고딕"/>
                </a:rPr>
                <a:t>gpt-oss 120B</a:t>
              </a:r>
            </a:p>
          </p:txBody>
        </p:sp>
        <p:sp>
          <p:nvSpPr>
            <p:cNvPr id="16" name="Rounded Rectangle 15"/>
            <p:cNvSpPr/>
            <p:nvPr/>
          </p:nvSpPr>
          <p:spPr>
            <a:xfrm>
              <a:off x="2650022" y="1892893"/>
              <a:ext cx="2203221" cy="333872"/>
            </a:xfrm>
            <a:prstGeom prst="roundRect">
              <a:avLst>
                <a:gd name="adj" fmla="val 16000"/>
              </a:avLst>
            </a:prstGeom>
            <a:solidFill>
              <a:srgbClr val="FFFFFF"/>
            </a:solidFill>
            <a:ln w="16025">
              <a:solidFill>
                <a:srgbClr val="25376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2756861" y="1999732"/>
              <a:ext cx="120194" cy="120194"/>
            </a:xfrm>
            <a:prstGeom prst="rect">
              <a:avLst/>
            </a:prstGeom>
            <a:solidFill>
              <a:srgbClr val="9DA5B8"/>
            </a:solidFill>
            <a:ln w="12019">
              <a:solidFill>
                <a:srgbClr val="25376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2903765" y="1999732"/>
              <a:ext cx="120194" cy="120194"/>
            </a:xfrm>
            <a:prstGeom prst="rect">
              <a:avLst/>
            </a:prstGeom>
            <a:solidFill>
              <a:srgbClr val="9DA5B8"/>
            </a:solidFill>
            <a:ln w="12019">
              <a:solidFill>
                <a:srgbClr val="25376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3050668" y="1999732"/>
              <a:ext cx="120194" cy="120194"/>
            </a:xfrm>
            <a:prstGeom prst="rect">
              <a:avLst/>
            </a:prstGeom>
            <a:solidFill>
              <a:srgbClr val="9DA5B8"/>
            </a:solidFill>
            <a:ln w="12019">
              <a:solidFill>
                <a:srgbClr val="25376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3197572" y="1999732"/>
              <a:ext cx="120194" cy="120194"/>
            </a:xfrm>
            <a:prstGeom prst="rect">
              <a:avLst/>
            </a:prstGeom>
            <a:solidFill>
              <a:srgbClr val="9DA5B8"/>
            </a:solidFill>
            <a:ln w="12019">
              <a:solidFill>
                <a:srgbClr val="25376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3371185" y="1949517"/>
              <a:ext cx="1264106" cy="212716"/>
            </a:xfrm>
            <a:prstGeom prst="rect">
              <a:avLst/>
            </a:prstGeom>
            <a:noFill/>
          </p:spPr>
          <p:txBody>
            <a:bodyPr wrap="none" anchor="ctr" lIns="0" rIns="0" tIns="0" bIns="0">
              <a:noAutofit/>
            </a:bodyPr>
            <a:lstStyle/>
            <a:p>
              <a:pPr algn="l"/>
              <a:r>
                <a:rPr sz="1160" b="1">
                  <a:solidFill>
                    <a:srgbClr val="16202C"/>
                  </a:solidFill>
                  <a:latin typeface="맑은 고딕"/>
                  <a:ea typeface="맑은 고딕"/>
                  <a:cs typeface="맑은 고딕"/>
                </a:rPr>
                <a:t>Solar-Open 100B</a:t>
              </a:r>
            </a:p>
          </p:txBody>
        </p:sp>
        <p:sp>
          <p:nvSpPr>
            <p:cNvPr id="22" name="Rounded Rectangle 21"/>
            <p:cNvSpPr/>
            <p:nvPr/>
          </p:nvSpPr>
          <p:spPr>
            <a:xfrm>
              <a:off x="4960082" y="1892893"/>
              <a:ext cx="2051910" cy="333872"/>
            </a:xfrm>
            <a:prstGeom prst="roundRect">
              <a:avLst>
                <a:gd name="adj" fmla="val 16000"/>
              </a:avLst>
            </a:prstGeom>
            <a:solidFill>
              <a:srgbClr val="FFFFFF"/>
            </a:solidFill>
            <a:ln w="16025">
              <a:solidFill>
                <a:srgbClr val="25376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5066921" y="1999732"/>
              <a:ext cx="120194" cy="120194"/>
            </a:xfrm>
            <a:prstGeom prst="rect">
              <a:avLst/>
            </a:prstGeom>
            <a:solidFill>
              <a:srgbClr val="9DA5B8"/>
            </a:solidFill>
            <a:ln w="12019">
              <a:solidFill>
                <a:srgbClr val="25376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5213825" y="1999732"/>
              <a:ext cx="120194" cy="120194"/>
            </a:xfrm>
            <a:prstGeom prst="rect">
              <a:avLst/>
            </a:prstGeom>
            <a:solidFill>
              <a:srgbClr val="9DA5B8"/>
            </a:solidFill>
            <a:ln w="12019">
              <a:solidFill>
                <a:srgbClr val="25376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360728" y="1999732"/>
              <a:ext cx="120194" cy="120194"/>
            </a:xfrm>
            <a:prstGeom prst="rect">
              <a:avLst/>
            </a:prstGeom>
            <a:solidFill>
              <a:srgbClr val="9DA5B8"/>
            </a:solidFill>
            <a:ln w="12019">
              <a:solidFill>
                <a:srgbClr val="25376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5507632" y="1999732"/>
              <a:ext cx="120194" cy="120194"/>
            </a:xfrm>
            <a:prstGeom prst="rect">
              <a:avLst/>
            </a:prstGeom>
            <a:solidFill>
              <a:srgbClr val="9DA5B8"/>
            </a:solidFill>
            <a:ln w="12019">
              <a:solidFill>
                <a:srgbClr val="25376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5681245" y="1949517"/>
              <a:ext cx="1181399" cy="212716"/>
            </a:xfrm>
            <a:prstGeom prst="rect">
              <a:avLst/>
            </a:prstGeom>
            <a:noFill/>
          </p:spPr>
          <p:txBody>
            <a:bodyPr wrap="none" anchor="ctr" lIns="0" rIns="0" tIns="0" bIns="0">
              <a:noAutofit/>
            </a:bodyPr>
            <a:lstStyle/>
            <a:p>
              <a:pPr algn="l"/>
              <a:r>
                <a:rPr sz="1160" b="1">
                  <a:solidFill>
                    <a:srgbClr val="16202C"/>
                  </a:solidFill>
                  <a:latin typeface="맑은 고딕"/>
                  <a:ea typeface="맑은 고딕"/>
                  <a:cs typeface="맑은 고딕"/>
                </a:rPr>
                <a:t>K-EXAONE 236B</a:t>
              </a:r>
            </a:p>
          </p:txBody>
        </p:sp>
        <p:sp>
          <p:nvSpPr>
            <p:cNvPr id="28" name="Rounded Rectangle 27"/>
            <p:cNvSpPr/>
            <p:nvPr/>
          </p:nvSpPr>
          <p:spPr>
            <a:xfrm>
              <a:off x="7118831" y="1892893"/>
              <a:ext cx="2051910" cy="333872"/>
            </a:xfrm>
            <a:prstGeom prst="roundRect">
              <a:avLst>
                <a:gd name="adj" fmla="val 16000"/>
              </a:avLst>
            </a:prstGeom>
            <a:solidFill>
              <a:srgbClr val="FFFFFF"/>
            </a:solidFill>
            <a:ln w="16025">
              <a:solidFill>
                <a:srgbClr val="25376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7225670" y="1999732"/>
              <a:ext cx="120194" cy="120194"/>
            </a:xfrm>
            <a:prstGeom prst="rect">
              <a:avLst/>
            </a:prstGeom>
            <a:solidFill>
              <a:srgbClr val="9DA5B8"/>
            </a:solidFill>
            <a:ln w="12019">
              <a:solidFill>
                <a:srgbClr val="25376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7372574" y="1999732"/>
              <a:ext cx="120194" cy="120194"/>
            </a:xfrm>
            <a:prstGeom prst="rect">
              <a:avLst/>
            </a:prstGeom>
            <a:solidFill>
              <a:srgbClr val="9DA5B8"/>
            </a:solidFill>
            <a:ln w="12019">
              <a:solidFill>
                <a:srgbClr val="25376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7519477" y="1999732"/>
              <a:ext cx="120194" cy="120194"/>
            </a:xfrm>
            <a:prstGeom prst="rect">
              <a:avLst/>
            </a:prstGeom>
            <a:solidFill>
              <a:srgbClr val="9DA5B8"/>
            </a:solidFill>
            <a:ln w="12019">
              <a:solidFill>
                <a:srgbClr val="25376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7666381" y="1999732"/>
              <a:ext cx="120194" cy="120194"/>
            </a:xfrm>
            <a:prstGeom prst="rect">
              <a:avLst/>
            </a:prstGeom>
            <a:solidFill>
              <a:srgbClr val="9DA5B8"/>
            </a:solidFill>
            <a:ln w="12019">
              <a:solidFill>
                <a:srgbClr val="25376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7839995" y="1949517"/>
              <a:ext cx="1060498" cy="212716"/>
            </a:xfrm>
            <a:prstGeom prst="rect">
              <a:avLst/>
            </a:prstGeom>
            <a:noFill/>
          </p:spPr>
          <p:txBody>
            <a:bodyPr wrap="none" anchor="ctr" lIns="0" rIns="0" tIns="0" bIns="0">
              <a:noAutofit/>
            </a:bodyPr>
            <a:lstStyle/>
            <a:p>
              <a:pPr algn="l"/>
              <a:r>
                <a:rPr sz="1160" b="1">
                  <a:solidFill>
                    <a:srgbClr val="16202C"/>
                  </a:solidFill>
                  <a:latin typeface="맑은 고딕"/>
                  <a:ea typeface="맑은 고딕"/>
                  <a:cs typeface="맑은 고딕"/>
                </a:rPr>
                <a:t>Llama 3.3 70B</a:t>
              </a:r>
            </a:p>
          </p:txBody>
        </p:sp>
        <p:sp>
          <p:nvSpPr>
            <p:cNvPr id="34" name="Rounded Rectangle 33"/>
            <p:cNvSpPr/>
            <p:nvPr/>
          </p:nvSpPr>
          <p:spPr>
            <a:xfrm>
              <a:off x="9277580" y="1892893"/>
              <a:ext cx="1749289" cy="333872"/>
            </a:xfrm>
            <a:prstGeom prst="roundRect">
              <a:avLst>
                <a:gd name="adj" fmla="val 16000"/>
              </a:avLst>
            </a:prstGeom>
            <a:solidFill>
              <a:srgbClr val="E3E5EA"/>
            </a:solidFill>
            <a:ln w="16025">
              <a:solidFill>
                <a:srgbClr val="25376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9384419" y="1999732"/>
              <a:ext cx="120194" cy="120194"/>
            </a:xfrm>
            <a:prstGeom prst="rect">
              <a:avLst/>
            </a:prstGeom>
            <a:solidFill>
              <a:srgbClr val="9DA5B8"/>
            </a:solidFill>
            <a:ln w="12019">
              <a:solidFill>
                <a:srgbClr val="25376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9531323" y="1999732"/>
              <a:ext cx="120194" cy="120194"/>
            </a:xfrm>
            <a:prstGeom prst="rect">
              <a:avLst/>
            </a:prstGeom>
            <a:solidFill>
              <a:srgbClr val="9DA5B8"/>
            </a:solidFill>
            <a:ln w="12019">
              <a:solidFill>
                <a:srgbClr val="25376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9678227" y="1999732"/>
              <a:ext cx="120194" cy="120194"/>
            </a:xfrm>
            <a:prstGeom prst="rect">
              <a:avLst/>
            </a:prstGeom>
            <a:solidFill>
              <a:srgbClr val="9DA5B8"/>
            </a:solidFill>
            <a:ln w="12019">
              <a:solidFill>
                <a:srgbClr val="25376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9825130" y="1999732"/>
              <a:ext cx="120194" cy="120194"/>
            </a:xfrm>
            <a:prstGeom prst="rect">
              <a:avLst/>
            </a:prstGeom>
            <a:solidFill>
              <a:srgbClr val="9DA5B8"/>
            </a:solidFill>
            <a:ln w="12019">
              <a:solidFill>
                <a:srgbClr val="25376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9998744" y="1949517"/>
              <a:ext cx="864528" cy="212716"/>
            </a:xfrm>
            <a:prstGeom prst="rect">
              <a:avLst/>
            </a:prstGeom>
            <a:noFill/>
          </p:spPr>
          <p:txBody>
            <a:bodyPr wrap="none" anchor="ctr" lIns="0" rIns="0" tIns="0" bIns="0">
              <a:noAutofit/>
            </a:bodyPr>
            <a:lstStyle/>
            <a:p>
              <a:pPr algn="l"/>
              <a:r>
                <a:rPr sz="1160" b="1">
                  <a:solidFill>
                    <a:srgbClr val="16202C"/>
                  </a:solidFill>
                  <a:latin typeface="맑은 고딕"/>
                  <a:ea typeface="맑은 고딕"/>
                  <a:cs typeface="맑은 고딕"/>
                </a:rPr>
                <a:t>Qwen3 32B</a:t>
              </a:r>
            </a:p>
          </p:txBody>
        </p:sp>
        <p:sp>
          <p:nvSpPr>
            <p:cNvPr id="40" name="Rounded Rectangle 39"/>
            <p:cNvSpPr/>
            <p:nvPr/>
          </p:nvSpPr>
          <p:spPr>
            <a:xfrm>
              <a:off x="566928" y="2306894"/>
              <a:ext cx="2127566" cy="333872"/>
            </a:xfrm>
            <a:prstGeom prst="roundRect">
              <a:avLst>
                <a:gd name="adj" fmla="val 16000"/>
              </a:avLst>
            </a:prstGeom>
            <a:solidFill>
              <a:srgbClr val="E3E5EA"/>
            </a:solidFill>
            <a:ln w="16025">
              <a:solidFill>
                <a:srgbClr val="25376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673767" y="2413733"/>
              <a:ext cx="120194" cy="120194"/>
            </a:xfrm>
            <a:prstGeom prst="rect">
              <a:avLst/>
            </a:prstGeom>
            <a:solidFill>
              <a:srgbClr val="9DA5B8"/>
            </a:solidFill>
            <a:ln w="12019">
              <a:solidFill>
                <a:srgbClr val="25376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820671" y="2413733"/>
              <a:ext cx="120194" cy="120194"/>
            </a:xfrm>
            <a:prstGeom prst="rect">
              <a:avLst/>
            </a:prstGeom>
            <a:solidFill>
              <a:srgbClr val="9DA5B8"/>
            </a:solidFill>
            <a:ln w="12019">
              <a:solidFill>
                <a:srgbClr val="25376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967574" y="2413733"/>
              <a:ext cx="120194" cy="120194"/>
            </a:xfrm>
            <a:prstGeom prst="rect">
              <a:avLst/>
            </a:prstGeom>
            <a:solidFill>
              <a:srgbClr val="9DA5B8"/>
            </a:solidFill>
            <a:ln w="12019">
              <a:solidFill>
                <a:srgbClr val="25376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ectangle 43"/>
            <p:cNvSpPr/>
            <p:nvPr/>
          </p:nvSpPr>
          <p:spPr>
            <a:xfrm>
              <a:off x="1114478" y="2413733"/>
              <a:ext cx="120194" cy="120194"/>
            </a:xfrm>
            <a:prstGeom prst="rect">
              <a:avLst/>
            </a:prstGeom>
            <a:solidFill>
              <a:srgbClr val="9DA5B8"/>
            </a:solidFill>
            <a:ln w="12019">
              <a:solidFill>
                <a:srgbClr val="25376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1288091" y="2363519"/>
              <a:ext cx="1201672" cy="212716"/>
            </a:xfrm>
            <a:prstGeom prst="rect">
              <a:avLst/>
            </a:prstGeom>
            <a:noFill/>
          </p:spPr>
          <p:txBody>
            <a:bodyPr wrap="none" anchor="ctr" lIns="0" rIns="0" tIns="0" bIns="0">
              <a:noAutofit/>
            </a:bodyPr>
            <a:lstStyle/>
            <a:p>
              <a:pPr algn="l"/>
              <a:r>
                <a:rPr sz="1160" b="1">
                  <a:solidFill>
                    <a:srgbClr val="16202C"/>
                  </a:solidFill>
                  <a:latin typeface="맑은 고딕"/>
                  <a:ea typeface="맑은 고딕"/>
                  <a:cs typeface="맑은 고딕"/>
                </a:rPr>
                <a:t>EXAONE 4.0 32B</a:t>
              </a:r>
            </a:p>
          </p:txBody>
        </p:sp>
        <p:sp>
          <p:nvSpPr>
            <p:cNvPr id="46" name="Rounded Rectangle 45"/>
            <p:cNvSpPr/>
            <p:nvPr/>
          </p:nvSpPr>
          <p:spPr>
            <a:xfrm>
              <a:off x="2801333" y="2306894"/>
              <a:ext cx="1976255" cy="333872"/>
            </a:xfrm>
            <a:prstGeom prst="roundRect">
              <a:avLst>
                <a:gd name="adj" fmla="val 16000"/>
              </a:avLst>
            </a:prstGeom>
            <a:solidFill>
              <a:srgbClr val="FFFFFF"/>
            </a:solidFill>
            <a:ln w="16025">
              <a:solidFill>
                <a:srgbClr val="25376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Rectangle 46"/>
            <p:cNvSpPr/>
            <p:nvPr/>
          </p:nvSpPr>
          <p:spPr>
            <a:xfrm>
              <a:off x="2908172" y="2413733"/>
              <a:ext cx="120194" cy="120194"/>
            </a:xfrm>
            <a:prstGeom prst="rect">
              <a:avLst/>
            </a:prstGeom>
            <a:solidFill>
              <a:srgbClr val="9DA5B8"/>
            </a:solidFill>
            <a:ln w="12019">
              <a:solidFill>
                <a:srgbClr val="25376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Rectangle 47"/>
            <p:cNvSpPr/>
            <p:nvPr/>
          </p:nvSpPr>
          <p:spPr>
            <a:xfrm>
              <a:off x="3055075" y="2413733"/>
              <a:ext cx="120194" cy="120194"/>
            </a:xfrm>
            <a:prstGeom prst="rect">
              <a:avLst/>
            </a:prstGeom>
            <a:solidFill>
              <a:srgbClr val="9DA5B8"/>
            </a:solidFill>
            <a:ln w="12019">
              <a:solidFill>
                <a:srgbClr val="25376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Rectangle 48"/>
            <p:cNvSpPr/>
            <p:nvPr/>
          </p:nvSpPr>
          <p:spPr>
            <a:xfrm>
              <a:off x="3201979" y="2413733"/>
              <a:ext cx="120194" cy="120194"/>
            </a:xfrm>
            <a:prstGeom prst="rect">
              <a:avLst/>
            </a:prstGeom>
            <a:solidFill>
              <a:srgbClr val="9DA5B8"/>
            </a:solidFill>
            <a:ln w="12019">
              <a:solidFill>
                <a:srgbClr val="25376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Rectangle 49"/>
            <p:cNvSpPr/>
            <p:nvPr/>
          </p:nvSpPr>
          <p:spPr>
            <a:xfrm>
              <a:off x="3348883" y="2413733"/>
              <a:ext cx="120194" cy="120194"/>
            </a:xfrm>
            <a:prstGeom prst="rect">
              <a:avLst/>
            </a:prstGeom>
            <a:solidFill>
              <a:srgbClr val="9DA5B8"/>
            </a:solidFill>
            <a:ln w="12019">
              <a:solidFill>
                <a:srgbClr val="25376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3522496" y="2363519"/>
              <a:ext cx="1091494" cy="212716"/>
            </a:xfrm>
            <a:prstGeom prst="rect">
              <a:avLst/>
            </a:prstGeom>
            <a:noFill/>
          </p:spPr>
          <p:txBody>
            <a:bodyPr wrap="none" anchor="ctr" lIns="0" rIns="0" tIns="0" bIns="0">
              <a:noAutofit/>
            </a:bodyPr>
            <a:lstStyle/>
            <a:p>
              <a:pPr algn="l"/>
              <a:r>
                <a:rPr sz="1160" b="1">
                  <a:solidFill>
                    <a:srgbClr val="16202C"/>
                  </a:solidFill>
                  <a:latin typeface="맑은 고딕"/>
                  <a:ea typeface="맑은 고딕"/>
                  <a:cs typeface="맑은 고딕"/>
                </a:rPr>
                <a:t>Qwen3-VL 32B</a:t>
              </a:r>
            </a:p>
          </p:txBody>
        </p:sp>
        <p:sp>
          <p:nvSpPr>
            <p:cNvPr id="52" name="Rounded Rectangle 51"/>
            <p:cNvSpPr/>
            <p:nvPr/>
          </p:nvSpPr>
          <p:spPr>
            <a:xfrm>
              <a:off x="4884427" y="2306894"/>
              <a:ext cx="2203221" cy="333872"/>
            </a:xfrm>
            <a:prstGeom prst="roundRect">
              <a:avLst>
                <a:gd name="adj" fmla="val 16000"/>
              </a:avLst>
            </a:prstGeom>
            <a:solidFill>
              <a:srgbClr val="E3E5EA"/>
            </a:solidFill>
            <a:ln w="16025">
              <a:solidFill>
                <a:srgbClr val="25376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Rectangle 52"/>
            <p:cNvSpPr/>
            <p:nvPr/>
          </p:nvSpPr>
          <p:spPr>
            <a:xfrm>
              <a:off x="4991266" y="2413733"/>
              <a:ext cx="120194" cy="120194"/>
            </a:xfrm>
            <a:prstGeom prst="rect">
              <a:avLst/>
            </a:prstGeom>
            <a:solidFill>
              <a:srgbClr val="9DA5B8"/>
            </a:solidFill>
            <a:ln w="12019">
              <a:solidFill>
                <a:srgbClr val="25376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Rectangle 53"/>
            <p:cNvSpPr/>
            <p:nvPr/>
          </p:nvSpPr>
          <p:spPr>
            <a:xfrm>
              <a:off x="5138169" y="2413733"/>
              <a:ext cx="120194" cy="120194"/>
            </a:xfrm>
            <a:prstGeom prst="rect">
              <a:avLst/>
            </a:prstGeom>
            <a:solidFill>
              <a:srgbClr val="9DA5B8"/>
            </a:solidFill>
            <a:ln w="12019">
              <a:solidFill>
                <a:srgbClr val="25376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Rectangle 54"/>
            <p:cNvSpPr/>
            <p:nvPr/>
          </p:nvSpPr>
          <p:spPr>
            <a:xfrm>
              <a:off x="5285073" y="2413733"/>
              <a:ext cx="120194" cy="120194"/>
            </a:xfrm>
            <a:prstGeom prst="rect">
              <a:avLst/>
            </a:prstGeom>
            <a:solidFill>
              <a:srgbClr val="9DA5B8"/>
            </a:solidFill>
            <a:ln w="12019">
              <a:solidFill>
                <a:srgbClr val="25376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Rectangle 55"/>
            <p:cNvSpPr/>
            <p:nvPr/>
          </p:nvSpPr>
          <p:spPr>
            <a:xfrm>
              <a:off x="5431977" y="2413733"/>
              <a:ext cx="120194" cy="120194"/>
            </a:xfrm>
            <a:prstGeom prst="rect">
              <a:avLst/>
            </a:prstGeom>
            <a:solidFill>
              <a:srgbClr val="9DA5B8"/>
            </a:solidFill>
            <a:ln w="12019">
              <a:solidFill>
                <a:srgbClr val="25376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5605590" y="2363519"/>
              <a:ext cx="1351220" cy="212716"/>
            </a:xfrm>
            <a:prstGeom prst="rect">
              <a:avLst/>
            </a:prstGeom>
            <a:noFill/>
          </p:spPr>
          <p:txBody>
            <a:bodyPr wrap="none" anchor="ctr" lIns="0" rIns="0" tIns="0" bIns="0">
              <a:noAutofit/>
            </a:bodyPr>
            <a:lstStyle/>
            <a:p>
              <a:pPr algn="l"/>
              <a:r>
                <a:rPr sz="1160" b="1">
                  <a:solidFill>
                    <a:srgbClr val="16202C"/>
                  </a:solidFill>
                  <a:latin typeface="맑은 고딕"/>
                  <a:ea typeface="맑은 고딕"/>
                  <a:cs typeface="맑은 고딕"/>
                </a:rPr>
                <a:t>Qwen3-Coder 30B</a:t>
              </a:r>
            </a:p>
          </p:txBody>
        </p:sp>
        <p:sp>
          <p:nvSpPr>
            <p:cNvPr id="58" name="Rounded Rectangle 57"/>
            <p:cNvSpPr/>
            <p:nvPr/>
          </p:nvSpPr>
          <p:spPr>
            <a:xfrm>
              <a:off x="7194487" y="2306894"/>
              <a:ext cx="2354532" cy="333872"/>
            </a:xfrm>
            <a:prstGeom prst="roundRect">
              <a:avLst>
                <a:gd name="adj" fmla="val 16000"/>
              </a:avLst>
            </a:prstGeom>
            <a:solidFill>
              <a:srgbClr val="E3E5EA"/>
            </a:solidFill>
            <a:ln w="16025">
              <a:solidFill>
                <a:srgbClr val="25376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Rectangle 58"/>
            <p:cNvSpPr/>
            <p:nvPr/>
          </p:nvSpPr>
          <p:spPr>
            <a:xfrm>
              <a:off x="7301326" y="2413733"/>
              <a:ext cx="120194" cy="120194"/>
            </a:xfrm>
            <a:prstGeom prst="rect">
              <a:avLst/>
            </a:prstGeom>
            <a:solidFill>
              <a:srgbClr val="9DA5B8"/>
            </a:solidFill>
            <a:ln w="12019">
              <a:solidFill>
                <a:srgbClr val="25376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Rectangle 59"/>
            <p:cNvSpPr/>
            <p:nvPr/>
          </p:nvSpPr>
          <p:spPr>
            <a:xfrm>
              <a:off x="7448229" y="2413733"/>
              <a:ext cx="120194" cy="120194"/>
            </a:xfrm>
            <a:prstGeom prst="rect">
              <a:avLst/>
            </a:prstGeom>
            <a:solidFill>
              <a:srgbClr val="9DA5B8"/>
            </a:solidFill>
            <a:ln w="12019">
              <a:solidFill>
                <a:srgbClr val="25376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Rectangle 60"/>
            <p:cNvSpPr/>
            <p:nvPr/>
          </p:nvSpPr>
          <p:spPr>
            <a:xfrm>
              <a:off x="7595133" y="2413733"/>
              <a:ext cx="120194" cy="120194"/>
            </a:xfrm>
            <a:prstGeom prst="rect">
              <a:avLst/>
            </a:prstGeom>
            <a:solidFill>
              <a:srgbClr val="9DA5B8"/>
            </a:solidFill>
            <a:ln w="12019">
              <a:solidFill>
                <a:srgbClr val="25376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Rectangle 61"/>
            <p:cNvSpPr/>
            <p:nvPr/>
          </p:nvSpPr>
          <p:spPr>
            <a:xfrm>
              <a:off x="7742037" y="2413733"/>
              <a:ext cx="120194" cy="120194"/>
            </a:xfrm>
            <a:prstGeom prst="rect">
              <a:avLst/>
            </a:prstGeom>
            <a:solidFill>
              <a:srgbClr val="9DA5B8"/>
            </a:solidFill>
            <a:ln w="12019">
              <a:solidFill>
                <a:srgbClr val="25376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TextBox 62"/>
            <p:cNvSpPr txBox="1"/>
            <p:nvPr/>
          </p:nvSpPr>
          <p:spPr>
            <a:xfrm>
              <a:off x="7915650" y="2363519"/>
              <a:ext cx="1316110" cy="212716"/>
            </a:xfrm>
            <a:prstGeom prst="rect">
              <a:avLst/>
            </a:prstGeom>
            <a:noFill/>
          </p:spPr>
          <p:txBody>
            <a:bodyPr wrap="none" anchor="ctr" lIns="0" rIns="0" tIns="0" bIns="0">
              <a:noAutofit/>
            </a:bodyPr>
            <a:lstStyle/>
            <a:p>
              <a:pPr algn="l"/>
              <a:r>
                <a:rPr sz="1160" b="1">
                  <a:solidFill>
                    <a:srgbClr val="16202C"/>
                  </a:solidFill>
                  <a:latin typeface="맑은 고딕"/>
                  <a:ea typeface="맑은 고딕"/>
                  <a:cs typeface="맑은 고딕"/>
                </a:rPr>
                <a:t>A3B Instruct 2507</a:t>
              </a:r>
            </a:p>
          </p:txBody>
        </p:sp>
        <p:sp>
          <p:nvSpPr>
            <p:cNvPr id="64" name="Rounded Rectangle 63"/>
            <p:cNvSpPr/>
            <p:nvPr/>
          </p:nvSpPr>
          <p:spPr>
            <a:xfrm>
              <a:off x="566928" y="2720895"/>
              <a:ext cx="2354532" cy="333872"/>
            </a:xfrm>
            <a:prstGeom prst="roundRect">
              <a:avLst>
                <a:gd name="adj" fmla="val 16000"/>
              </a:avLst>
            </a:prstGeom>
            <a:solidFill>
              <a:srgbClr val="E3E5EA"/>
            </a:solidFill>
            <a:ln w="16025">
              <a:solidFill>
                <a:srgbClr val="25376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Rectangle 64"/>
            <p:cNvSpPr/>
            <p:nvPr/>
          </p:nvSpPr>
          <p:spPr>
            <a:xfrm>
              <a:off x="673767" y="2827734"/>
              <a:ext cx="120194" cy="120194"/>
            </a:xfrm>
            <a:prstGeom prst="rect">
              <a:avLst/>
            </a:prstGeom>
            <a:solidFill>
              <a:srgbClr val="9DA5B8"/>
            </a:solidFill>
            <a:ln w="12019">
              <a:solidFill>
                <a:srgbClr val="25376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Rectangle 65"/>
            <p:cNvSpPr/>
            <p:nvPr/>
          </p:nvSpPr>
          <p:spPr>
            <a:xfrm>
              <a:off x="820671" y="2827734"/>
              <a:ext cx="120194" cy="120194"/>
            </a:xfrm>
            <a:prstGeom prst="rect">
              <a:avLst/>
            </a:prstGeom>
            <a:solidFill>
              <a:srgbClr val="9DA5B8"/>
            </a:solidFill>
            <a:ln w="12019">
              <a:solidFill>
                <a:srgbClr val="25376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Rectangle 66"/>
            <p:cNvSpPr/>
            <p:nvPr/>
          </p:nvSpPr>
          <p:spPr>
            <a:xfrm>
              <a:off x="967574" y="2827734"/>
              <a:ext cx="120194" cy="120194"/>
            </a:xfrm>
            <a:prstGeom prst="rect">
              <a:avLst/>
            </a:prstGeom>
            <a:solidFill>
              <a:srgbClr val="9DA5B8"/>
            </a:solidFill>
            <a:ln w="12019">
              <a:solidFill>
                <a:srgbClr val="25376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Rectangle 67"/>
            <p:cNvSpPr/>
            <p:nvPr/>
          </p:nvSpPr>
          <p:spPr>
            <a:xfrm>
              <a:off x="1114478" y="2827734"/>
              <a:ext cx="120194" cy="120194"/>
            </a:xfrm>
            <a:prstGeom prst="rect">
              <a:avLst/>
            </a:prstGeom>
            <a:solidFill>
              <a:srgbClr val="9DA5B8"/>
            </a:solidFill>
            <a:ln w="12019">
              <a:solidFill>
                <a:srgbClr val="25376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TextBox 68"/>
            <p:cNvSpPr txBox="1"/>
            <p:nvPr/>
          </p:nvSpPr>
          <p:spPr>
            <a:xfrm>
              <a:off x="1288091" y="2777520"/>
              <a:ext cx="1387064" cy="212716"/>
            </a:xfrm>
            <a:prstGeom prst="rect">
              <a:avLst/>
            </a:prstGeom>
            <a:noFill/>
          </p:spPr>
          <p:txBody>
            <a:bodyPr wrap="none" anchor="ctr" lIns="0" rIns="0" tIns="0" bIns="0">
              <a:noAutofit/>
            </a:bodyPr>
            <a:lstStyle/>
            <a:p>
              <a:pPr algn="l"/>
              <a:r>
                <a:rPr sz="1160" b="1">
                  <a:solidFill>
                    <a:srgbClr val="16202C"/>
                  </a:solidFill>
                  <a:latin typeface="맑은 고딕"/>
                  <a:ea typeface="맑은 고딕"/>
                  <a:cs typeface="맑은 고딕"/>
                </a:rPr>
                <a:t>A3B Thinking 2507</a:t>
              </a:r>
            </a:p>
          </p:txBody>
        </p:sp>
        <p:sp>
          <p:nvSpPr>
            <p:cNvPr id="70" name="Rounded Rectangle 69"/>
            <p:cNvSpPr/>
            <p:nvPr/>
          </p:nvSpPr>
          <p:spPr>
            <a:xfrm>
              <a:off x="3028299" y="2720895"/>
              <a:ext cx="1597978" cy="333872"/>
            </a:xfrm>
            <a:prstGeom prst="roundRect">
              <a:avLst>
                <a:gd name="adj" fmla="val 16000"/>
              </a:avLst>
            </a:prstGeom>
            <a:solidFill>
              <a:srgbClr val="FFFFFF"/>
            </a:solidFill>
            <a:ln w="16025">
              <a:solidFill>
                <a:srgbClr val="25376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Rectangle 70"/>
            <p:cNvSpPr/>
            <p:nvPr/>
          </p:nvSpPr>
          <p:spPr>
            <a:xfrm>
              <a:off x="3135138" y="2827734"/>
              <a:ext cx="120194" cy="120194"/>
            </a:xfrm>
            <a:prstGeom prst="rect">
              <a:avLst/>
            </a:prstGeom>
            <a:solidFill>
              <a:srgbClr val="9DA5B8"/>
            </a:solidFill>
            <a:ln w="12019">
              <a:solidFill>
                <a:srgbClr val="25376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Rectangle 71"/>
            <p:cNvSpPr/>
            <p:nvPr/>
          </p:nvSpPr>
          <p:spPr>
            <a:xfrm>
              <a:off x="3282041" y="2827734"/>
              <a:ext cx="120194" cy="120194"/>
            </a:xfrm>
            <a:prstGeom prst="rect">
              <a:avLst/>
            </a:prstGeom>
            <a:solidFill>
              <a:srgbClr val="9DA5B8"/>
            </a:solidFill>
            <a:ln w="12019">
              <a:solidFill>
                <a:srgbClr val="25376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Rectangle 72"/>
            <p:cNvSpPr/>
            <p:nvPr/>
          </p:nvSpPr>
          <p:spPr>
            <a:xfrm>
              <a:off x="3428945" y="2827734"/>
              <a:ext cx="120194" cy="120194"/>
            </a:xfrm>
            <a:prstGeom prst="rect">
              <a:avLst/>
            </a:prstGeom>
            <a:solidFill>
              <a:srgbClr val="9DA5B8"/>
            </a:solidFill>
            <a:ln w="12019">
              <a:solidFill>
                <a:srgbClr val="25376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Rectangle 73"/>
            <p:cNvSpPr/>
            <p:nvPr/>
          </p:nvSpPr>
          <p:spPr>
            <a:xfrm>
              <a:off x="3575849" y="2827734"/>
              <a:ext cx="120194" cy="120194"/>
            </a:xfrm>
            <a:prstGeom prst="rect">
              <a:avLst/>
            </a:prstGeom>
            <a:solidFill>
              <a:srgbClr val="9DA5B8"/>
            </a:solidFill>
            <a:ln w="12019">
              <a:solidFill>
                <a:srgbClr val="25376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TextBox 74"/>
            <p:cNvSpPr txBox="1"/>
            <p:nvPr/>
          </p:nvSpPr>
          <p:spPr>
            <a:xfrm>
              <a:off x="3749462" y="2777520"/>
              <a:ext cx="640500" cy="212716"/>
            </a:xfrm>
            <a:prstGeom prst="rect">
              <a:avLst/>
            </a:prstGeom>
            <a:noFill/>
          </p:spPr>
          <p:txBody>
            <a:bodyPr wrap="none" anchor="ctr" lIns="0" rIns="0" tIns="0" bIns="0">
              <a:noAutofit/>
            </a:bodyPr>
            <a:lstStyle/>
            <a:p>
              <a:pPr algn="l"/>
              <a:r>
                <a:rPr sz="1160" b="1">
                  <a:solidFill>
                    <a:srgbClr val="16202C"/>
                  </a:solidFill>
                  <a:latin typeface="맑은 고딕"/>
                  <a:ea typeface="맑은 고딕"/>
                  <a:cs typeface="맑은 고딕"/>
                </a:rPr>
                <a:t>A3B 30B</a:t>
              </a:r>
            </a:p>
          </p:txBody>
        </p:sp>
        <p:sp>
          <p:nvSpPr>
            <p:cNvPr id="76" name="TextBox 75"/>
            <p:cNvSpPr txBox="1"/>
            <p:nvPr/>
          </p:nvSpPr>
          <p:spPr>
            <a:xfrm>
              <a:off x="566928" y="3119138"/>
              <a:ext cx="4465644" cy="203048"/>
            </a:xfrm>
            <a:prstGeom prst="rect">
              <a:avLst/>
            </a:prstGeom>
            <a:noFill/>
          </p:spPr>
          <p:txBody>
            <a:bodyPr wrap="none" anchor="ctr" lIns="0" rIns="0" tIns="0" bIns="0">
              <a:noAutofit/>
            </a:bodyPr>
            <a:lstStyle/>
            <a:p>
              <a:pPr algn="l"/>
              <a:r>
                <a:rPr sz="1100" b="0">
                  <a:solidFill>
                    <a:srgbClr val="5B6B7B"/>
                  </a:solidFill>
                  <a:latin typeface="맑은 고딕"/>
                  <a:ea typeface="맑은 고딕"/>
                  <a:cs typeface="맑은 고딕"/>
                </a:rPr>
                <a:t>네모 넷이 카드 넉 장이다, 다 칠해져 있으면 그 모델 하나가 서버를 독차지한다</a:t>
              </a:r>
            </a:p>
          </p:txBody>
        </p:sp>
        <p:sp>
          <p:nvSpPr>
            <p:cNvPr id="77" name="TextBox 76"/>
            <p:cNvSpPr txBox="1"/>
            <p:nvPr/>
          </p:nvSpPr>
          <p:spPr>
            <a:xfrm>
              <a:off x="566928" y="3450873"/>
              <a:ext cx="3001128" cy="222385"/>
            </a:xfrm>
            <a:prstGeom prst="rect">
              <a:avLst/>
            </a:prstGeom>
            <a:noFill/>
          </p:spPr>
          <p:txBody>
            <a:bodyPr wrap="none" anchor="ctr" lIns="0" rIns="0" tIns="0" bIns="0">
              <a:noAutofit/>
            </a:bodyPr>
            <a:lstStyle/>
            <a:p>
              <a:pPr algn="l"/>
              <a:r>
                <a:rPr sz="1210" b="1">
                  <a:solidFill>
                    <a:srgbClr val="16202C"/>
                  </a:solidFill>
                  <a:latin typeface="맑은 고딕"/>
                  <a:ea typeface="맑은 고딕"/>
                  <a:cs typeface="맑은 고딕"/>
                </a:rPr>
                <a:t>(b) 카드 한 장이면 되는 모델, 넷까지 같이 뜬다</a:t>
              </a:r>
            </a:p>
          </p:txBody>
        </p:sp>
        <p:sp>
          <p:nvSpPr>
            <p:cNvPr id="78" name="Rounded Rectangle 77"/>
            <p:cNvSpPr/>
            <p:nvPr/>
          </p:nvSpPr>
          <p:spPr>
            <a:xfrm>
              <a:off x="566928" y="3749221"/>
              <a:ext cx="1976255" cy="333872"/>
            </a:xfrm>
            <a:prstGeom prst="roundRect">
              <a:avLst>
                <a:gd name="adj" fmla="val 16000"/>
              </a:avLst>
            </a:prstGeom>
            <a:solidFill>
              <a:srgbClr val="FFD34D"/>
            </a:solidFill>
            <a:ln w="16025">
              <a:solidFill>
                <a:srgbClr val="25376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 name="Rectangle 78"/>
            <p:cNvSpPr/>
            <p:nvPr/>
          </p:nvSpPr>
          <p:spPr>
            <a:xfrm>
              <a:off x="673767" y="3856060"/>
              <a:ext cx="120194" cy="120194"/>
            </a:xfrm>
            <a:prstGeom prst="rect">
              <a:avLst/>
            </a:prstGeom>
            <a:solidFill>
              <a:srgbClr val="FFD34D"/>
            </a:solidFill>
            <a:ln w="12019">
              <a:solidFill>
                <a:srgbClr val="25376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 name="Rectangle 79"/>
            <p:cNvSpPr/>
            <p:nvPr/>
          </p:nvSpPr>
          <p:spPr>
            <a:xfrm>
              <a:off x="820671" y="3856060"/>
              <a:ext cx="120194" cy="120194"/>
            </a:xfrm>
            <a:prstGeom prst="rect">
              <a:avLst/>
            </a:prstGeom>
            <a:solidFill>
              <a:srgbClr val="FFFFFF"/>
            </a:solidFill>
            <a:ln w="12019">
              <a:solidFill>
                <a:srgbClr val="25376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 name="Rectangle 80"/>
            <p:cNvSpPr/>
            <p:nvPr/>
          </p:nvSpPr>
          <p:spPr>
            <a:xfrm>
              <a:off x="967574" y="3856060"/>
              <a:ext cx="120194" cy="120194"/>
            </a:xfrm>
            <a:prstGeom prst="rect">
              <a:avLst/>
            </a:prstGeom>
            <a:solidFill>
              <a:srgbClr val="FFFFFF"/>
            </a:solidFill>
            <a:ln w="12019">
              <a:solidFill>
                <a:srgbClr val="25376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 name="Rectangle 81"/>
            <p:cNvSpPr/>
            <p:nvPr/>
          </p:nvSpPr>
          <p:spPr>
            <a:xfrm>
              <a:off x="1114478" y="3856060"/>
              <a:ext cx="120194" cy="120194"/>
            </a:xfrm>
            <a:prstGeom prst="rect">
              <a:avLst/>
            </a:prstGeom>
            <a:solidFill>
              <a:srgbClr val="FFFFFF"/>
            </a:solidFill>
            <a:ln w="12019">
              <a:solidFill>
                <a:srgbClr val="25376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 name="TextBox 82"/>
            <p:cNvSpPr txBox="1"/>
            <p:nvPr/>
          </p:nvSpPr>
          <p:spPr>
            <a:xfrm>
              <a:off x="1288091" y="3805845"/>
              <a:ext cx="973824" cy="212716"/>
            </a:xfrm>
            <a:prstGeom prst="rect">
              <a:avLst/>
            </a:prstGeom>
            <a:noFill/>
          </p:spPr>
          <p:txBody>
            <a:bodyPr wrap="none" anchor="ctr" lIns="0" rIns="0" tIns="0" bIns="0">
              <a:noAutofit/>
            </a:bodyPr>
            <a:lstStyle/>
            <a:p>
              <a:pPr algn="l"/>
              <a:r>
                <a:rPr sz="1160" b="1">
                  <a:solidFill>
                    <a:srgbClr val="16202C"/>
                  </a:solidFill>
                  <a:latin typeface="맑은 고딕"/>
                  <a:ea typeface="맑은 고딕"/>
                  <a:cs typeface="맑은 고딕"/>
                </a:rPr>
                <a:t>Llama 3.1 8B</a:t>
              </a:r>
            </a:p>
          </p:txBody>
        </p:sp>
        <p:sp>
          <p:nvSpPr>
            <p:cNvPr id="84" name="Rounded Rectangle 83"/>
            <p:cNvSpPr/>
            <p:nvPr/>
          </p:nvSpPr>
          <p:spPr>
            <a:xfrm>
              <a:off x="2650022" y="3749221"/>
              <a:ext cx="1673633" cy="333872"/>
            </a:xfrm>
            <a:prstGeom prst="roundRect">
              <a:avLst>
                <a:gd name="adj" fmla="val 16000"/>
              </a:avLst>
            </a:prstGeom>
            <a:solidFill>
              <a:srgbClr val="FFD34D"/>
            </a:solidFill>
            <a:ln w="16025">
              <a:solidFill>
                <a:srgbClr val="25376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 name="Rectangle 84"/>
            <p:cNvSpPr/>
            <p:nvPr/>
          </p:nvSpPr>
          <p:spPr>
            <a:xfrm>
              <a:off x="2756861" y="3856060"/>
              <a:ext cx="120194" cy="120194"/>
            </a:xfrm>
            <a:prstGeom prst="rect">
              <a:avLst/>
            </a:prstGeom>
            <a:solidFill>
              <a:srgbClr val="FFD34D"/>
            </a:solidFill>
            <a:ln w="12019">
              <a:solidFill>
                <a:srgbClr val="25376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 name="Rectangle 85"/>
            <p:cNvSpPr/>
            <p:nvPr/>
          </p:nvSpPr>
          <p:spPr>
            <a:xfrm>
              <a:off x="2903765" y="3856060"/>
              <a:ext cx="120194" cy="120194"/>
            </a:xfrm>
            <a:prstGeom prst="rect">
              <a:avLst/>
            </a:prstGeom>
            <a:solidFill>
              <a:srgbClr val="FFFFFF"/>
            </a:solidFill>
            <a:ln w="12019">
              <a:solidFill>
                <a:srgbClr val="25376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 name="Rectangle 86"/>
            <p:cNvSpPr/>
            <p:nvPr/>
          </p:nvSpPr>
          <p:spPr>
            <a:xfrm>
              <a:off x="3050668" y="3856060"/>
              <a:ext cx="120194" cy="120194"/>
            </a:xfrm>
            <a:prstGeom prst="rect">
              <a:avLst/>
            </a:prstGeom>
            <a:solidFill>
              <a:srgbClr val="FFFFFF"/>
            </a:solidFill>
            <a:ln w="12019">
              <a:solidFill>
                <a:srgbClr val="25376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 name="Rectangle 87"/>
            <p:cNvSpPr/>
            <p:nvPr/>
          </p:nvSpPr>
          <p:spPr>
            <a:xfrm>
              <a:off x="3197572" y="3856060"/>
              <a:ext cx="120194" cy="120194"/>
            </a:xfrm>
            <a:prstGeom prst="rect">
              <a:avLst/>
            </a:prstGeom>
            <a:solidFill>
              <a:srgbClr val="FFFFFF"/>
            </a:solidFill>
            <a:ln w="12019">
              <a:solidFill>
                <a:srgbClr val="25376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 name="TextBox 88"/>
            <p:cNvSpPr txBox="1"/>
            <p:nvPr/>
          </p:nvSpPr>
          <p:spPr>
            <a:xfrm>
              <a:off x="3371185" y="3805845"/>
              <a:ext cx="777855" cy="212716"/>
            </a:xfrm>
            <a:prstGeom prst="rect">
              <a:avLst/>
            </a:prstGeom>
            <a:noFill/>
          </p:spPr>
          <p:txBody>
            <a:bodyPr wrap="none" anchor="ctr" lIns="0" rIns="0" tIns="0" bIns="0">
              <a:noAutofit/>
            </a:bodyPr>
            <a:lstStyle/>
            <a:p>
              <a:pPr algn="l"/>
              <a:r>
                <a:rPr sz="1160" b="1">
                  <a:solidFill>
                    <a:srgbClr val="16202C"/>
                  </a:solidFill>
                  <a:latin typeface="맑은 고딕"/>
                  <a:ea typeface="맑은 고딕"/>
                  <a:cs typeface="맑은 고딕"/>
                </a:rPr>
                <a:t>Qwen3 8B</a:t>
              </a:r>
            </a:p>
          </p:txBody>
        </p:sp>
        <p:sp>
          <p:nvSpPr>
            <p:cNvPr id="90" name="Rounded Rectangle 89"/>
            <p:cNvSpPr/>
            <p:nvPr/>
          </p:nvSpPr>
          <p:spPr>
            <a:xfrm>
              <a:off x="4430494" y="3749221"/>
              <a:ext cx="1673633" cy="333872"/>
            </a:xfrm>
            <a:prstGeom prst="roundRect">
              <a:avLst>
                <a:gd name="adj" fmla="val 16000"/>
              </a:avLst>
            </a:prstGeom>
            <a:solidFill>
              <a:srgbClr val="FFD34D"/>
            </a:solidFill>
            <a:ln w="16025">
              <a:solidFill>
                <a:srgbClr val="25376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 name="Rectangle 90"/>
            <p:cNvSpPr/>
            <p:nvPr/>
          </p:nvSpPr>
          <p:spPr>
            <a:xfrm>
              <a:off x="4537333" y="3856060"/>
              <a:ext cx="120194" cy="120194"/>
            </a:xfrm>
            <a:prstGeom prst="rect">
              <a:avLst/>
            </a:prstGeom>
            <a:solidFill>
              <a:srgbClr val="FFD34D"/>
            </a:solidFill>
            <a:ln w="12019">
              <a:solidFill>
                <a:srgbClr val="25376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 name="Rectangle 91"/>
            <p:cNvSpPr/>
            <p:nvPr/>
          </p:nvSpPr>
          <p:spPr>
            <a:xfrm>
              <a:off x="4684237" y="3856060"/>
              <a:ext cx="120194" cy="120194"/>
            </a:xfrm>
            <a:prstGeom prst="rect">
              <a:avLst/>
            </a:prstGeom>
            <a:solidFill>
              <a:srgbClr val="FFFFFF"/>
            </a:solidFill>
            <a:ln w="12019">
              <a:solidFill>
                <a:srgbClr val="25376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 name="Rectangle 92"/>
            <p:cNvSpPr/>
            <p:nvPr/>
          </p:nvSpPr>
          <p:spPr>
            <a:xfrm>
              <a:off x="4831141" y="3856060"/>
              <a:ext cx="120194" cy="120194"/>
            </a:xfrm>
            <a:prstGeom prst="rect">
              <a:avLst/>
            </a:prstGeom>
            <a:solidFill>
              <a:srgbClr val="FFFFFF"/>
            </a:solidFill>
            <a:ln w="12019">
              <a:solidFill>
                <a:srgbClr val="25376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 name="Rectangle 93"/>
            <p:cNvSpPr/>
            <p:nvPr/>
          </p:nvSpPr>
          <p:spPr>
            <a:xfrm>
              <a:off x="4978044" y="3856060"/>
              <a:ext cx="120194" cy="120194"/>
            </a:xfrm>
            <a:prstGeom prst="rect">
              <a:avLst/>
            </a:prstGeom>
            <a:solidFill>
              <a:srgbClr val="FFFFFF"/>
            </a:solidFill>
            <a:ln w="12019">
              <a:solidFill>
                <a:srgbClr val="25376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 name="TextBox 94"/>
            <p:cNvSpPr txBox="1"/>
            <p:nvPr/>
          </p:nvSpPr>
          <p:spPr>
            <a:xfrm>
              <a:off x="5151658" y="3805845"/>
              <a:ext cx="777855" cy="212716"/>
            </a:xfrm>
            <a:prstGeom prst="rect">
              <a:avLst/>
            </a:prstGeom>
            <a:noFill/>
          </p:spPr>
          <p:txBody>
            <a:bodyPr wrap="none" anchor="ctr" lIns="0" rIns="0" tIns="0" bIns="0">
              <a:noAutofit/>
            </a:bodyPr>
            <a:lstStyle/>
            <a:p>
              <a:pPr algn="l"/>
              <a:r>
                <a:rPr sz="1160" b="1">
                  <a:solidFill>
                    <a:srgbClr val="16202C"/>
                  </a:solidFill>
                  <a:latin typeface="맑은 고딕"/>
                  <a:ea typeface="맑은 고딕"/>
                  <a:cs typeface="맑은 고딕"/>
                </a:rPr>
                <a:t>Qwen3 4B</a:t>
              </a:r>
            </a:p>
          </p:txBody>
        </p:sp>
        <p:sp>
          <p:nvSpPr>
            <p:cNvPr id="96" name="Rounded Rectangle 95"/>
            <p:cNvSpPr/>
            <p:nvPr/>
          </p:nvSpPr>
          <p:spPr>
            <a:xfrm>
              <a:off x="6210967" y="3749221"/>
              <a:ext cx="1976255" cy="333872"/>
            </a:xfrm>
            <a:prstGeom prst="roundRect">
              <a:avLst>
                <a:gd name="adj" fmla="val 16000"/>
              </a:avLst>
            </a:prstGeom>
            <a:solidFill>
              <a:srgbClr val="FFD34D"/>
            </a:solidFill>
            <a:ln w="16025">
              <a:solidFill>
                <a:srgbClr val="25376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 name="Rectangle 96"/>
            <p:cNvSpPr/>
            <p:nvPr/>
          </p:nvSpPr>
          <p:spPr>
            <a:xfrm>
              <a:off x="6317806" y="3856060"/>
              <a:ext cx="120194" cy="120194"/>
            </a:xfrm>
            <a:prstGeom prst="rect">
              <a:avLst/>
            </a:prstGeom>
            <a:solidFill>
              <a:srgbClr val="FFD34D"/>
            </a:solidFill>
            <a:ln w="12019">
              <a:solidFill>
                <a:srgbClr val="25376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 name="Rectangle 97"/>
            <p:cNvSpPr/>
            <p:nvPr/>
          </p:nvSpPr>
          <p:spPr>
            <a:xfrm>
              <a:off x="6464709" y="3856060"/>
              <a:ext cx="120194" cy="120194"/>
            </a:xfrm>
            <a:prstGeom prst="rect">
              <a:avLst/>
            </a:prstGeom>
            <a:solidFill>
              <a:srgbClr val="FFFFFF"/>
            </a:solidFill>
            <a:ln w="12019">
              <a:solidFill>
                <a:srgbClr val="25376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 name="Rectangle 98"/>
            <p:cNvSpPr/>
            <p:nvPr/>
          </p:nvSpPr>
          <p:spPr>
            <a:xfrm>
              <a:off x="6611613" y="3856060"/>
              <a:ext cx="120194" cy="120194"/>
            </a:xfrm>
            <a:prstGeom prst="rect">
              <a:avLst/>
            </a:prstGeom>
            <a:solidFill>
              <a:srgbClr val="FFFFFF"/>
            </a:solidFill>
            <a:ln w="12019">
              <a:solidFill>
                <a:srgbClr val="25376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 name="Rectangle 99"/>
            <p:cNvSpPr/>
            <p:nvPr/>
          </p:nvSpPr>
          <p:spPr>
            <a:xfrm>
              <a:off x="6758517" y="3856060"/>
              <a:ext cx="120194" cy="120194"/>
            </a:xfrm>
            <a:prstGeom prst="rect">
              <a:avLst/>
            </a:prstGeom>
            <a:solidFill>
              <a:srgbClr val="FFFFFF"/>
            </a:solidFill>
            <a:ln w="12019">
              <a:solidFill>
                <a:srgbClr val="25376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 name="TextBox 100"/>
            <p:cNvSpPr txBox="1"/>
            <p:nvPr/>
          </p:nvSpPr>
          <p:spPr>
            <a:xfrm>
              <a:off x="6932130" y="3805845"/>
              <a:ext cx="1046689" cy="212716"/>
            </a:xfrm>
            <a:prstGeom prst="rect">
              <a:avLst/>
            </a:prstGeom>
            <a:noFill/>
          </p:spPr>
          <p:txBody>
            <a:bodyPr wrap="none" anchor="ctr" lIns="0" rIns="0" tIns="0" bIns="0">
              <a:noAutofit/>
            </a:bodyPr>
            <a:lstStyle/>
            <a:p>
              <a:pPr algn="l"/>
              <a:r>
                <a:rPr sz="1160" b="1">
                  <a:solidFill>
                    <a:srgbClr val="16202C"/>
                  </a:solidFill>
                  <a:latin typeface="맑은 고딕"/>
                  <a:ea typeface="맑은 고딕"/>
                  <a:cs typeface="맑은 고딕"/>
                </a:rPr>
                <a:t>Qwen2.5 0.5B</a:t>
              </a:r>
            </a:p>
          </p:txBody>
        </p:sp>
        <p:sp>
          <p:nvSpPr>
            <p:cNvPr id="102" name="TextBox 101"/>
            <p:cNvSpPr txBox="1"/>
            <p:nvPr/>
          </p:nvSpPr>
          <p:spPr>
            <a:xfrm>
              <a:off x="566928" y="4147463"/>
              <a:ext cx="5075909" cy="203048"/>
            </a:xfrm>
            <a:prstGeom prst="rect">
              <a:avLst/>
            </a:prstGeom>
            <a:noFill/>
          </p:spPr>
          <p:txBody>
            <a:bodyPr wrap="none" anchor="ctr" lIns="0" rIns="0" tIns="0" bIns="0">
              <a:noAutofit/>
            </a:bodyPr>
            <a:lstStyle/>
            <a:p>
              <a:pPr algn="l"/>
              <a:r>
                <a:rPr sz="1100" b="0">
                  <a:solidFill>
                    <a:srgbClr val="5B6B7B"/>
                  </a:solidFill>
                  <a:latin typeface="맑은 고딕"/>
                  <a:ea typeface="맑은 고딕"/>
                  <a:cs typeface="맑은 고딕"/>
                </a:rPr>
                <a:t>한 칸만 칠해져 있으니 넷을 나란히 올릴 수 있다, 여럿이 각자 다른 모델을 쓸 때 유리하다</a:t>
              </a:r>
            </a:p>
          </p:txBody>
        </p:sp>
        <p:sp>
          <p:nvSpPr>
            <p:cNvPr id="103" name="TextBox 102"/>
            <p:cNvSpPr txBox="1"/>
            <p:nvPr/>
          </p:nvSpPr>
          <p:spPr>
            <a:xfrm>
              <a:off x="566928" y="4460234"/>
              <a:ext cx="3796578" cy="212716"/>
            </a:xfrm>
            <a:prstGeom prst="rect">
              <a:avLst/>
            </a:prstGeom>
            <a:noFill/>
          </p:spPr>
          <p:txBody>
            <a:bodyPr wrap="none" anchor="ctr" lIns="0" rIns="0" tIns="0" bIns="0">
              <a:noAutofit/>
            </a:bodyPr>
            <a:lstStyle/>
            <a:p>
              <a:pPr algn="l"/>
              <a:r>
                <a:rPr sz="1160" b="0">
                  <a:solidFill>
                    <a:srgbClr val="16202C"/>
                  </a:solidFill>
                  <a:latin typeface="맑은 고딕"/>
                  <a:ea typeface="맑은 고딕"/>
                  <a:cs typeface="맑은 고딕"/>
                </a:rPr>
                <a:t>채팅 모델 15종이다, 이 밖에 임베딩과 리랭커가 하나씩 더 있다</a:t>
              </a:r>
            </a:p>
          </p:txBody>
        </p:sp>
        <p:sp>
          <p:nvSpPr>
            <p:cNvPr id="104" name="TextBox 103"/>
            <p:cNvSpPr txBox="1"/>
            <p:nvPr/>
          </p:nvSpPr>
          <p:spPr>
            <a:xfrm>
              <a:off x="9618410" y="4467980"/>
              <a:ext cx="2006357" cy="203048"/>
            </a:xfrm>
            <a:prstGeom prst="rect">
              <a:avLst/>
            </a:prstGeom>
            <a:noFill/>
          </p:spPr>
          <p:txBody>
            <a:bodyPr wrap="none" anchor="ctr" lIns="0" rIns="0" tIns="0" bIns="0">
              <a:noAutofit/>
            </a:bodyPr>
            <a:lstStyle/>
            <a:p>
              <a:pPr algn="r"/>
              <a:r>
                <a:rPr sz="1100" b="0">
                  <a:solidFill>
                    <a:srgbClr val="5B6B7B"/>
                  </a:solidFill>
                  <a:latin typeface="맑은 고딕"/>
                  <a:ea typeface="맑은 고딕"/>
                  <a:cs typeface="맑은 고딕"/>
                </a:rPr>
                <a:t>라우터 :8400 의 /router/models</a:t>
              </a:r>
            </a:p>
          </p:txBody>
        </p:sp>
      </p:grpSp>
      <p:sp>
        <p:nvSpPr>
          <p:cNvPr id="105" name="TextBox 104"/>
          <p:cNvSpPr txBox="1"/>
          <p:nvPr/>
        </p:nvSpPr>
        <p:spPr>
          <a:xfrm>
            <a:off x="566928" y="4910694"/>
            <a:ext cx="11057839" cy="1362090"/>
          </a:xfrm>
          <a:prstGeom prst="rect">
            <a:avLst/>
          </a:prstGeom>
          <a:noFill/>
        </p:spPr>
        <p:txBody>
          <a:bodyPr wrap="square" anchor="t" lIns="0" rIns="0" tIns="0" bIns="0">
            <a:spAutoFit/>
          </a:bodyPr>
          <a:lstStyle/>
          <a:p>
            <a:pPr algn="l">
              <a:lnSpc>
                <a:spcPct val="118000"/>
              </a:lnSpc>
              <a:spcBef>
                <a:spcPts val="200"/>
              </a:spcBef>
              <a:spcAft>
                <a:spcPts val="200"/>
              </a:spcAft>
            </a:pPr>
            <a:r>
              <a:rPr sz="1200" b="0" i="0">
                <a:solidFill>
                  <a:srgbClr val="16202C"/>
                </a:solidFill>
                <a:latin typeface="Segoe UI"/>
                <a:ea typeface="맑은 고딕"/>
                <a:cs typeface="맑은 고딕"/>
              </a:rPr>
              <a:t>▪  라우터(:8400)에 채팅 모델 15종이 등록돼 있다. 이 밖에 임베딩과 리랭커가 하나씩 더 있지만 대화용이 아니라 이 정리에서는 뺐다</a:t>
            </a:r>
          </a:p>
          <a:p>
            <a:pPr algn="l">
              <a:lnSpc>
                <a:spcPct val="118000"/>
              </a:lnSpc>
              <a:spcBef>
                <a:spcPts val="600"/>
              </a:spcBef>
              <a:spcAft>
                <a:spcPts val="200"/>
              </a:spcAft>
            </a:pPr>
            <a:r>
              <a:rPr sz="1200" b="0" i="0">
                <a:solidFill>
                  <a:srgbClr val="16202C"/>
                </a:solidFill>
                <a:latin typeface="Segoe UI"/>
                <a:ea typeface="맑은 고딕"/>
                <a:cs typeface="맑은 고딕"/>
              </a:rPr>
              <a:t>▪  열한 종은 카드 넉 장을 통째로 쓴다. 그래서 그중 하나만 떠 있을 수 있고, 다른 것을 부르면 쓰던 것을 내리고 새로 올린다</a:t>
            </a:r>
          </a:p>
          <a:p>
            <a:pPr algn="l">
              <a:lnSpc>
                <a:spcPct val="118000"/>
              </a:lnSpc>
              <a:spcBef>
                <a:spcPts val="600"/>
              </a:spcBef>
              <a:spcAft>
                <a:spcPts val="200"/>
              </a:spcAft>
            </a:pPr>
            <a:r>
              <a:rPr sz="1200" b="0" i="0">
                <a:solidFill>
                  <a:srgbClr val="16202C"/>
                </a:solidFill>
                <a:latin typeface="Segoe UI"/>
                <a:ea typeface="맑은 고딕"/>
                <a:cs typeface="맑은 고딕"/>
              </a:rPr>
              <a:t>▪  네 종은 카드 한 장이면 되므로 넷까지 동시에 떠 있을 수 있다. 여러 사람이 각자 다른 모델을 쓸 때 이 차이가 크다</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46304" cy="6858000"/>
          </a:xfrm>
          <a:prstGeom prst="rect">
            <a:avLst/>
          </a:prstGeom>
          <a:solidFill>
            <a:srgbClr val="0B5FC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3" name="TextBox 2"/>
          <p:cNvSpPr txBox="1"/>
          <p:nvPr/>
        </p:nvSpPr>
        <p:spPr>
          <a:xfrm>
            <a:off x="566928" y="384048"/>
            <a:ext cx="11057839" cy="713232"/>
          </a:xfrm>
          <a:prstGeom prst="rect">
            <a:avLst/>
          </a:prstGeom>
          <a:noFill/>
        </p:spPr>
        <p:txBody>
          <a:bodyPr wrap="square" anchor="t" lIns="0" rIns="0" tIns="0" bIns="0">
            <a:spAutoFit/>
          </a:bodyPr>
          <a:lstStyle/>
          <a:p>
            <a:pPr algn="l">
              <a:lnSpc>
                <a:spcPct val="118000"/>
              </a:lnSpc>
              <a:spcBef>
                <a:spcPts val="0"/>
              </a:spcBef>
              <a:spcAft>
                <a:spcPts val="0"/>
              </a:spcAft>
            </a:pPr>
            <a:r>
              <a:rPr sz="3000" b="1" i="0">
                <a:solidFill>
                  <a:srgbClr val="16202C"/>
                </a:solidFill>
                <a:latin typeface="Segoe UI"/>
                <a:ea typeface="맑은 고딕"/>
                <a:cs typeface="맑은 고딕"/>
              </a:rPr>
              <a:t>모델 제원</a:t>
            </a:r>
          </a:p>
        </p:txBody>
      </p:sp>
      <p:sp>
        <p:nvSpPr>
          <p:cNvPr id="4" name="TextBox 3"/>
          <p:cNvSpPr txBox="1"/>
          <p:nvPr/>
        </p:nvSpPr>
        <p:spPr>
          <a:xfrm>
            <a:off x="566928" y="1042416"/>
            <a:ext cx="11057839" cy="274320"/>
          </a:xfrm>
          <a:prstGeom prst="rect">
            <a:avLst/>
          </a:prstGeom>
          <a:noFill/>
        </p:spPr>
        <p:txBody>
          <a:bodyPr wrap="square" anchor="t" lIns="0" rIns="0" tIns="0" bIns="0">
            <a:spAutoFit/>
          </a:bodyPr>
          <a:lstStyle/>
          <a:p>
            <a:pPr algn="l">
              <a:lnSpc>
                <a:spcPct val="118000"/>
              </a:lnSpc>
              <a:spcBef>
                <a:spcPts val="0"/>
              </a:spcBef>
              <a:spcAft>
                <a:spcPts val="0"/>
              </a:spcAft>
            </a:pPr>
            <a:r>
              <a:rPr sz="1400" b="0" i="0">
                <a:solidFill>
                  <a:srgbClr val="5B6B7B"/>
                </a:solidFill>
                <a:latin typeface="Segoe UI"/>
                <a:ea typeface="맑은 고딕"/>
                <a:cs typeface="맑은 고딕"/>
              </a:rPr>
              <a:t>정밀도와 구조는 HF config.json 의 quantization_config, 컨텍스트는 라우터가 실제로 여는 값</a:t>
            </a:r>
          </a:p>
        </p:txBody>
      </p:sp>
      <p:cxnSp>
        <p:nvCxnSpPr>
          <p:cNvPr id="5" name="Connector 4"/>
          <p:cNvCxnSpPr/>
          <p:nvPr/>
        </p:nvCxnSpPr>
        <p:spPr>
          <a:xfrm>
            <a:off x="566928" y="1408176"/>
            <a:ext cx="11057839" cy="0"/>
          </a:xfrm>
          <a:prstGeom prst="line">
            <a:avLst/>
          </a:prstGeom>
          <a:ln w="15875">
            <a:solidFill>
              <a:srgbClr val="D6DEE7"/>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566928" y="6455664"/>
            <a:ext cx="9686239" cy="219456"/>
          </a:xfrm>
          <a:prstGeom prst="rect">
            <a:avLst/>
          </a:prstGeom>
          <a:noFill/>
        </p:spPr>
        <p:txBody>
          <a:bodyPr wrap="square" anchor="t" lIns="0" rIns="0" tIns="0" bIns="0">
            <a:spAutoFit/>
          </a:bodyPr>
          <a:lstStyle/>
          <a:p>
            <a:pPr algn="l">
              <a:lnSpc>
                <a:spcPct val="118000"/>
              </a:lnSpc>
              <a:spcBef>
                <a:spcPts val="0"/>
              </a:spcBef>
              <a:spcAft>
                <a:spcPts val="0"/>
              </a:spcAft>
            </a:pPr>
            <a:r>
              <a:rPr sz="950" b="0" i="0">
                <a:solidFill>
                  <a:srgbClr val="5B6B7B"/>
                </a:solidFill>
                <a:latin typeface="Segoe UI"/>
                <a:ea typeface="맑은 고딕"/>
                <a:cs typeface="맑은 고딕"/>
              </a:rPr>
              <a:t>RNGD 4장 서버, 2026-08-29 실측</a:t>
            </a:r>
          </a:p>
        </p:txBody>
      </p:sp>
      <p:sp>
        <p:nvSpPr>
          <p:cNvPr id="7" name="TextBox 6"/>
          <p:cNvSpPr txBox="1"/>
          <p:nvPr/>
        </p:nvSpPr>
        <p:spPr>
          <a:xfrm>
            <a:off x="10527487" y="6455664"/>
            <a:ext cx="1097280" cy="219456"/>
          </a:xfrm>
          <a:prstGeom prst="rect">
            <a:avLst/>
          </a:prstGeom>
          <a:noFill/>
        </p:spPr>
        <p:txBody>
          <a:bodyPr wrap="square" anchor="t" lIns="0" rIns="0" tIns="0" bIns="0">
            <a:spAutoFit/>
          </a:bodyPr>
          <a:lstStyle/>
          <a:p>
            <a:pPr algn="r">
              <a:lnSpc>
                <a:spcPct val="118000"/>
              </a:lnSpc>
              <a:spcBef>
                <a:spcPts val="0"/>
              </a:spcBef>
              <a:spcAft>
                <a:spcPts val="0"/>
              </a:spcAft>
            </a:pPr>
            <a:r>
              <a:rPr sz="950" b="0" i="0">
                <a:solidFill>
                  <a:srgbClr val="5B6B7B"/>
                </a:solidFill>
                <a:latin typeface="Segoe UI"/>
                <a:ea typeface="맑은 고딕"/>
                <a:cs typeface="맑은 고딕"/>
              </a:rPr>
              <a:t>2</a:t>
            </a:r>
          </a:p>
        </p:txBody>
      </p:sp>
      <p:graphicFrame>
        <p:nvGraphicFramePr>
          <p:cNvPr id="8" name="Table 7"/>
          <p:cNvGraphicFramePr>
            <a:graphicFrameLocks noGrp="1"/>
          </p:cNvGraphicFramePr>
          <p:nvPr/>
        </p:nvGraphicFramePr>
        <p:xfrm>
          <a:off x="566928" y="1627632"/>
          <a:ext cx="11057838" cy="4645152"/>
        </p:xfrm>
        <a:graphic>
          <a:graphicData uri="http://schemas.openxmlformats.org/drawingml/2006/table">
            <a:tbl>
              <a:tblPr firstRow="1" bandRow="1">
                <a:tableStyleId>{5C22544A-7EE6-4342-B048-85BDC9FD1C3A}</a:tableStyleId>
              </a:tblPr>
              <a:tblGrid>
                <a:gridCol w="2756802"/>
                <a:gridCol w="1378401"/>
                <a:gridCol w="1087405"/>
                <a:gridCol w="1684712"/>
                <a:gridCol w="1225245"/>
                <a:gridCol w="1087405"/>
                <a:gridCol w="1837868"/>
              </a:tblGrid>
              <a:tr h="258064">
                <a:tc>
                  <a:txBody>
                    <a:bodyPr wrap="square"/>
                    <a:lstStyle/>
                    <a:p>
                      <a:r>
                        <a:rPr sz="850" b="1" i="0">
                          <a:solidFill>
                            <a:srgbClr val="FFFFFF"/>
                          </a:solidFill>
                          <a:latin typeface="Segoe UI"/>
                          <a:ea typeface="맑은 고딕"/>
                          <a:cs typeface="맑은 고딕"/>
                        </a:rPr>
                        <a:t>모델</a:t>
                      </a:r>
                    </a:p>
                  </a:txBody>
                  <a:tcPr marL="73152" marR="73152" marT="27432" marB="27432">
                    <a:solidFill>
                      <a:srgbClr val="0B5FC0"/>
                    </a:solidFill>
                  </a:tcPr>
                </a:tc>
                <a:tc>
                  <a:txBody>
                    <a:bodyPr wrap="square"/>
                    <a:lstStyle/>
                    <a:p>
                      <a:r>
                        <a:rPr sz="850" b="1" i="0">
                          <a:solidFill>
                            <a:srgbClr val="FFFFFF"/>
                          </a:solidFill>
                          <a:latin typeface="Segoe UI"/>
                          <a:ea typeface="맑은 고딕"/>
                          <a:cs typeface="맑은 고딕"/>
                        </a:rPr>
                        <a:t>크기</a:t>
                      </a:r>
                    </a:p>
                  </a:txBody>
                  <a:tcPr marL="73152" marR="73152" marT="27432" marB="27432">
                    <a:solidFill>
                      <a:srgbClr val="0B5FC0"/>
                    </a:solidFill>
                  </a:tcPr>
                </a:tc>
                <a:tc>
                  <a:txBody>
                    <a:bodyPr wrap="square"/>
                    <a:lstStyle/>
                    <a:p>
                      <a:r>
                        <a:rPr sz="850" b="1" i="0">
                          <a:solidFill>
                            <a:srgbClr val="FFFFFF"/>
                          </a:solidFill>
                          <a:latin typeface="Segoe UI"/>
                          <a:ea typeface="맑은 고딕"/>
                          <a:cs typeface="맑은 고딕"/>
                        </a:rPr>
                        <a:t>구조</a:t>
                      </a:r>
                    </a:p>
                  </a:txBody>
                  <a:tcPr marL="73152" marR="73152" marT="27432" marB="27432">
                    <a:solidFill>
                      <a:srgbClr val="0B5FC0"/>
                    </a:solidFill>
                  </a:tcPr>
                </a:tc>
                <a:tc>
                  <a:txBody>
                    <a:bodyPr wrap="square"/>
                    <a:lstStyle/>
                    <a:p>
                      <a:r>
                        <a:rPr sz="850" b="1" i="0">
                          <a:solidFill>
                            <a:srgbClr val="FFFFFF"/>
                          </a:solidFill>
                          <a:latin typeface="Segoe UI"/>
                          <a:ea typeface="맑은 고딕"/>
                          <a:cs typeface="맑은 고딕"/>
                        </a:rPr>
                        <a:t>정밀도</a:t>
                      </a:r>
                    </a:p>
                  </a:txBody>
                  <a:tcPr marL="73152" marR="73152" marT="27432" marB="27432">
                    <a:solidFill>
                      <a:srgbClr val="0B5FC0"/>
                    </a:solidFill>
                  </a:tcPr>
                </a:tc>
                <a:tc>
                  <a:txBody>
                    <a:bodyPr wrap="square"/>
                    <a:lstStyle/>
                    <a:p>
                      <a:r>
                        <a:rPr sz="850" b="1" i="0">
                          <a:solidFill>
                            <a:srgbClr val="FFFFFF"/>
                          </a:solidFill>
                          <a:latin typeface="Segoe UI"/>
                          <a:ea typeface="맑은 고딕"/>
                          <a:cs typeface="맑은 고딕"/>
                        </a:rPr>
                        <a:t>컨텍스트</a:t>
                      </a:r>
                    </a:p>
                  </a:txBody>
                  <a:tcPr marL="73152" marR="73152" marT="27432" marB="27432">
                    <a:solidFill>
                      <a:srgbClr val="0B5FC0"/>
                    </a:solidFill>
                  </a:tcPr>
                </a:tc>
                <a:tc>
                  <a:txBody>
                    <a:bodyPr wrap="square"/>
                    <a:lstStyle/>
                    <a:p>
                      <a:r>
                        <a:rPr sz="850" b="1" i="0">
                          <a:solidFill>
                            <a:srgbClr val="FFFFFF"/>
                          </a:solidFill>
                          <a:latin typeface="Segoe UI"/>
                          <a:ea typeface="맑은 고딕"/>
                          <a:cs typeface="맑은 고딕"/>
                        </a:rPr>
                        <a:t>카드</a:t>
                      </a:r>
                    </a:p>
                  </a:txBody>
                  <a:tcPr marL="73152" marR="73152" marT="27432" marB="27432">
                    <a:solidFill>
                      <a:srgbClr val="0B5FC0"/>
                    </a:solidFill>
                  </a:tcPr>
                </a:tc>
                <a:tc>
                  <a:txBody>
                    <a:bodyPr wrap="square"/>
                    <a:lstStyle/>
                    <a:p>
                      <a:r>
                        <a:rPr sz="850" b="1" i="0">
                          <a:solidFill>
                            <a:srgbClr val="FFFFFF"/>
                          </a:solidFill>
                          <a:latin typeface="Segoe UI"/>
                          <a:ea typeface="맑은 고딕"/>
                          <a:cs typeface="맑은 고딕"/>
                        </a:rPr>
                        <a:t>용도</a:t>
                      </a:r>
                    </a:p>
                  </a:txBody>
                  <a:tcPr marL="73152" marR="73152" marT="27432" marB="27432">
                    <a:solidFill>
                      <a:srgbClr val="0B5FC0"/>
                    </a:solidFill>
                  </a:tcPr>
                </a:tc>
              </a:tr>
              <a:tr h="258064">
                <a:tc>
                  <a:txBody>
                    <a:bodyPr wrap="square"/>
                    <a:lstStyle/>
                    <a:p>
                      <a:r>
                        <a:rPr sz="850" b="0" i="0">
                          <a:solidFill>
                            <a:srgbClr val="16202C"/>
                          </a:solidFill>
                          <a:latin typeface="Segoe UI"/>
                          <a:ea typeface="맑은 고딕"/>
                          <a:cs typeface="맑은 고딕"/>
                        </a:rPr>
                        <a:t>gpt-oss 120B</a:t>
                      </a:r>
                    </a:p>
                  </a:txBody>
                  <a:tcPr marL="73152" marR="73152" marT="27432" marB="27432">
                    <a:solidFill>
                      <a:srgbClr val="FFFFFF"/>
                    </a:solidFill>
                  </a:tcPr>
                </a:tc>
                <a:tc>
                  <a:txBody>
                    <a:bodyPr wrap="square"/>
                    <a:lstStyle/>
                    <a:p>
                      <a:r>
                        <a:rPr sz="850" b="0" i="0">
                          <a:solidFill>
                            <a:srgbClr val="16202C"/>
                          </a:solidFill>
                          <a:latin typeface="Segoe UI"/>
                          <a:ea typeface="맑은 고딕"/>
                          <a:cs typeface="맑은 고딕"/>
                        </a:rPr>
                        <a:t>120B</a:t>
                      </a:r>
                    </a:p>
                  </a:txBody>
                  <a:tcPr marL="73152" marR="73152" marT="27432" marB="27432">
                    <a:solidFill>
                      <a:srgbClr val="FFFFFF"/>
                    </a:solidFill>
                  </a:tcPr>
                </a:tc>
                <a:tc>
                  <a:txBody>
                    <a:bodyPr wrap="square"/>
                    <a:lstStyle/>
                    <a:p>
                      <a:r>
                        <a:rPr sz="850" b="0" i="0">
                          <a:solidFill>
                            <a:srgbClr val="16202C"/>
                          </a:solidFill>
                          <a:latin typeface="Segoe UI"/>
                          <a:ea typeface="맑은 고딕"/>
                          <a:cs typeface="맑은 고딕"/>
                        </a:rPr>
                        <a:t>MoE 128</a:t>
                      </a:r>
                    </a:p>
                  </a:txBody>
                  <a:tcPr marL="73152" marR="73152" marT="27432" marB="27432">
                    <a:solidFill>
                      <a:srgbClr val="FFFFFF"/>
                    </a:solidFill>
                  </a:tcPr>
                </a:tc>
                <a:tc>
                  <a:txBody>
                    <a:bodyPr wrap="square"/>
                    <a:lstStyle/>
                    <a:p>
                      <a:r>
                        <a:rPr sz="850" b="0" i="0">
                          <a:solidFill>
                            <a:srgbClr val="16202C"/>
                          </a:solidFill>
                          <a:latin typeface="Segoe UI"/>
                          <a:ea typeface="맑은 고딕"/>
                          <a:cs typeface="맑은 고딕"/>
                        </a:rPr>
                        <a:t>MXFP4</a:t>
                      </a:r>
                    </a:p>
                  </a:txBody>
                  <a:tcPr marL="73152" marR="73152" marT="27432" marB="27432">
                    <a:solidFill>
                      <a:srgbClr val="FFFFFF"/>
                    </a:solidFill>
                  </a:tcPr>
                </a:tc>
                <a:tc>
                  <a:txBody>
                    <a:bodyPr wrap="square"/>
                    <a:lstStyle/>
                    <a:p>
                      <a:r>
                        <a:rPr sz="850" b="0" i="0">
                          <a:solidFill>
                            <a:srgbClr val="16202C"/>
                          </a:solidFill>
                          <a:latin typeface="Segoe UI"/>
                          <a:ea typeface="맑은 고딕"/>
                          <a:cs typeface="맑은 고딕"/>
                        </a:rPr>
                        <a:t>131,072</a:t>
                      </a:r>
                    </a:p>
                  </a:txBody>
                  <a:tcPr marL="73152" marR="73152" marT="27432" marB="27432">
                    <a:solidFill>
                      <a:srgbClr val="FFFFFF"/>
                    </a:solidFill>
                  </a:tcPr>
                </a:tc>
                <a:tc>
                  <a:txBody>
                    <a:bodyPr wrap="square"/>
                    <a:lstStyle/>
                    <a:p>
                      <a:r>
                        <a:rPr sz="850" b="0" i="0">
                          <a:solidFill>
                            <a:srgbClr val="16202C"/>
                          </a:solidFill>
                          <a:latin typeface="Segoe UI"/>
                          <a:ea typeface="맑은 고딕"/>
                          <a:cs typeface="맑은 고딕"/>
                        </a:rPr>
                        <a:t>4</a:t>
                      </a:r>
                    </a:p>
                  </a:txBody>
                  <a:tcPr marL="73152" marR="73152" marT="27432" marB="27432">
                    <a:solidFill>
                      <a:srgbClr val="FFFFFF"/>
                    </a:solidFill>
                  </a:tcPr>
                </a:tc>
                <a:tc>
                  <a:txBody>
                    <a:bodyPr wrap="square"/>
                    <a:lstStyle/>
                    <a:p>
                      <a:r>
                        <a:rPr sz="850" b="0" i="0">
                          <a:solidFill>
                            <a:srgbClr val="16202C"/>
                          </a:solidFill>
                          <a:latin typeface="Segoe UI"/>
                          <a:ea typeface="맑은 고딕"/>
                          <a:cs typeface="맑은 고딕"/>
                        </a:rPr>
                        <a:t>대화</a:t>
                      </a:r>
                    </a:p>
                  </a:txBody>
                  <a:tcPr marL="73152" marR="73152" marT="27432" marB="27432">
                    <a:solidFill>
                      <a:srgbClr val="FFFFFF"/>
                    </a:solidFill>
                  </a:tcPr>
                </a:tc>
              </a:tr>
              <a:tr h="258064">
                <a:tc>
                  <a:txBody>
                    <a:bodyPr wrap="square"/>
                    <a:lstStyle/>
                    <a:p>
                      <a:r>
                        <a:rPr sz="850" b="0" i="0">
                          <a:solidFill>
                            <a:srgbClr val="16202C"/>
                          </a:solidFill>
                          <a:latin typeface="Segoe UI"/>
                          <a:ea typeface="맑은 고딕"/>
                          <a:cs typeface="맑은 고딕"/>
                        </a:rPr>
                        <a:t>Solar-Open 100B</a:t>
                      </a:r>
                    </a:p>
                  </a:txBody>
                  <a:tcPr marL="73152" marR="73152" marT="27432" marB="27432">
                    <a:solidFill>
                      <a:srgbClr val="F6F9FC"/>
                    </a:solidFill>
                  </a:tcPr>
                </a:tc>
                <a:tc>
                  <a:txBody>
                    <a:bodyPr wrap="square"/>
                    <a:lstStyle/>
                    <a:p>
                      <a:r>
                        <a:rPr sz="850" b="0" i="0">
                          <a:solidFill>
                            <a:srgbClr val="16202C"/>
                          </a:solidFill>
                          <a:latin typeface="Segoe UI"/>
                          <a:ea typeface="맑은 고딕"/>
                          <a:cs typeface="맑은 고딕"/>
                        </a:rPr>
                        <a:t>100B</a:t>
                      </a:r>
                    </a:p>
                  </a:txBody>
                  <a:tcPr marL="73152" marR="73152" marT="27432" marB="27432">
                    <a:solidFill>
                      <a:srgbClr val="F6F9FC"/>
                    </a:solidFill>
                  </a:tcPr>
                </a:tc>
                <a:tc>
                  <a:txBody>
                    <a:bodyPr wrap="square"/>
                    <a:lstStyle/>
                    <a:p>
                      <a:r>
                        <a:rPr sz="850" b="0" i="0">
                          <a:solidFill>
                            <a:srgbClr val="16202C"/>
                          </a:solidFill>
                          <a:latin typeface="Segoe UI"/>
                          <a:ea typeface="맑은 고딕"/>
                          <a:cs typeface="맑은 고딕"/>
                        </a:rPr>
                        <a:t>dense</a:t>
                      </a:r>
                    </a:p>
                  </a:txBody>
                  <a:tcPr marL="73152" marR="73152" marT="27432" marB="27432">
                    <a:solidFill>
                      <a:srgbClr val="F6F9FC"/>
                    </a:solidFill>
                  </a:tcPr>
                </a:tc>
                <a:tc>
                  <a:txBody>
                    <a:bodyPr wrap="square"/>
                    <a:lstStyle/>
                    <a:p>
                      <a:r>
                        <a:rPr sz="850" b="0" i="0">
                          <a:solidFill>
                            <a:srgbClr val="16202C"/>
                          </a:solidFill>
                          <a:latin typeface="Segoe UI"/>
                          <a:ea typeface="맑은 고딕"/>
                          <a:cs typeface="맑은 고딕"/>
                        </a:rPr>
                        <a:t>NVFP4 W4A4</a:t>
                      </a:r>
                    </a:p>
                  </a:txBody>
                  <a:tcPr marL="73152" marR="73152" marT="27432" marB="27432">
                    <a:solidFill>
                      <a:srgbClr val="F6F9FC"/>
                    </a:solidFill>
                  </a:tcPr>
                </a:tc>
                <a:tc>
                  <a:txBody>
                    <a:bodyPr wrap="square"/>
                    <a:lstStyle/>
                    <a:p>
                      <a:r>
                        <a:rPr sz="850" b="0" i="0">
                          <a:solidFill>
                            <a:srgbClr val="16202C"/>
                          </a:solidFill>
                          <a:latin typeface="Segoe UI"/>
                          <a:ea typeface="맑은 고딕"/>
                          <a:cs typeface="맑은 고딕"/>
                        </a:rPr>
                        <a:t>131,072</a:t>
                      </a:r>
                    </a:p>
                  </a:txBody>
                  <a:tcPr marL="73152" marR="73152" marT="27432" marB="27432">
                    <a:solidFill>
                      <a:srgbClr val="F6F9FC"/>
                    </a:solidFill>
                  </a:tcPr>
                </a:tc>
                <a:tc>
                  <a:txBody>
                    <a:bodyPr wrap="square"/>
                    <a:lstStyle/>
                    <a:p>
                      <a:r>
                        <a:rPr sz="850" b="0" i="0">
                          <a:solidFill>
                            <a:srgbClr val="16202C"/>
                          </a:solidFill>
                          <a:latin typeface="Segoe UI"/>
                          <a:ea typeface="맑은 고딕"/>
                          <a:cs typeface="맑은 고딕"/>
                        </a:rPr>
                        <a:t>4</a:t>
                      </a:r>
                    </a:p>
                  </a:txBody>
                  <a:tcPr marL="73152" marR="73152" marT="27432" marB="27432">
                    <a:solidFill>
                      <a:srgbClr val="F6F9FC"/>
                    </a:solidFill>
                  </a:tcPr>
                </a:tc>
                <a:tc>
                  <a:txBody>
                    <a:bodyPr wrap="square"/>
                    <a:lstStyle/>
                    <a:p>
                      <a:r>
                        <a:rPr sz="850" b="0" i="0">
                          <a:solidFill>
                            <a:srgbClr val="16202C"/>
                          </a:solidFill>
                          <a:latin typeface="Segoe UI"/>
                          <a:ea typeface="맑은 고딕"/>
                          <a:cs typeface="맑은 고딕"/>
                        </a:rPr>
                        <a:t>대화</a:t>
                      </a:r>
                    </a:p>
                  </a:txBody>
                  <a:tcPr marL="73152" marR="73152" marT="27432" marB="27432">
                    <a:solidFill>
                      <a:srgbClr val="F6F9FC"/>
                    </a:solidFill>
                  </a:tcPr>
                </a:tc>
              </a:tr>
              <a:tr h="258064">
                <a:tc>
                  <a:txBody>
                    <a:bodyPr wrap="square"/>
                    <a:lstStyle/>
                    <a:p>
                      <a:r>
                        <a:rPr sz="850" b="0" i="0">
                          <a:solidFill>
                            <a:srgbClr val="16202C"/>
                          </a:solidFill>
                          <a:latin typeface="Segoe UI"/>
                          <a:ea typeface="맑은 고딕"/>
                          <a:cs typeface="맑은 고딕"/>
                        </a:rPr>
                        <a:t>K-EXAONE 236B</a:t>
                      </a:r>
                    </a:p>
                  </a:txBody>
                  <a:tcPr marL="73152" marR="73152" marT="27432" marB="27432">
                    <a:solidFill>
                      <a:srgbClr val="FFFFFF"/>
                    </a:solidFill>
                  </a:tcPr>
                </a:tc>
                <a:tc>
                  <a:txBody>
                    <a:bodyPr wrap="square"/>
                    <a:lstStyle/>
                    <a:p>
                      <a:r>
                        <a:rPr sz="850" b="0" i="0">
                          <a:solidFill>
                            <a:srgbClr val="16202C"/>
                          </a:solidFill>
                          <a:latin typeface="Segoe UI"/>
                          <a:ea typeface="맑은 고딕"/>
                          <a:cs typeface="맑은 고딕"/>
                        </a:rPr>
                        <a:t>236B/A23B</a:t>
                      </a:r>
                    </a:p>
                  </a:txBody>
                  <a:tcPr marL="73152" marR="73152" marT="27432" marB="27432">
                    <a:solidFill>
                      <a:srgbClr val="FFFFFF"/>
                    </a:solidFill>
                  </a:tcPr>
                </a:tc>
                <a:tc>
                  <a:txBody>
                    <a:bodyPr wrap="square"/>
                    <a:lstStyle/>
                    <a:p>
                      <a:r>
                        <a:rPr sz="850" b="0" i="0">
                          <a:solidFill>
                            <a:srgbClr val="16202C"/>
                          </a:solidFill>
                          <a:latin typeface="Segoe UI"/>
                          <a:ea typeface="맑은 고딕"/>
                          <a:cs typeface="맑은 고딕"/>
                        </a:rPr>
                        <a:t>MoE 128</a:t>
                      </a:r>
                    </a:p>
                  </a:txBody>
                  <a:tcPr marL="73152" marR="73152" marT="27432" marB="27432">
                    <a:solidFill>
                      <a:srgbClr val="FFFFFF"/>
                    </a:solidFill>
                  </a:tcPr>
                </a:tc>
                <a:tc>
                  <a:txBody>
                    <a:bodyPr wrap="square"/>
                    <a:lstStyle/>
                    <a:p>
                      <a:r>
                        <a:rPr sz="850" b="0" i="0">
                          <a:solidFill>
                            <a:srgbClr val="16202C"/>
                          </a:solidFill>
                          <a:latin typeface="Segoe UI"/>
                          <a:ea typeface="맑은 고딕"/>
                          <a:cs typeface="맑은 고딕"/>
                        </a:rPr>
                        <a:t>NVFP4 W4A16</a:t>
                      </a:r>
                    </a:p>
                  </a:txBody>
                  <a:tcPr marL="73152" marR="73152" marT="27432" marB="27432">
                    <a:solidFill>
                      <a:srgbClr val="FFFFFF"/>
                    </a:solidFill>
                  </a:tcPr>
                </a:tc>
                <a:tc>
                  <a:txBody>
                    <a:bodyPr wrap="square"/>
                    <a:lstStyle/>
                    <a:p>
                      <a:r>
                        <a:rPr sz="850" b="0" i="0">
                          <a:solidFill>
                            <a:srgbClr val="16202C"/>
                          </a:solidFill>
                          <a:latin typeface="Segoe UI"/>
                          <a:ea typeface="맑은 고딕"/>
                          <a:cs typeface="맑은 고딕"/>
                        </a:rPr>
                        <a:t>262,144</a:t>
                      </a:r>
                    </a:p>
                  </a:txBody>
                  <a:tcPr marL="73152" marR="73152" marT="27432" marB="27432">
                    <a:solidFill>
                      <a:srgbClr val="FFFFFF"/>
                    </a:solidFill>
                  </a:tcPr>
                </a:tc>
                <a:tc>
                  <a:txBody>
                    <a:bodyPr wrap="square"/>
                    <a:lstStyle/>
                    <a:p>
                      <a:r>
                        <a:rPr sz="850" b="0" i="0">
                          <a:solidFill>
                            <a:srgbClr val="16202C"/>
                          </a:solidFill>
                          <a:latin typeface="Segoe UI"/>
                          <a:ea typeface="맑은 고딕"/>
                          <a:cs typeface="맑은 고딕"/>
                        </a:rPr>
                        <a:t>4</a:t>
                      </a:r>
                    </a:p>
                  </a:txBody>
                  <a:tcPr marL="73152" marR="73152" marT="27432" marB="27432">
                    <a:solidFill>
                      <a:srgbClr val="FFFFFF"/>
                    </a:solidFill>
                  </a:tcPr>
                </a:tc>
                <a:tc>
                  <a:txBody>
                    <a:bodyPr wrap="square"/>
                    <a:lstStyle/>
                    <a:p>
                      <a:r>
                        <a:rPr sz="850" b="0" i="0">
                          <a:solidFill>
                            <a:srgbClr val="16202C"/>
                          </a:solidFill>
                          <a:latin typeface="Segoe UI"/>
                          <a:ea typeface="맑은 고딕"/>
                          <a:cs typeface="맑은 고딕"/>
                        </a:rPr>
                        <a:t>대화</a:t>
                      </a:r>
                    </a:p>
                  </a:txBody>
                  <a:tcPr marL="73152" marR="73152" marT="27432" marB="27432">
                    <a:solidFill>
                      <a:srgbClr val="FFFFFF"/>
                    </a:solidFill>
                  </a:tcPr>
                </a:tc>
              </a:tr>
              <a:tr h="258064">
                <a:tc>
                  <a:txBody>
                    <a:bodyPr wrap="square"/>
                    <a:lstStyle/>
                    <a:p>
                      <a:r>
                        <a:rPr sz="850" b="0" i="0">
                          <a:solidFill>
                            <a:srgbClr val="16202C"/>
                          </a:solidFill>
                          <a:latin typeface="Segoe UI"/>
                          <a:ea typeface="맑은 고딕"/>
                          <a:cs typeface="맑은 고딕"/>
                        </a:rPr>
                        <a:t>Llama 3.3 70B</a:t>
                      </a:r>
                    </a:p>
                  </a:txBody>
                  <a:tcPr marL="73152" marR="73152" marT="27432" marB="27432">
                    <a:solidFill>
                      <a:srgbClr val="F6F9FC"/>
                    </a:solidFill>
                  </a:tcPr>
                </a:tc>
                <a:tc>
                  <a:txBody>
                    <a:bodyPr wrap="square"/>
                    <a:lstStyle/>
                    <a:p>
                      <a:r>
                        <a:rPr sz="850" b="0" i="0">
                          <a:solidFill>
                            <a:srgbClr val="16202C"/>
                          </a:solidFill>
                          <a:latin typeface="Segoe UI"/>
                          <a:ea typeface="맑은 고딕"/>
                          <a:cs typeface="맑은 고딕"/>
                        </a:rPr>
                        <a:t>70B</a:t>
                      </a:r>
                    </a:p>
                  </a:txBody>
                  <a:tcPr marL="73152" marR="73152" marT="27432" marB="27432">
                    <a:solidFill>
                      <a:srgbClr val="F6F9FC"/>
                    </a:solidFill>
                  </a:tcPr>
                </a:tc>
                <a:tc>
                  <a:txBody>
                    <a:bodyPr wrap="square"/>
                    <a:lstStyle/>
                    <a:p>
                      <a:r>
                        <a:rPr sz="850" b="0" i="0">
                          <a:solidFill>
                            <a:srgbClr val="16202C"/>
                          </a:solidFill>
                          <a:latin typeface="Segoe UI"/>
                          <a:ea typeface="맑은 고딕"/>
                          <a:cs typeface="맑은 고딕"/>
                        </a:rPr>
                        <a:t>dense</a:t>
                      </a:r>
                    </a:p>
                  </a:txBody>
                  <a:tcPr marL="73152" marR="73152" marT="27432" marB="27432">
                    <a:solidFill>
                      <a:srgbClr val="F6F9FC"/>
                    </a:solidFill>
                  </a:tcPr>
                </a:tc>
                <a:tc>
                  <a:txBody>
                    <a:bodyPr wrap="square"/>
                    <a:lstStyle/>
                    <a:p>
                      <a:r>
                        <a:rPr sz="850" b="0" i="0">
                          <a:solidFill>
                            <a:srgbClr val="16202C"/>
                          </a:solidFill>
                          <a:latin typeface="Segoe UI"/>
                          <a:ea typeface="맑은 고딕"/>
                          <a:cs typeface="맑은 고딕"/>
                        </a:rPr>
                        <a:t>bf16</a:t>
                      </a:r>
                    </a:p>
                  </a:txBody>
                  <a:tcPr marL="73152" marR="73152" marT="27432" marB="27432">
                    <a:solidFill>
                      <a:srgbClr val="F6F9FC"/>
                    </a:solidFill>
                  </a:tcPr>
                </a:tc>
                <a:tc>
                  <a:txBody>
                    <a:bodyPr wrap="square"/>
                    <a:lstStyle/>
                    <a:p>
                      <a:r>
                        <a:rPr sz="850" b="0" i="0">
                          <a:solidFill>
                            <a:srgbClr val="16202C"/>
                          </a:solidFill>
                          <a:latin typeface="Segoe UI"/>
                          <a:ea typeface="맑은 고딕"/>
                          <a:cs typeface="맑은 고딕"/>
                        </a:rPr>
                        <a:t>131,072</a:t>
                      </a:r>
                    </a:p>
                  </a:txBody>
                  <a:tcPr marL="73152" marR="73152" marT="27432" marB="27432">
                    <a:solidFill>
                      <a:srgbClr val="F6F9FC"/>
                    </a:solidFill>
                  </a:tcPr>
                </a:tc>
                <a:tc>
                  <a:txBody>
                    <a:bodyPr wrap="square"/>
                    <a:lstStyle/>
                    <a:p>
                      <a:r>
                        <a:rPr sz="850" b="0" i="0">
                          <a:solidFill>
                            <a:srgbClr val="16202C"/>
                          </a:solidFill>
                          <a:latin typeface="Segoe UI"/>
                          <a:ea typeface="맑은 고딕"/>
                          <a:cs typeface="맑은 고딕"/>
                        </a:rPr>
                        <a:t>4</a:t>
                      </a:r>
                    </a:p>
                  </a:txBody>
                  <a:tcPr marL="73152" marR="73152" marT="27432" marB="27432">
                    <a:solidFill>
                      <a:srgbClr val="F6F9FC"/>
                    </a:solidFill>
                  </a:tcPr>
                </a:tc>
                <a:tc>
                  <a:txBody>
                    <a:bodyPr wrap="square"/>
                    <a:lstStyle/>
                    <a:p>
                      <a:r>
                        <a:rPr sz="850" b="0" i="0">
                          <a:solidFill>
                            <a:srgbClr val="16202C"/>
                          </a:solidFill>
                          <a:latin typeface="Segoe UI"/>
                          <a:ea typeface="맑은 고딕"/>
                          <a:cs typeface="맑은 고딕"/>
                        </a:rPr>
                        <a:t>대화</a:t>
                      </a:r>
                    </a:p>
                  </a:txBody>
                  <a:tcPr marL="73152" marR="73152" marT="27432" marB="27432">
                    <a:solidFill>
                      <a:srgbClr val="F6F9FC"/>
                    </a:solidFill>
                  </a:tcPr>
                </a:tc>
              </a:tr>
              <a:tr h="258064">
                <a:tc>
                  <a:txBody>
                    <a:bodyPr wrap="square"/>
                    <a:lstStyle/>
                    <a:p>
                      <a:r>
                        <a:rPr sz="850" b="0" i="0">
                          <a:solidFill>
                            <a:srgbClr val="16202C"/>
                          </a:solidFill>
                          <a:latin typeface="Segoe UI"/>
                          <a:ea typeface="맑은 고딕"/>
                          <a:cs typeface="맑은 고딕"/>
                        </a:rPr>
                        <a:t>Qwen3 32B</a:t>
                      </a:r>
                    </a:p>
                  </a:txBody>
                  <a:tcPr marL="73152" marR="73152" marT="27432" marB="27432">
                    <a:solidFill>
                      <a:srgbClr val="FFFFFF"/>
                    </a:solidFill>
                  </a:tcPr>
                </a:tc>
                <a:tc>
                  <a:txBody>
                    <a:bodyPr wrap="square"/>
                    <a:lstStyle/>
                    <a:p>
                      <a:r>
                        <a:rPr sz="850" b="0" i="0">
                          <a:solidFill>
                            <a:srgbClr val="16202C"/>
                          </a:solidFill>
                          <a:latin typeface="Segoe UI"/>
                          <a:ea typeface="맑은 고딕"/>
                          <a:cs typeface="맑은 고딕"/>
                        </a:rPr>
                        <a:t>32B</a:t>
                      </a:r>
                    </a:p>
                  </a:txBody>
                  <a:tcPr marL="73152" marR="73152" marT="27432" marB="27432">
                    <a:solidFill>
                      <a:srgbClr val="FFFFFF"/>
                    </a:solidFill>
                  </a:tcPr>
                </a:tc>
                <a:tc>
                  <a:txBody>
                    <a:bodyPr wrap="square"/>
                    <a:lstStyle/>
                    <a:p>
                      <a:r>
                        <a:rPr sz="850" b="0" i="0">
                          <a:solidFill>
                            <a:srgbClr val="16202C"/>
                          </a:solidFill>
                          <a:latin typeface="Segoe UI"/>
                          <a:ea typeface="맑은 고딕"/>
                          <a:cs typeface="맑은 고딕"/>
                        </a:rPr>
                        <a:t>dense</a:t>
                      </a:r>
                    </a:p>
                  </a:txBody>
                  <a:tcPr marL="73152" marR="73152" marT="27432" marB="27432">
                    <a:solidFill>
                      <a:srgbClr val="FFFFFF"/>
                    </a:solidFill>
                  </a:tcPr>
                </a:tc>
                <a:tc>
                  <a:txBody>
                    <a:bodyPr wrap="square"/>
                    <a:lstStyle/>
                    <a:p>
                      <a:r>
                        <a:rPr sz="850" b="0" i="0">
                          <a:solidFill>
                            <a:srgbClr val="16202C"/>
                          </a:solidFill>
                          <a:latin typeface="Segoe UI"/>
                          <a:ea typeface="맑은 고딕"/>
                          <a:cs typeface="맑은 고딕"/>
                        </a:rPr>
                        <a:t>FP8 블록</a:t>
                      </a:r>
                    </a:p>
                  </a:txBody>
                  <a:tcPr marL="73152" marR="73152" marT="27432" marB="27432">
                    <a:solidFill>
                      <a:srgbClr val="FFFFFF"/>
                    </a:solidFill>
                  </a:tcPr>
                </a:tc>
                <a:tc>
                  <a:txBody>
                    <a:bodyPr wrap="square"/>
                    <a:lstStyle/>
                    <a:p>
                      <a:r>
                        <a:rPr sz="850" b="0" i="0">
                          <a:solidFill>
                            <a:srgbClr val="16202C"/>
                          </a:solidFill>
                          <a:latin typeface="Segoe UI"/>
                          <a:ea typeface="맑은 고딕"/>
                          <a:cs typeface="맑은 고딕"/>
                        </a:rPr>
                        <a:t>40,960</a:t>
                      </a:r>
                    </a:p>
                  </a:txBody>
                  <a:tcPr marL="73152" marR="73152" marT="27432" marB="27432">
                    <a:solidFill>
                      <a:srgbClr val="FFFFFF"/>
                    </a:solidFill>
                  </a:tcPr>
                </a:tc>
                <a:tc>
                  <a:txBody>
                    <a:bodyPr wrap="square"/>
                    <a:lstStyle/>
                    <a:p>
                      <a:r>
                        <a:rPr sz="850" b="0" i="0">
                          <a:solidFill>
                            <a:srgbClr val="16202C"/>
                          </a:solidFill>
                          <a:latin typeface="Segoe UI"/>
                          <a:ea typeface="맑은 고딕"/>
                          <a:cs typeface="맑은 고딕"/>
                        </a:rPr>
                        <a:t>4</a:t>
                      </a:r>
                    </a:p>
                  </a:txBody>
                  <a:tcPr marL="73152" marR="73152" marT="27432" marB="27432">
                    <a:solidFill>
                      <a:srgbClr val="FFFFFF"/>
                    </a:solidFill>
                  </a:tcPr>
                </a:tc>
                <a:tc>
                  <a:txBody>
                    <a:bodyPr wrap="square"/>
                    <a:lstStyle/>
                    <a:p>
                      <a:r>
                        <a:rPr sz="850" b="0" i="0">
                          <a:solidFill>
                            <a:srgbClr val="16202C"/>
                          </a:solidFill>
                          <a:latin typeface="Segoe UI"/>
                          <a:ea typeface="맑은 고딕"/>
                          <a:cs typeface="맑은 고딕"/>
                        </a:rPr>
                        <a:t>대화</a:t>
                      </a:r>
                    </a:p>
                  </a:txBody>
                  <a:tcPr marL="73152" marR="73152" marT="27432" marB="27432">
                    <a:solidFill>
                      <a:srgbClr val="FFFFFF"/>
                    </a:solidFill>
                  </a:tcPr>
                </a:tc>
              </a:tr>
              <a:tr h="258064">
                <a:tc>
                  <a:txBody>
                    <a:bodyPr wrap="square"/>
                    <a:lstStyle/>
                    <a:p>
                      <a:r>
                        <a:rPr sz="850" b="0" i="0">
                          <a:solidFill>
                            <a:srgbClr val="16202C"/>
                          </a:solidFill>
                          <a:latin typeface="Segoe UI"/>
                          <a:ea typeface="맑은 고딕"/>
                          <a:cs typeface="맑은 고딕"/>
                        </a:rPr>
                        <a:t>EXAONE 4.0 32B</a:t>
                      </a:r>
                    </a:p>
                  </a:txBody>
                  <a:tcPr marL="73152" marR="73152" marT="27432" marB="27432">
                    <a:solidFill>
                      <a:srgbClr val="F6F9FC"/>
                    </a:solidFill>
                  </a:tcPr>
                </a:tc>
                <a:tc>
                  <a:txBody>
                    <a:bodyPr wrap="square"/>
                    <a:lstStyle/>
                    <a:p>
                      <a:r>
                        <a:rPr sz="850" b="0" i="0">
                          <a:solidFill>
                            <a:srgbClr val="16202C"/>
                          </a:solidFill>
                          <a:latin typeface="Segoe UI"/>
                          <a:ea typeface="맑은 고딕"/>
                          <a:cs typeface="맑은 고딕"/>
                        </a:rPr>
                        <a:t>32B</a:t>
                      </a:r>
                    </a:p>
                  </a:txBody>
                  <a:tcPr marL="73152" marR="73152" marT="27432" marB="27432">
                    <a:solidFill>
                      <a:srgbClr val="F6F9FC"/>
                    </a:solidFill>
                  </a:tcPr>
                </a:tc>
                <a:tc>
                  <a:txBody>
                    <a:bodyPr wrap="square"/>
                    <a:lstStyle/>
                    <a:p>
                      <a:r>
                        <a:rPr sz="850" b="0" i="0">
                          <a:solidFill>
                            <a:srgbClr val="16202C"/>
                          </a:solidFill>
                          <a:latin typeface="Segoe UI"/>
                          <a:ea typeface="맑은 고딕"/>
                          <a:cs typeface="맑은 고딕"/>
                        </a:rPr>
                        <a:t>dense</a:t>
                      </a:r>
                    </a:p>
                  </a:txBody>
                  <a:tcPr marL="73152" marR="73152" marT="27432" marB="27432">
                    <a:solidFill>
                      <a:srgbClr val="F6F9FC"/>
                    </a:solidFill>
                  </a:tcPr>
                </a:tc>
                <a:tc>
                  <a:txBody>
                    <a:bodyPr wrap="square"/>
                    <a:lstStyle/>
                    <a:p>
                      <a:r>
                        <a:rPr sz="850" b="0" i="0">
                          <a:solidFill>
                            <a:srgbClr val="16202C"/>
                          </a:solidFill>
                          <a:latin typeface="Segoe UI"/>
                          <a:ea typeface="맑은 고딕"/>
                          <a:cs typeface="맑은 고딕"/>
                        </a:rPr>
                        <a:t>FP8 블록</a:t>
                      </a:r>
                    </a:p>
                  </a:txBody>
                  <a:tcPr marL="73152" marR="73152" marT="27432" marB="27432">
                    <a:solidFill>
                      <a:srgbClr val="F6F9FC"/>
                    </a:solidFill>
                  </a:tcPr>
                </a:tc>
                <a:tc>
                  <a:txBody>
                    <a:bodyPr wrap="square"/>
                    <a:lstStyle/>
                    <a:p>
                      <a:r>
                        <a:rPr sz="850" b="0" i="0">
                          <a:solidFill>
                            <a:srgbClr val="16202C"/>
                          </a:solidFill>
                          <a:latin typeface="Segoe UI"/>
                          <a:ea typeface="맑은 고딕"/>
                          <a:cs typeface="맑은 고딕"/>
                        </a:rPr>
                        <a:t>131,072</a:t>
                      </a:r>
                    </a:p>
                  </a:txBody>
                  <a:tcPr marL="73152" marR="73152" marT="27432" marB="27432">
                    <a:solidFill>
                      <a:srgbClr val="F6F9FC"/>
                    </a:solidFill>
                  </a:tcPr>
                </a:tc>
                <a:tc>
                  <a:txBody>
                    <a:bodyPr wrap="square"/>
                    <a:lstStyle/>
                    <a:p>
                      <a:r>
                        <a:rPr sz="850" b="0" i="0">
                          <a:solidFill>
                            <a:srgbClr val="16202C"/>
                          </a:solidFill>
                          <a:latin typeface="Segoe UI"/>
                          <a:ea typeface="맑은 고딕"/>
                          <a:cs typeface="맑은 고딕"/>
                        </a:rPr>
                        <a:t>4</a:t>
                      </a:r>
                    </a:p>
                  </a:txBody>
                  <a:tcPr marL="73152" marR="73152" marT="27432" marB="27432">
                    <a:solidFill>
                      <a:srgbClr val="F6F9FC"/>
                    </a:solidFill>
                  </a:tcPr>
                </a:tc>
                <a:tc>
                  <a:txBody>
                    <a:bodyPr wrap="square"/>
                    <a:lstStyle/>
                    <a:p>
                      <a:r>
                        <a:rPr sz="850" b="0" i="0">
                          <a:solidFill>
                            <a:srgbClr val="16202C"/>
                          </a:solidFill>
                          <a:latin typeface="Segoe UI"/>
                          <a:ea typeface="맑은 고딕"/>
                          <a:cs typeface="맑은 고딕"/>
                        </a:rPr>
                        <a:t>대화</a:t>
                      </a:r>
                    </a:p>
                  </a:txBody>
                  <a:tcPr marL="73152" marR="73152" marT="27432" marB="27432">
                    <a:solidFill>
                      <a:srgbClr val="F6F9FC"/>
                    </a:solidFill>
                  </a:tcPr>
                </a:tc>
              </a:tr>
              <a:tr h="258064">
                <a:tc>
                  <a:txBody>
                    <a:bodyPr wrap="square"/>
                    <a:lstStyle/>
                    <a:p>
                      <a:r>
                        <a:rPr sz="850" b="0" i="0">
                          <a:solidFill>
                            <a:srgbClr val="16202C"/>
                          </a:solidFill>
                          <a:latin typeface="Segoe UI"/>
                          <a:ea typeface="맑은 고딕"/>
                          <a:cs typeface="맑은 고딕"/>
                        </a:rPr>
                        <a:t>Qwen3-VL 32B</a:t>
                      </a:r>
                    </a:p>
                  </a:txBody>
                  <a:tcPr marL="73152" marR="73152" marT="27432" marB="27432">
                    <a:solidFill>
                      <a:srgbClr val="FFFFFF"/>
                    </a:solidFill>
                  </a:tcPr>
                </a:tc>
                <a:tc>
                  <a:txBody>
                    <a:bodyPr wrap="square"/>
                    <a:lstStyle/>
                    <a:p>
                      <a:r>
                        <a:rPr sz="850" b="0" i="0">
                          <a:solidFill>
                            <a:srgbClr val="16202C"/>
                          </a:solidFill>
                          <a:latin typeface="Segoe UI"/>
                          <a:ea typeface="맑은 고딕"/>
                          <a:cs typeface="맑은 고딕"/>
                        </a:rPr>
                        <a:t>32B</a:t>
                      </a:r>
                    </a:p>
                  </a:txBody>
                  <a:tcPr marL="73152" marR="73152" marT="27432" marB="27432">
                    <a:solidFill>
                      <a:srgbClr val="FFFFFF"/>
                    </a:solidFill>
                  </a:tcPr>
                </a:tc>
                <a:tc>
                  <a:txBody>
                    <a:bodyPr wrap="square"/>
                    <a:lstStyle/>
                    <a:p>
                      <a:r>
                        <a:rPr sz="850" b="0" i="0">
                          <a:solidFill>
                            <a:srgbClr val="16202C"/>
                          </a:solidFill>
                          <a:latin typeface="Segoe UI"/>
                          <a:ea typeface="맑은 고딕"/>
                          <a:cs typeface="맑은 고딕"/>
                        </a:rPr>
                        <a:t>dense</a:t>
                      </a:r>
                    </a:p>
                  </a:txBody>
                  <a:tcPr marL="73152" marR="73152" marT="27432" marB="27432">
                    <a:solidFill>
                      <a:srgbClr val="FFFFFF"/>
                    </a:solidFill>
                  </a:tcPr>
                </a:tc>
                <a:tc>
                  <a:txBody>
                    <a:bodyPr wrap="square"/>
                    <a:lstStyle/>
                    <a:p>
                      <a:r>
                        <a:rPr sz="850" b="0" i="0">
                          <a:solidFill>
                            <a:srgbClr val="16202C"/>
                          </a:solidFill>
                          <a:latin typeface="Segoe UI"/>
                          <a:ea typeface="맑은 고딕"/>
                          <a:cs typeface="맑은 고딕"/>
                        </a:rPr>
                        <a:t>bf16</a:t>
                      </a:r>
                    </a:p>
                  </a:txBody>
                  <a:tcPr marL="73152" marR="73152" marT="27432" marB="27432">
                    <a:solidFill>
                      <a:srgbClr val="FFFFFF"/>
                    </a:solidFill>
                  </a:tcPr>
                </a:tc>
                <a:tc>
                  <a:txBody>
                    <a:bodyPr wrap="square"/>
                    <a:lstStyle/>
                    <a:p>
                      <a:r>
                        <a:rPr sz="850" b="0" i="0">
                          <a:solidFill>
                            <a:srgbClr val="16202C"/>
                          </a:solidFill>
                          <a:latin typeface="Segoe UI"/>
                          <a:ea typeface="맑은 고딕"/>
                          <a:cs typeface="맑은 고딕"/>
                        </a:rPr>
                        <a:t>262,144</a:t>
                      </a:r>
                    </a:p>
                  </a:txBody>
                  <a:tcPr marL="73152" marR="73152" marT="27432" marB="27432">
                    <a:solidFill>
                      <a:srgbClr val="FFFFFF"/>
                    </a:solidFill>
                  </a:tcPr>
                </a:tc>
                <a:tc>
                  <a:txBody>
                    <a:bodyPr wrap="square"/>
                    <a:lstStyle/>
                    <a:p>
                      <a:r>
                        <a:rPr sz="850" b="0" i="0">
                          <a:solidFill>
                            <a:srgbClr val="16202C"/>
                          </a:solidFill>
                          <a:latin typeface="Segoe UI"/>
                          <a:ea typeface="맑은 고딕"/>
                          <a:cs typeface="맑은 고딕"/>
                        </a:rPr>
                        <a:t>4</a:t>
                      </a:r>
                    </a:p>
                  </a:txBody>
                  <a:tcPr marL="73152" marR="73152" marT="27432" marB="27432">
                    <a:solidFill>
                      <a:srgbClr val="FFFFFF"/>
                    </a:solidFill>
                  </a:tcPr>
                </a:tc>
                <a:tc>
                  <a:txBody>
                    <a:bodyPr wrap="square"/>
                    <a:lstStyle/>
                    <a:p>
                      <a:r>
                        <a:rPr sz="850" b="0" i="0">
                          <a:solidFill>
                            <a:srgbClr val="16202C"/>
                          </a:solidFill>
                          <a:latin typeface="Segoe UI"/>
                          <a:ea typeface="맑은 고딕"/>
                          <a:cs typeface="맑은 고딕"/>
                        </a:rPr>
                        <a:t>대화, 이미지</a:t>
                      </a:r>
                    </a:p>
                  </a:txBody>
                  <a:tcPr marL="73152" marR="73152" marT="27432" marB="27432">
                    <a:solidFill>
                      <a:srgbClr val="FFFFFF"/>
                    </a:solidFill>
                  </a:tcPr>
                </a:tc>
              </a:tr>
              <a:tr h="258064">
                <a:tc>
                  <a:txBody>
                    <a:bodyPr wrap="square"/>
                    <a:lstStyle/>
                    <a:p>
                      <a:r>
                        <a:rPr sz="850" b="0" i="0">
                          <a:solidFill>
                            <a:srgbClr val="16202C"/>
                          </a:solidFill>
                          <a:latin typeface="Segoe UI"/>
                          <a:ea typeface="맑은 고딕"/>
                          <a:cs typeface="맑은 고딕"/>
                        </a:rPr>
                        <a:t>Qwen3-Coder 30B</a:t>
                      </a:r>
                    </a:p>
                  </a:txBody>
                  <a:tcPr marL="73152" marR="73152" marT="27432" marB="27432">
                    <a:solidFill>
                      <a:srgbClr val="F6F9FC"/>
                    </a:solidFill>
                  </a:tcPr>
                </a:tc>
                <a:tc>
                  <a:txBody>
                    <a:bodyPr wrap="square"/>
                    <a:lstStyle/>
                    <a:p>
                      <a:r>
                        <a:rPr sz="850" b="0" i="0">
                          <a:solidFill>
                            <a:srgbClr val="16202C"/>
                          </a:solidFill>
                          <a:latin typeface="Segoe UI"/>
                          <a:ea typeface="맑은 고딕"/>
                          <a:cs typeface="맑은 고딕"/>
                        </a:rPr>
                        <a:t>30B/A3B</a:t>
                      </a:r>
                    </a:p>
                  </a:txBody>
                  <a:tcPr marL="73152" marR="73152" marT="27432" marB="27432">
                    <a:solidFill>
                      <a:srgbClr val="F6F9FC"/>
                    </a:solidFill>
                  </a:tcPr>
                </a:tc>
                <a:tc>
                  <a:txBody>
                    <a:bodyPr wrap="square"/>
                    <a:lstStyle/>
                    <a:p>
                      <a:r>
                        <a:rPr sz="850" b="0" i="0">
                          <a:solidFill>
                            <a:srgbClr val="16202C"/>
                          </a:solidFill>
                          <a:latin typeface="Segoe UI"/>
                          <a:ea typeface="맑은 고딕"/>
                          <a:cs typeface="맑은 고딕"/>
                        </a:rPr>
                        <a:t>MoE 128</a:t>
                      </a:r>
                    </a:p>
                  </a:txBody>
                  <a:tcPr marL="73152" marR="73152" marT="27432" marB="27432">
                    <a:solidFill>
                      <a:srgbClr val="F6F9FC"/>
                    </a:solidFill>
                  </a:tcPr>
                </a:tc>
                <a:tc>
                  <a:txBody>
                    <a:bodyPr wrap="square"/>
                    <a:lstStyle/>
                    <a:p>
                      <a:r>
                        <a:rPr sz="850" b="0" i="0">
                          <a:solidFill>
                            <a:srgbClr val="16202C"/>
                          </a:solidFill>
                          <a:latin typeface="Segoe UI"/>
                          <a:ea typeface="맑은 고딕"/>
                          <a:cs typeface="맑은 고딕"/>
                        </a:rPr>
                        <a:t>FP8 블록</a:t>
                      </a:r>
                    </a:p>
                  </a:txBody>
                  <a:tcPr marL="73152" marR="73152" marT="27432" marB="27432">
                    <a:solidFill>
                      <a:srgbClr val="F6F9FC"/>
                    </a:solidFill>
                  </a:tcPr>
                </a:tc>
                <a:tc>
                  <a:txBody>
                    <a:bodyPr wrap="square"/>
                    <a:lstStyle/>
                    <a:p>
                      <a:r>
                        <a:rPr sz="850" b="0" i="0">
                          <a:solidFill>
                            <a:srgbClr val="16202C"/>
                          </a:solidFill>
                          <a:latin typeface="Segoe UI"/>
                          <a:ea typeface="맑은 고딕"/>
                          <a:cs typeface="맑은 고딕"/>
                        </a:rPr>
                        <a:t>262,144</a:t>
                      </a:r>
                    </a:p>
                  </a:txBody>
                  <a:tcPr marL="73152" marR="73152" marT="27432" marB="27432">
                    <a:solidFill>
                      <a:srgbClr val="F6F9FC"/>
                    </a:solidFill>
                  </a:tcPr>
                </a:tc>
                <a:tc>
                  <a:txBody>
                    <a:bodyPr wrap="square"/>
                    <a:lstStyle/>
                    <a:p>
                      <a:r>
                        <a:rPr sz="850" b="0" i="0">
                          <a:solidFill>
                            <a:srgbClr val="16202C"/>
                          </a:solidFill>
                          <a:latin typeface="Segoe UI"/>
                          <a:ea typeface="맑은 고딕"/>
                          <a:cs typeface="맑은 고딕"/>
                        </a:rPr>
                        <a:t>4</a:t>
                      </a:r>
                    </a:p>
                  </a:txBody>
                  <a:tcPr marL="73152" marR="73152" marT="27432" marB="27432">
                    <a:solidFill>
                      <a:srgbClr val="F6F9FC"/>
                    </a:solidFill>
                  </a:tcPr>
                </a:tc>
                <a:tc>
                  <a:txBody>
                    <a:bodyPr wrap="square"/>
                    <a:lstStyle/>
                    <a:p>
                      <a:r>
                        <a:rPr sz="850" b="0" i="0">
                          <a:solidFill>
                            <a:srgbClr val="16202C"/>
                          </a:solidFill>
                          <a:latin typeface="Segoe UI"/>
                          <a:ea typeface="맑은 고딕"/>
                          <a:cs typeface="맑은 고딕"/>
                        </a:rPr>
                        <a:t>코드</a:t>
                      </a:r>
                    </a:p>
                  </a:txBody>
                  <a:tcPr marL="73152" marR="73152" marT="27432" marB="27432">
                    <a:solidFill>
                      <a:srgbClr val="F6F9FC"/>
                    </a:solidFill>
                  </a:tcPr>
                </a:tc>
              </a:tr>
              <a:tr h="258064">
                <a:tc>
                  <a:txBody>
                    <a:bodyPr wrap="square"/>
                    <a:lstStyle/>
                    <a:p>
                      <a:r>
                        <a:rPr sz="850" b="0" i="0">
                          <a:solidFill>
                            <a:srgbClr val="16202C"/>
                          </a:solidFill>
                          <a:latin typeface="Segoe UI"/>
                          <a:ea typeface="맑은 고딕"/>
                          <a:cs typeface="맑은 고딕"/>
                        </a:rPr>
                        <a:t>A3B Instruct 2507</a:t>
                      </a:r>
                    </a:p>
                  </a:txBody>
                  <a:tcPr marL="73152" marR="73152" marT="27432" marB="27432">
                    <a:solidFill>
                      <a:srgbClr val="FFFFFF"/>
                    </a:solidFill>
                  </a:tcPr>
                </a:tc>
                <a:tc>
                  <a:txBody>
                    <a:bodyPr wrap="square"/>
                    <a:lstStyle/>
                    <a:p>
                      <a:r>
                        <a:rPr sz="850" b="0" i="0">
                          <a:solidFill>
                            <a:srgbClr val="16202C"/>
                          </a:solidFill>
                          <a:latin typeface="Segoe UI"/>
                          <a:ea typeface="맑은 고딕"/>
                          <a:cs typeface="맑은 고딕"/>
                        </a:rPr>
                        <a:t>30B/A3B</a:t>
                      </a:r>
                    </a:p>
                  </a:txBody>
                  <a:tcPr marL="73152" marR="73152" marT="27432" marB="27432">
                    <a:solidFill>
                      <a:srgbClr val="FFFFFF"/>
                    </a:solidFill>
                  </a:tcPr>
                </a:tc>
                <a:tc>
                  <a:txBody>
                    <a:bodyPr wrap="square"/>
                    <a:lstStyle/>
                    <a:p>
                      <a:r>
                        <a:rPr sz="850" b="0" i="0">
                          <a:solidFill>
                            <a:srgbClr val="16202C"/>
                          </a:solidFill>
                          <a:latin typeface="Segoe UI"/>
                          <a:ea typeface="맑은 고딕"/>
                          <a:cs typeface="맑은 고딕"/>
                        </a:rPr>
                        <a:t>MoE 128</a:t>
                      </a:r>
                    </a:p>
                  </a:txBody>
                  <a:tcPr marL="73152" marR="73152" marT="27432" marB="27432">
                    <a:solidFill>
                      <a:srgbClr val="FFFFFF"/>
                    </a:solidFill>
                  </a:tcPr>
                </a:tc>
                <a:tc>
                  <a:txBody>
                    <a:bodyPr wrap="square"/>
                    <a:lstStyle/>
                    <a:p>
                      <a:r>
                        <a:rPr sz="850" b="0" i="0">
                          <a:solidFill>
                            <a:srgbClr val="16202C"/>
                          </a:solidFill>
                          <a:latin typeface="Segoe UI"/>
                          <a:ea typeface="맑은 고딕"/>
                          <a:cs typeface="맑은 고딕"/>
                        </a:rPr>
                        <a:t>FP8 블록</a:t>
                      </a:r>
                    </a:p>
                  </a:txBody>
                  <a:tcPr marL="73152" marR="73152" marT="27432" marB="27432">
                    <a:solidFill>
                      <a:srgbClr val="FFFFFF"/>
                    </a:solidFill>
                  </a:tcPr>
                </a:tc>
                <a:tc>
                  <a:txBody>
                    <a:bodyPr wrap="square"/>
                    <a:lstStyle/>
                    <a:p>
                      <a:r>
                        <a:rPr sz="850" b="0" i="0">
                          <a:solidFill>
                            <a:srgbClr val="16202C"/>
                          </a:solidFill>
                          <a:latin typeface="Segoe UI"/>
                          <a:ea typeface="맑은 고딕"/>
                          <a:cs typeface="맑은 고딕"/>
                        </a:rPr>
                        <a:t>262,144</a:t>
                      </a:r>
                    </a:p>
                  </a:txBody>
                  <a:tcPr marL="73152" marR="73152" marT="27432" marB="27432">
                    <a:solidFill>
                      <a:srgbClr val="FFFFFF"/>
                    </a:solidFill>
                  </a:tcPr>
                </a:tc>
                <a:tc>
                  <a:txBody>
                    <a:bodyPr wrap="square"/>
                    <a:lstStyle/>
                    <a:p>
                      <a:r>
                        <a:rPr sz="850" b="0" i="0">
                          <a:solidFill>
                            <a:srgbClr val="16202C"/>
                          </a:solidFill>
                          <a:latin typeface="Segoe UI"/>
                          <a:ea typeface="맑은 고딕"/>
                          <a:cs typeface="맑은 고딕"/>
                        </a:rPr>
                        <a:t>4</a:t>
                      </a:r>
                    </a:p>
                  </a:txBody>
                  <a:tcPr marL="73152" marR="73152" marT="27432" marB="27432">
                    <a:solidFill>
                      <a:srgbClr val="FFFFFF"/>
                    </a:solidFill>
                  </a:tcPr>
                </a:tc>
                <a:tc>
                  <a:txBody>
                    <a:bodyPr wrap="square"/>
                    <a:lstStyle/>
                    <a:p>
                      <a:r>
                        <a:rPr sz="850" b="0" i="0">
                          <a:solidFill>
                            <a:srgbClr val="16202C"/>
                          </a:solidFill>
                          <a:latin typeface="Segoe UI"/>
                          <a:ea typeface="맑은 고딕"/>
                          <a:cs typeface="맑은 고딕"/>
                        </a:rPr>
                        <a:t>대화</a:t>
                      </a:r>
                    </a:p>
                  </a:txBody>
                  <a:tcPr marL="73152" marR="73152" marT="27432" marB="27432">
                    <a:solidFill>
                      <a:srgbClr val="FFFFFF"/>
                    </a:solidFill>
                  </a:tcPr>
                </a:tc>
              </a:tr>
              <a:tr h="258064">
                <a:tc>
                  <a:txBody>
                    <a:bodyPr wrap="square"/>
                    <a:lstStyle/>
                    <a:p>
                      <a:r>
                        <a:rPr sz="850" b="0" i="0">
                          <a:solidFill>
                            <a:srgbClr val="16202C"/>
                          </a:solidFill>
                          <a:latin typeface="Segoe UI"/>
                          <a:ea typeface="맑은 고딕"/>
                          <a:cs typeface="맑은 고딕"/>
                        </a:rPr>
                        <a:t>A3B Thinking 2507</a:t>
                      </a:r>
                    </a:p>
                  </a:txBody>
                  <a:tcPr marL="73152" marR="73152" marT="27432" marB="27432">
                    <a:solidFill>
                      <a:srgbClr val="F6F9FC"/>
                    </a:solidFill>
                  </a:tcPr>
                </a:tc>
                <a:tc>
                  <a:txBody>
                    <a:bodyPr wrap="square"/>
                    <a:lstStyle/>
                    <a:p>
                      <a:r>
                        <a:rPr sz="850" b="0" i="0">
                          <a:solidFill>
                            <a:srgbClr val="16202C"/>
                          </a:solidFill>
                          <a:latin typeface="Segoe UI"/>
                          <a:ea typeface="맑은 고딕"/>
                          <a:cs typeface="맑은 고딕"/>
                        </a:rPr>
                        <a:t>30B/A3B</a:t>
                      </a:r>
                    </a:p>
                  </a:txBody>
                  <a:tcPr marL="73152" marR="73152" marT="27432" marB="27432">
                    <a:solidFill>
                      <a:srgbClr val="F6F9FC"/>
                    </a:solidFill>
                  </a:tcPr>
                </a:tc>
                <a:tc>
                  <a:txBody>
                    <a:bodyPr wrap="square"/>
                    <a:lstStyle/>
                    <a:p>
                      <a:r>
                        <a:rPr sz="850" b="0" i="0">
                          <a:solidFill>
                            <a:srgbClr val="16202C"/>
                          </a:solidFill>
                          <a:latin typeface="Segoe UI"/>
                          <a:ea typeface="맑은 고딕"/>
                          <a:cs typeface="맑은 고딕"/>
                        </a:rPr>
                        <a:t>MoE 128</a:t>
                      </a:r>
                    </a:p>
                  </a:txBody>
                  <a:tcPr marL="73152" marR="73152" marT="27432" marB="27432">
                    <a:solidFill>
                      <a:srgbClr val="F6F9FC"/>
                    </a:solidFill>
                  </a:tcPr>
                </a:tc>
                <a:tc>
                  <a:txBody>
                    <a:bodyPr wrap="square"/>
                    <a:lstStyle/>
                    <a:p>
                      <a:r>
                        <a:rPr sz="850" b="0" i="0">
                          <a:solidFill>
                            <a:srgbClr val="16202C"/>
                          </a:solidFill>
                          <a:latin typeface="Segoe UI"/>
                          <a:ea typeface="맑은 고딕"/>
                          <a:cs typeface="맑은 고딕"/>
                        </a:rPr>
                        <a:t>FP8 블록</a:t>
                      </a:r>
                    </a:p>
                  </a:txBody>
                  <a:tcPr marL="73152" marR="73152" marT="27432" marB="27432">
                    <a:solidFill>
                      <a:srgbClr val="F6F9FC"/>
                    </a:solidFill>
                  </a:tcPr>
                </a:tc>
                <a:tc>
                  <a:txBody>
                    <a:bodyPr wrap="square"/>
                    <a:lstStyle/>
                    <a:p>
                      <a:r>
                        <a:rPr sz="850" b="0" i="0">
                          <a:solidFill>
                            <a:srgbClr val="16202C"/>
                          </a:solidFill>
                          <a:latin typeface="Segoe UI"/>
                          <a:ea typeface="맑은 고딕"/>
                          <a:cs typeface="맑은 고딕"/>
                        </a:rPr>
                        <a:t>262,144</a:t>
                      </a:r>
                    </a:p>
                  </a:txBody>
                  <a:tcPr marL="73152" marR="73152" marT="27432" marB="27432">
                    <a:solidFill>
                      <a:srgbClr val="F6F9FC"/>
                    </a:solidFill>
                  </a:tcPr>
                </a:tc>
                <a:tc>
                  <a:txBody>
                    <a:bodyPr wrap="square"/>
                    <a:lstStyle/>
                    <a:p>
                      <a:r>
                        <a:rPr sz="850" b="0" i="0">
                          <a:solidFill>
                            <a:srgbClr val="16202C"/>
                          </a:solidFill>
                          <a:latin typeface="Segoe UI"/>
                          <a:ea typeface="맑은 고딕"/>
                          <a:cs typeface="맑은 고딕"/>
                        </a:rPr>
                        <a:t>4</a:t>
                      </a:r>
                    </a:p>
                  </a:txBody>
                  <a:tcPr marL="73152" marR="73152" marT="27432" marB="27432">
                    <a:solidFill>
                      <a:srgbClr val="F6F9FC"/>
                    </a:solidFill>
                  </a:tcPr>
                </a:tc>
                <a:tc>
                  <a:txBody>
                    <a:bodyPr wrap="square"/>
                    <a:lstStyle/>
                    <a:p>
                      <a:r>
                        <a:rPr sz="850" b="0" i="0">
                          <a:solidFill>
                            <a:srgbClr val="16202C"/>
                          </a:solidFill>
                          <a:latin typeface="Segoe UI"/>
                          <a:ea typeface="맑은 고딕"/>
                          <a:cs typeface="맑은 고딕"/>
                        </a:rPr>
                        <a:t>대화, 사고</a:t>
                      </a:r>
                    </a:p>
                  </a:txBody>
                  <a:tcPr marL="73152" marR="73152" marT="27432" marB="27432">
                    <a:solidFill>
                      <a:srgbClr val="F6F9FC"/>
                    </a:solidFill>
                  </a:tcPr>
                </a:tc>
              </a:tr>
              <a:tr h="258064">
                <a:tc>
                  <a:txBody>
                    <a:bodyPr wrap="square"/>
                    <a:lstStyle/>
                    <a:p>
                      <a:r>
                        <a:rPr sz="850" b="0" i="0">
                          <a:solidFill>
                            <a:srgbClr val="16202C"/>
                          </a:solidFill>
                          <a:latin typeface="Segoe UI"/>
                          <a:ea typeface="맑은 고딕"/>
                          <a:cs typeface="맑은 고딕"/>
                        </a:rPr>
                        <a:t>A3B 30B</a:t>
                      </a:r>
                    </a:p>
                  </a:txBody>
                  <a:tcPr marL="73152" marR="73152" marT="27432" marB="27432">
                    <a:solidFill>
                      <a:srgbClr val="FFFFFF"/>
                    </a:solidFill>
                  </a:tcPr>
                </a:tc>
                <a:tc>
                  <a:txBody>
                    <a:bodyPr wrap="square"/>
                    <a:lstStyle/>
                    <a:p>
                      <a:r>
                        <a:rPr sz="850" b="0" i="0">
                          <a:solidFill>
                            <a:srgbClr val="16202C"/>
                          </a:solidFill>
                          <a:latin typeface="Segoe UI"/>
                          <a:ea typeface="맑은 고딕"/>
                          <a:cs typeface="맑은 고딕"/>
                        </a:rPr>
                        <a:t>30B/A3B</a:t>
                      </a:r>
                    </a:p>
                  </a:txBody>
                  <a:tcPr marL="73152" marR="73152" marT="27432" marB="27432">
                    <a:solidFill>
                      <a:srgbClr val="FFFFFF"/>
                    </a:solidFill>
                  </a:tcPr>
                </a:tc>
                <a:tc>
                  <a:txBody>
                    <a:bodyPr wrap="square"/>
                    <a:lstStyle/>
                    <a:p>
                      <a:r>
                        <a:rPr sz="850" b="0" i="0">
                          <a:solidFill>
                            <a:srgbClr val="16202C"/>
                          </a:solidFill>
                          <a:latin typeface="Segoe UI"/>
                          <a:ea typeface="맑은 고딕"/>
                          <a:cs typeface="맑은 고딕"/>
                        </a:rPr>
                        <a:t>MoE 128</a:t>
                      </a:r>
                    </a:p>
                  </a:txBody>
                  <a:tcPr marL="73152" marR="73152" marT="27432" marB="27432">
                    <a:solidFill>
                      <a:srgbClr val="FFFFFF"/>
                    </a:solidFill>
                  </a:tcPr>
                </a:tc>
                <a:tc>
                  <a:txBody>
                    <a:bodyPr wrap="square"/>
                    <a:lstStyle/>
                    <a:p>
                      <a:r>
                        <a:rPr sz="850" b="0" i="0">
                          <a:solidFill>
                            <a:srgbClr val="16202C"/>
                          </a:solidFill>
                          <a:latin typeface="Segoe UI"/>
                          <a:ea typeface="맑은 고딕"/>
                          <a:cs typeface="맑은 고딕"/>
                        </a:rPr>
                        <a:t>FP8 블록</a:t>
                      </a:r>
                    </a:p>
                  </a:txBody>
                  <a:tcPr marL="73152" marR="73152" marT="27432" marB="27432">
                    <a:solidFill>
                      <a:srgbClr val="FFFFFF"/>
                    </a:solidFill>
                  </a:tcPr>
                </a:tc>
                <a:tc>
                  <a:txBody>
                    <a:bodyPr wrap="square"/>
                    <a:lstStyle/>
                    <a:p>
                      <a:r>
                        <a:rPr sz="850" b="0" i="0">
                          <a:solidFill>
                            <a:srgbClr val="16202C"/>
                          </a:solidFill>
                          <a:latin typeface="Segoe UI"/>
                          <a:ea typeface="맑은 고딕"/>
                          <a:cs typeface="맑은 고딕"/>
                        </a:rPr>
                        <a:t>40,960</a:t>
                      </a:r>
                    </a:p>
                  </a:txBody>
                  <a:tcPr marL="73152" marR="73152" marT="27432" marB="27432">
                    <a:solidFill>
                      <a:srgbClr val="FFFFFF"/>
                    </a:solidFill>
                  </a:tcPr>
                </a:tc>
                <a:tc>
                  <a:txBody>
                    <a:bodyPr wrap="square"/>
                    <a:lstStyle/>
                    <a:p>
                      <a:r>
                        <a:rPr sz="850" b="0" i="0">
                          <a:solidFill>
                            <a:srgbClr val="16202C"/>
                          </a:solidFill>
                          <a:latin typeface="Segoe UI"/>
                          <a:ea typeface="맑은 고딕"/>
                          <a:cs typeface="맑은 고딕"/>
                        </a:rPr>
                        <a:t>4</a:t>
                      </a:r>
                    </a:p>
                  </a:txBody>
                  <a:tcPr marL="73152" marR="73152" marT="27432" marB="27432">
                    <a:solidFill>
                      <a:srgbClr val="FFFFFF"/>
                    </a:solidFill>
                  </a:tcPr>
                </a:tc>
                <a:tc>
                  <a:txBody>
                    <a:bodyPr wrap="square"/>
                    <a:lstStyle/>
                    <a:p>
                      <a:r>
                        <a:rPr sz="850" b="0" i="0">
                          <a:solidFill>
                            <a:srgbClr val="16202C"/>
                          </a:solidFill>
                          <a:latin typeface="Segoe UI"/>
                          <a:ea typeface="맑은 고딕"/>
                          <a:cs typeface="맑은 고딕"/>
                        </a:rPr>
                        <a:t>대화, 못 뜸</a:t>
                      </a:r>
                    </a:p>
                  </a:txBody>
                  <a:tcPr marL="73152" marR="73152" marT="27432" marB="27432">
                    <a:solidFill>
                      <a:srgbClr val="FFFFFF"/>
                    </a:solidFill>
                  </a:tcPr>
                </a:tc>
              </a:tr>
              <a:tr h="258064">
                <a:tc>
                  <a:txBody>
                    <a:bodyPr wrap="square"/>
                    <a:lstStyle/>
                    <a:p>
                      <a:r>
                        <a:rPr sz="850" b="0" i="0">
                          <a:solidFill>
                            <a:srgbClr val="16202C"/>
                          </a:solidFill>
                          <a:latin typeface="Segoe UI"/>
                          <a:ea typeface="맑은 고딕"/>
                          <a:cs typeface="맑은 고딕"/>
                        </a:rPr>
                        <a:t>Llama 3.1 8B</a:t>
                      </a:r>
                    </a:p>
                  </a:txBody>
                  <a:tcPr marL="73152" marR="73152" marT="27432" marB="27432">
                    <a:solidFill>
                      <a:srgbClr val="F6F9FC"/>
                    </a:solidFill>
                  </a:tcPr>
                </a:tc>
                <a:tc>
                  <a:txBody>
                    <a:bodyPr wrap="square"/>
                    <a:lstStyle/>
                    <a:p>
                      <a:r>
                        <a:rPr sz="850" b="0" i="0">
                          <a:solidFill>
                            <a:srgbClr val="16202C"/>
                          </a:solidFill>
                          <a:latin typeface="Segoe UI"/>
                          <a:ea typeface="맑은 고딕"/>
                          <a:cs typeface="맑은 고딕"/>
                        </a:rPr>
                        <a:t>8B</a:t>
                      </a:r>
                    </a:p>
                  </a:txBody>
                  <a:tcPr marL="73152" marR="73152" marT="27432" marB="27432">
                    <a:solidFill>
                      <a:srgbClr val="F6F9FC"/>
                    </a:solidFill>
                  </a:tcPr>
                </a:tc>
                <a:tc>
                  <a:txBody>
                    <a:bodyPr wrap="square"/>
                    <a:lstStyle/>
                    <a:p>
                      <a:r>
                        <a:rPr sz="850" b="0" i="0">
                          <a:solidFill>
                            <a:srgbClr val="16202C"/>
                          </a:solidFill>
                          <a:latin typeface="Segoe UI"/>
                          <a:ea typeface="맑은 고딕"/>
                          <a:cs typeface="맑은 고딕"/>
                        </a:rPr>
                        <a:t>dense</a:t>
                      </a:r>
                    </a:p>
                  </a:txBody>
                  <a:tcPr marL="73152" marR="73152" marT="27432" marB="27432">
                    <a:solidFill>
                      <a:srgbClr val="F6F9FC"/>
                    </a:solidFill>
                  </a:tcPr>
                </a:tc>
                <a:tc>
                  <a:txBody>
                    <a:bodyPr wrap="square"/>
                    <a:lstStyle/>
                    <a:p>
                      <a:r>
                        <a:rPr sz="850" b="0" i="0">
                          <a:solidFill>
                            <a:srgbClr val="16202C"/>
                          </a:solidFill>
                          <a:latin typeface="Segoe UI"/>
                          <a:ea typeface="맑은 고딕"/>
                          <a:cs typeface="맑은 고딕"/>
                        </a:rPr>
                        <a:t>bf16</a:t>
                      </a:r>
                    </a:p>
                  </a:txBody>
                  <a:tcPr marL="73152" marR="73152" marT="27432" marB="27432">
                    <a:solidFill>
                      <a:srgbClr val="F6F9FC"/>
                    </a:solidFill>
                  </a:tcPr>
                </a:tc>
                <a:tc>
                  <a:txBody>
                    <a:bodyPr wrap="square"/>
                    <a:lstStyle/>
                    <a:p>
                      <a:r>
                        <a:rPr sz="850" b="0" i="0">
                          <a:solidFill>
                            <a:srgbClr val="16202C"/>
                          </a:solidFill>
                          <a:latin typeface="Segoe UI"/>
                          <a:ea typeface="맑은 고딕"/>
                          <a:cs typeface="맑은 고딕"/>
                        </a:rPr>
                        <a:t>131,072</a:t>
                      </a:r>
                    </a:p>
                  </a:txBody>
                  <a:tcPr marL="73152" marR="73152" marT="27432" marB="27432">
                    <a:solidFill>
                      <a:srgbClr val="F6F9FC"/>
                    </a:solidFill>
                  </a:tcPr>
                </a:tc>
                <a:tc>
                  <a:txBody>
                    <a:bodyPr wrap="square"/>
                    <a:lstStyle/>
                    <a:p>
                      <a:r>
                        <a:rPr sz="850" b="0" i="0">
                          <a:solidFill>
                            <a:srgbClr val="16202C"/>
                          </a:solidFill>
                          <a:latin typeface="Segoe UI"/>
                          <a:ea typeface="맑은 고딕"/>
                          <a:cs typeface="맑은 고딕"/>
                        </a:rPr>
                        <a:t>1</a:t>
                      </a:r>
                    </a:p>
                  </a:txBody>
                  <a:tcPr marL="73152" marR="73152" marT="27432" marB="27432">
                    <a:solidFill>
                      <a:srgbClr val="F6F9FC"/>
                    </a:solidFill>
                  </a:tcPr>
                </a:tc>
                <a:tc>
                  <a:txBody>
                    <a:bodyPr wrap="square"/>
                    <a:lstStyle/>
                    <a:p>
                      <a:r>
                        <a:rPr sz="850" b="0" i="0">
                          <a:solidFill>
                            <a:srgbClr val="16202C"/>
                          </a:solidFill>
                          <a:latin typeface="Segoe UI"/>
                          <a:ea typeface="맑은 고딕"/>
                          <a:cs typeface="맑은 고딕"/>
                        </a:rPr>
                        <a:t>대화</a:t>
                      </a:r>
                    </a:p>
                  </a:txBody>
                  <a:tcPr marL="73152" marR="73152" marT="27432" marB="27432">
                    <a:solidFill>
                      <a:srgbClr val="F6F9FC"/>
                    </a:solidFill>
                  </a:tcPr>
                </a:tc>
              </a:tr>
              <a:tr h="258064">
                <a:tc>
                  <a:txBody>
                    <a:bodyPr wrap="square"/>
                    <a:lstStyle/>
                    <a:p>
                      <a:r>
                        <a:rPr sz="850" b="0" i="0">
                          <a:solidFill>
                            <a:srgbClr val="16202C"/>
                          </a:solidFill>
                          <a:latin typeface="Segoe UI"/>
                          <a:ea typeface="맑은 고딕"/>
                          <a:cs typeface="맑은 고딕"/>
                        </a:rPr>
                        <a:t>Qwen3 8B</a:t>
                      </a:r>
                    </a:p>
                  </a:txBody>
                  <a:tcPr marL="73152" marR="73152" marT="27432" marB="27432">
                    <a:solidFill>
                      <a:srgbClr val="FFFFFF"/>
                    </a:solidFill>
                  </a:tcPr>
                </a:tc>
                <a:tc>
                  <a:txBody>
                    <a:bodyPr wrap="square"/>
                    <a:lstStyle/>
                    <a:p>
                      <a:r>
                        <a:rPr sz="850" b="0" i="0">
                          <a:solidFill>
                            <a:srgbClr val="16202C"/>
                          </a:solidFill>
                          <a:latin typeface="Segoe UI"/>
                          <a:ea typeface="맑은 고딕"/>
                          <a:cs typeface="맑은 고딕"/>
                        </a:rPr>
                        <a:t>8B</a:t>
                      </a:r>
                    </a:p>
                  </a:txBody>
                  <a:tcPr marL="73152" marR="73152" marT="27432" marB="27432">
                    <a:solidFill>
                      <a:srgbClr val="FFFFFF"/>
                    </a:solidFill>
                  </a:tcPr>
                </a:tc>
                <a:tc>
                  <a:txBody>
                    <a:bodyPr wrap="square"/>
                    <a:lstStyle/>
                    <a:p>
                      <a:r>
                        <a:rPr sz="850" b="0" i="0">
                          <a:solidFill>
                            <a:srgbClr val="16202C"/>
                          </a:solidFill>
                          <a:latin typeface="Segoe UI"/>
                          <a:ea typeface="맑은 고딕"/>
                          <a:cs typeface="맑은 고딕"/>
                        </a:rPr>
                        <a:t>dense</a:t>
                      </a:r>
                    </a:p>
                  </a:txBody>
                  <a:tcPr marL="73152" marR="73152" marT="27432" marB="27432">
                    <a:solidFill>
                      <a:srgbClr val="FFFFFF"/>
                    </a:solidFill>
                  </a:tcPr>
                </a:tc>
                <a:tc>
                  <a:txBody>
                    <a:bodyPr wrap="square"/>
                    <a:lstStyle/>
                    <a:p>
                      <a:r>
                        <a:rPr sz="850" b="0" i="0">
                          <a:solidFill>
                            <a:srgbClr val="16202C"/>
                          </a:solidFill>
                          <a:latin typeface="Segoe UI"/>
                          <a:ea typeface="맑은 고딕"/>
                          <a:cs typeface="맑은 고딕"/>
                        </a:rPr>
                        <a:t>FP8 블록</a:t>
                      </a:r>
                    </a:p>
                  </a:txBody>
                  <a:tcPr marL="73152" marR="73152" marT="27432" marB="27432">
                    <a:solidFill>
                      <a:srgbClr val="FFFFFF"/>
                    </a:solidFill>
                  </a:tcPr>
                </a:tc>
                <a:tc>
                  <a:txBody>
                    <a:bodyPr wrap="square"/>
                    <a:lstStyle/>
                    <a:p>
                      <a:r>
                        <a:rPr sz="850" b="0" i="0">
                          <a:solidFill>
                            <a:srgbClr val="16202C"/>
                          </a:solidFill>
                          <a:latin typeface="Segoe UI"/>
                          <a:ea typeface="맑은 고딕"/>
                          <a:cs typeface="맑은 고딕"/>
                        </a:rPr>
                        <a:t>40,960</a:t>
                      </a:r>
                    </a:p>
                  </a:txBody>
                  <a:tcPr marL="73152" marR="73152" marT="27432" marB="27432">
                    <a:solidFill>
                      <a:srgbClr val="FFFFFF"/>
                    </a:solidFill>
                  </a:tcPr>
                </a:tc>
                <a:tc>
                  <a:txBody>
                    <a:bodyPr wrap="square"/>
                    <a:lstStyle/>
                    <a:p>
                      <a:r>
                        <a:rPr sz="850" b="0" i="0">
                          <a:solidFill>
                            <a:srgbClr val="16202C"/>
                          </a:solidFill>
                          <a:latin typeface="Segoe UI"/>
                          <a:ea typeface="맑은 고딕"/>
                          <a:cs typeface="맑은 고딕"/>
                        </a:rPr>
                        <a:t>1</a:t>
                      </a:r>
                    </a:p>
                  </a:txBody>
                  <a:tcPr marL="73152" marR="73152" marT="27432" marB="27432">
                    <a:solidFill>
                      <a:srgbClr val="FFFFFF"/>
                    </a:solidFill>
                  </a:tcPr>
                </a:tc>
                <a:tc>
                  <a:txBody>
                    <a:bodyPr wrap="square"/>
                    <a:lstStyle/>
                    <a:p>
                      <a:r>
                        <a:rPr sz="850" b="0" i="0">
                          <a:solidFill>
                            <a:srgbClr val="16202C"/>
                          </a:solidFill>
                          <a:latin typeface="Segoe UI"/>
                          <a:ea typeface="맑은 고딕"/>
                          <a:cs typeface="맑은 고딕"/>
                        </a:rPr>
                        <a:t>대화</a:t>
                      </a:r>
                    </a:p>
                  </a:txBody>
                  <a:tcPr marL="73152" marR="73152" marT="27432" marB="27432">
                    <a:solidFill>
                      <a:srgbClr val="FFFFFF"/>
                    </a:solidFill>
                  </a:tcPr>
                </a:tc>
              </a:tr>
              <a:tr h="258064">
                <a:tc>
                  <a:txBody>
                    <a:bodyPr wrap="square"/>
                    <a:lstStyle/>
                    <a:p>
                      <a:r>
                        <a:rPr sz="850" b="0" i="0">
                          <a:solidFill>
                            <a:srgbClr val="16202C"/>
                          </a:solidFill>
                          <a:latin typeface="Segoe UI"/>
                          <a:ea typeface="맑은 고딕"/>
                          <a:cs typeface="맑은 고딕"/>
                        </a:rPr>
                        <a:t>Qwen3 4B</a:t>
                      </a:r>
                    </a:p>
                  </a:txBody>
                  <a:tcPr marL="73152" marR="73152" marT="27432" marB="27432">
                    <a:solidFill>
                      <a:srgbClr val="F6F9FC"/>
                    </a:solidFill>
                  </a:tcPr>
                </a:tc>
                <a:tc>
                  <a:txBody>
                    <a:bodyPr wrap="square"/>
                    <a:lstStyle/>
                    <a:p>
                      <a:r>
                        <a:rPr sz="850" b="0" i="0">
                          <a:solidFill>
                            <a:srgbClr val="16202C"/>
                          </a:solidFill>
                          <a:latin typeface="Segoe UI"/>
                          <a:ea typeface="맑은 고딕"/>
                          <a:cs typeface="맑은 고딕"/>
                        </a:rPr>
                        <a:t>4B</a:t>
                      </a:r>
                    </a:p>
                  </a:txBody>
                  <a:tcPr marL="73152" marR="73152" marT="27432" marB="27432">
                    <a:solidFill>
                      <a:srgbClr val="F6F9FC"/>
                    </a:solidFill>
                  </a:tcPr>
                </a:tc>
                <a:tc>
                  <a:txBody>
                    <a:bodyPr wrap="square"/>
                    <a:lstStyle/>
                    <a:p>
                      <a:r>
                        <a:rPr sz="850" b="0" i="0">
                          <a:solidFill>
                            <a:srgbClr val="16202C"/>
                          </a:solidFill>
                          <a:latin typeface="Segoe UI"/>
                          <a:ea typeface="맑은 고딕"/>
                          <a:cs typeface="맑은 고딕"/>
                        </a:rPr>
                        <a:t>dense</a:t>
                      </a:r>
                    </a:p>
                  </a:txBody>
                  <a:tcPr marL="73152" marR="73152" marT="27432" marB="27432">
                    <a:solidFill>
                      <a:srgbClr val="F6F9FC"/>
                    </a:solidFill>
                  </a:tcPr>
                </a:tc>
                <a:tc>
                  <a:txBody>
                    <a:bodyPr wrap="square"/>
                    <a:lstStyle/>
                    <a:p>
                      <a:r>
                        <a:rPr sz="850" b="0" i="0">
                          <a:solidFill>
                            <a:srgbClr val="16202C"/>
                          </a:solidFill>
                          <a:latin typeface="Segoe UI"/>
                          <a:ea typeface="맑은 고딕"/>
                          <a:cs typeface="맑은 고딕"/>
                        </a:rPr>
                        <a:t>FP8 블록</a:t>
                      </a:r>
                    </a:p>
                  </a:txBody>
                  <a:tcPr marL="73152" marR="73152" marT="27432" marB="27432">
                    <a:solidFill>
                      <a:srgbClr val="F6F9FC"/>
                    </a:solidFill>
                  </a:tcPr>
                </a:tc>
                <a:tc>
                  <a:txBody>
                    <a:bodyPr wrap="square"/>
                    <a:lstStyle/>
                    <a:p>
                      <a:r>
                        <a:rPr sz="850" b="0" i="0">
                          <a:solidFill>
                            <a:srgbClr val="16202C"/>
                          </a:solidFill>
                          <a:latin typeface="Segoe UI"/>
                          <a:ea typeface="맑은 고딕"/>
                          <a:cs typeface="맑은 고딕"/>
                        </a:rPr>
                        <a:t>40,960</a:t>
                      </a:r>
                    </a:p>
                  </a:txBody>
                  <a:tcPr marL="73152" marR="73152" marT="27432" marB="27432">
                    <a:solidFill>
                      <a:srgbClr val="F6F9FC"/>
                    </a:solidFill>
                  </a:tcPr>
                </a:tc>
                <a:tc>
                  <a:txBody>
                    <a:bodyPr wrap="square"/>
                    <a:lstStyle/>
                    <a:p>
                      <a:r>
                        <a:rPr sz="850" b="0" i="0">
                          <a:solidFill>
                            <a:srgbClr val="16202C"/>
                          </a:solidFill>
                          <a:latin typeface="Segoe UI"/>
                          <a:ea typeface="맑은 고딕"/>
                          <a:cs typeface="맑은 고딕"/>
                        </a:rPr>
                        <a:t>1</a:t>
                      </a:r>
                    </a:p>
                  </a:txBody>
                  <a:tcPr marL="73152" marR="73152" marT="27432" marB="27432">
                    <a:solidFill>
                      <a:srgbClr val="F6F9FC"/>
                    </a:solidFill>
                  </a:tcPr>
                </a:tc>
                <a:tc>
                  <a:txBody>
                    <a:bodyPr wrap="square"/>
                    <a:lstStyle/>
                    <a:p>
                      <a:r>
                        <a:rPr sz="850" b="0" i="0">
                          <a:solidFill>
                            <a:srgbClr val="16202C"/>
                          </a:solidFill>
                          <a:latin typeface="Segoe UI"/>
                          <a:ea typeface="맑은 고딕"/>
                          <a:cs typeface="맑은 고딕"/>
                        </a:rPr>
                        <a:t>대화</a:t>
                      </a:r>
                    </a:p>
                  </a:txBody>
                  <a:tcPr marL="73152" marR="73152" marT="27432" marB="27432">
                    <a:solidFill>
                      <a:srgbClr val="F6F9FC"/>
                    </a:solidFill>
                  </a:tcPr>
                </a:tc>
              </a:tr>
              <a:tr h="258064">
                <a:tc>
                  <a:txBody>
                    <a:bodyPr wrap="square"/>
                    <a:lstStyle/>
                    <a:p>
                      <a:r>
                        <a:rPr sz="850" b="0" i="0">
                          <a:solidFill>
                            <a:srgbClr val="16202C"/>
                          </a:solidFill>
                          <a:latin typeface="Segoe UI"/>
                          <a:ea typeface="맑은 고딕"/>
                          <a:cs typeface="맑은 고딕"/>
                        </a:rPr>
                        <a:t>Qwen2.5 0.5B</a:t>
                      </a:r>
                    </a:p>
                  </a:txBody>
                  <a:tcPr marL="73152" marR="73152" marT="27432" marB="27432">
                    <a:solidFill>
                      <a:srgbClr val="FFFFFF"/>
                    </a:solidFill>
                  </a:tcPr>
                </a:tc>
                <a:tc>
                  <a:txBody>
                    <a:bodyPr wrap="square"/>
                    <a:lstStyle/>
                    <a:p>
                      <a:r>
                        <a:rPr sz="850" b="0" i="0">
                          <a:solidFill>
                            <a:srgbClr val="16202C"/>
                          </a:solidFill>
                          <a:latin typeface="Segoe UI"/>
                          <a:ea typeface="맑은 고딕"/>
                          <a:cs typeface="맑은 고딕"/>
                        </a:rPr>
                        <a:t>0.5B</a:t>
                      </a:r>
                    </a:p>
                  </a:txBody>
                  <a:tcPr marL="73152" marR="73152" marT="27432" marB="27432">
                    <a:solidFill>
                      <a:srgbClr val="FFFFFF"/>
                    </a:solidFill>
                  </a:tcPr>
                </a:tc>
                <a:tc>
                  <a:txBody>
                    <a:bodyPr wrap="square"/>
                    <a:lstStyle/>
                    <a:p>
                      <a:r>
                        <a:rPr sz="850" b="0" i="0">
                          <a:solidFill>
                            <a:srgbClr val="16202C"/>
                          </a:solidFill>
                          <a:latin typeface="Segoe UI"/>
                          <a:ea typeface="맑은 고딕"/>
                          <a:cs typeface="맑은 고딕"/>
                        </a:rPr>
                        <a:t>dense</a:t>
                      </a:r>
                    </a:p>
                  </a:txBody>
                  <a:tcPr marL="73152" marR="73152" marT="27432" marB="27432">
                    <a:solidFill>
                      <a:srgbClr val="FFFFFF"/>
                    </a:solidFill>
                  </a:tcPr>
                </a:tc>
                <a:tc>
                  <a:txBody>
                    <a:bodyPr wrap="square"/>
                    <a:lstStyle/>
                    <a:p>
                      <a:r>
                        <a:rPr sz="850" b="0" i="0">
                          <a:solidFill>
                            <a:srgbClr val="16202C"/>
                          </a:solidFill>
                          <a:latin typeface="Segoe UI"/>
                          <a:ea typeface="맑은 고딕"/>
                          <a:cs typeface="맑은 고딕"/>
                        </a:rPr>
                        <a:t>bf16</a:t>
                      </a:r>
                    </a:p>
                  </a:txBody>
                  <a:tcPr marL="73152" marR="73152" marT="27432" marB="27432">
                    <a:solidFill>
                      <a:srgbClr val="FFFFFF"/>
                    </a:solidFill>
                  </a:tcPr>
                </a:tc>
                <a:tc>
                  <a:txBody>
                    <a:bodyPr wrap="square"/>
                    <a:lstStyle/>
                    <a:p>
                      <a:r>
                        <a:rPr sz="850" b="0" i="0">
                          <a:solidFill>
                            <a:srgbClr val="16202C"/>
                          </a:solidFill>
                          <a:latin typeface="Segoe UI"/>
                          <a:ea typeface="맑은 고딕"/>
                          <a:cs typeface="맑은 고딕"/>
                        </a:rPr>
                        <a:t>4,096</a:t>
                      </a:r>
                    </a:p>
                  </a:txBody>
                  <a:tcPr marL="73152" marR="73152" marT="27432" marB="27432">
                    <a:solidFill>
                      <a:srgbClr val="FFFFFF"/>
                    </a:solidFill>
                  </a:tcPr>
                </a:tc>
                <a:tc>
                  <a:txBody>
                    <a:bodyPr wrap="square"/>
                    <a:lstStyle/>
                    <a:p>
                      <a:r>
                        <a:rPr sz="850" b="0" i="0">
                          <a:solidFill>
                            <a:srgbClr val="16202C"/>
                          </a:solidFill>
                          <a:latin typeface="Segoe UI"/>
                          <a:ea typeface="맑은 고딕"/>
                          <a:cs typeface="맑은 고딕"/>
                        </a:rPr>
                        <a:t>1</a:t>
                      </a:r>
                    </a:p>
                  </a:txBody>
                  <a:tcPr marL="73152" marR="73152" marT="27432" marB="27432">
                    <a:solidFill>
                      <a:srgbClr val="FFFFFF"/>
                    </a:solidFill>
                  </a:tcPr>
                </a:tc>
                <a:tc>
                  <a:txBody>
                    <a:bodyPr wrap="square"/>
                    <a:lstStyle/>
                    <a:p>
                      <a:r>
                        <a:rPr sz="850" b="0" i="0">
                          <a:solidFill>
                            <a:srgbClr val="16202C"/>
                          </a:solidFill>
                          <a:latin typeface="Segoe UI"/>
                          <a:ea typeface="맑은 고딕"/>
                          <a:cs typeface="맑은 고딕"/>
                        </a:rPr>
                        <a:t>대화</a:t>
                      </a:r>
                    </a:p>
                  </a:txBody>
                  <a:tcPr marL="73152" marR="73152" marT="27432" marB="27432">
                    <a:solidFill>
                      <a:srgbClr val="FFFFFF"/>
                    </a:solidFill>
                  </a:tcPr>
                </a:tc>
              </a:tr>
              <a:tr h="258064">
                <a:tc>
                  <a:txBody>
                    <a:bodyPr wrap="square"/>
                    <a:lstStyle/>
                    <a:p>
                      <a:r>
                        <a:rPr sz="850" b="0" i="0">
                          <a:solidFill>
                            <a:srgbClr val="16202C"/>
                          </a:solidFill>
                          <a:latin typeface="Segoe UI"/>
                          <a:ea typeface="맑은 고딕"/>
                          <a:cs typeface="맑은 고딕"/>
                        </a:rPr>
                        <a:t>Qwen3-Embedding 8B</a:t>
                      </a:r>
                    </a:p>
                  </a:txBody>
                  <a:tcPr marL="73152" marR="73152" marT="27432" marB="27432">
                    <a:solidFill>
                      <a:srgbClr val="F6F9FC"/>
                    </a:solidFill>
                  </a:tcPr>
                </a:tc>
                <a:tc>
                  <a:txBody>
                    <a:bodyPr wrap="square"/>
                    <a:lstStyle/>
                    <a:p>
                      <a:r>
                        <a:rPr sz="850" b="0" i="0">
                          <a:solidFill>
                            <a:srgbClr val="16202C"/>
                          </a:solidFill>
                          <a:latin typeface="Segoe UI"/>
                          <a:ea typeface="맑은 고딕"/>
                          <a:cs typeface="맑은 고딕"/>
                        </a:rPr>
                        <a:t>8B</a:t>
                      </a:r>
                    </a:p>
                  </a:txBody>
                  <a:tcPr marL="73152" marR="73152" marT="27432" marB="27432">
                    <a:solidFill>
                      <a:srgbClr val="F6F9FC"/>
                    </a:solidFill>
                  </a:tcPr>
                </a:tc>
                <a:tc>
                  <a:txBody>
                    <a:bodyPr wrap="square"/>
                    <a:lstStyle/>
                    <a:p>
                      <a:r>
                        <a:rPr sz="850" b="0" i="0">
                          <a:solidFill>
                            <a:srgbClr val="16202C"/>
                          </a:solidFill>
                          <a:latin typeface="Segoe UI"/>
                          <a:ea typeface="맑은 고딕"/>
                          <a:cs typeface="맑은 고딕"/>
                        </a:rPr>
                        <a:t>dense</a:t>
                      </a:r>
                    </a:p>
                  </a:txBody>
                  <a:tcPr marL="73152" marR="73152" marT="27432" marB="27432">
                    <a:solidFill>
                      <a:srgbClr val="F6F9FC"/>
                    </a:solidFill>
                  </a:tcPr>
                </a:tc>
                <a:tc>
                  <a:txBody>
                    <a:bodyPr wrap="square"/>
                    <a:lstStyle/>
                    <a:p>
                      <a:r>
                        <a:rPr sz="850" b="0" i="0">
                          <a:solidFill>
                            <a:srgbClr val="16202C"/>
                          </a:solidFill>
                          <a:latin typeface="Segoe UI"/>
                          <a:ea typeface="맑은 고딕"/>
                          <a:cs typeface="맑은 고딕"/>
                        </a:rPr>
                        <a:t>bf16</a:t>
                      </a:r>
                    </a:p>
                  </a:txBody>
                  <a:tcPr marL="73152" marR="73152" marT="27432" marB="27432">
                    <a:solidFill>
                      <a:srgbClr val="F6F9FC"/>
                    </a:solidFill>
                  </a:tcPr>
                </a:tc>
                <a:tc>
                  <a:txBody>
                    <a:bodyPr wrap="square"/>
                    <a:lstStyle/>
                    <a:p>
                      <a:r>
                        <a:rPr sz="850" b="0" i="0">
                          <a:solidFill>
                            <a:srgbClr val="16202C"/>
                          </a:solidFill>
                          <a:latin typeface="Segoe UI"/>
                          <a:ea typeface="맑은 고딕"/>
                          <a:cs typeface="맑은 고딕"/>
                        </a:rPr>
                        <a:t>40,960</a:t>
                      </a:r>
                    </a:p>
                  </a:txBody>
                  <a:tcPr marL="73152" marR="73152" marT="27432" marB="27432">
                    <a:solidFill>
                      <a:srgbClr val="F6F9FC"/>
                    </a:solidFill>
                  </a:tcPr>
                </a:tc>
                <a:tc>
                  <a:txBody>
                    <a:bodyPr wrap="square"/>
                    <a:lstStyle/>
                    <a:p>
                      <a:r>
                        <a:rPr sz="850" b="0" i="0">
                          <a:solidFill>
                            <a:srgbClr val="16202C"/>
                          </a:solidFill>
                          <a:latin typeface="Segoe UI"/>
                          <a:ea typeface="맑은 고딕"/>
                          <a:cs typeface="맑은 고딕"/>
                        </a:rPr>
                        <a:t>1</a:t>
                      </a:r>
                    </a:p>
                  </a:txBody>
                  <a:tcPr marL="73152" marR="73152" marT="27432" marB="27432">
                    <a:solidFill>
                      <a:srgbClr val="F6F9FC"/>
                    </a:solidFill>
                  </a:tcPr>
                </a:tc>
                <a:tc>
                  <a:txBody>
                    <a:bodyPr wrap="square"/>
                    <a:lstStyle/>
                    <a:p>
                      <a:r>
                        <a:rPr sz="850" b="0" i="0">
                          <a:solidFill>
                            <a:srgbClr val="16202C"/>
                          </a:solidFill>
                          <a:latin typeface="Segoe UI"/>
                          <a:ea typeface="맑은 고딕"/>
                          <a:cs typeface="맑은 고딕"/>
                        </a:rPr>
                        <a:t>임베딩</a:t>
                      </a:r>
                    </a:p>
                  </a:txBody>
                  <a:tcPr marL="73152" marR="73152" marT="27432" marB="27432">
                    <a:solidFill>
                      <a:srgbClr val="F6F9FC"/>
                    </a:solidFill>
                  </a:tcPr>
                </a:tc>
              </a:tr>
              <a:tr h="258064">
                <a:tc>
                  <a:txBody>
                    <a:bodyPr wrap="square"/>
                    <a:lstStyle/>
                    <a:p>
                      <a:r>
                        <a:rPr sz="850" b="0" i="0">
                          <a:solidFill>
                            <a:srgbClr val="16202C"/>
                          </a:solidFill>
                          <a:latin typeface="Segoe UI"/>
                          <a:ea typeface="맑은 고딕"/>
                          <a:cs typeface="맑은 고딕"/>
                        </a:rPr>
                        <a:t>Qwen3-Reranker 8B</a:t>
                      </a:r>
                    </a:p>
                  </a:txBody>
                  <a:tcPr marL="73152" marR="73152" marT="27432" marB="27432">
                    <a:solidFill>
                      <a:srgbClr val="FFFFFF"/>
                    </a:solidFill>
                  </a:tcPr>
                </a:tc>
                <a:tc>
                  <a:txBody>
                    <a:bodyPr wrap="square"/>
                    <a:lstStyle/>
                    <a:p>
                      <a:r>
                        <a:rPr sz="850" b="0" i="0">
                          <a:solidFill>
                            <a:srgbClr val="16202C"/>
                          </a:solidFill>
                          <a:latin typeface="Segoe UI"/>
                          <a:ea typeface="맑은 고딕"/>
                          <a:cs typeface="맑은 고딕"/>
                        </a:rPr>
                        <a:t>8B</a:t>
                      </a:r>
                    </a:p>
                  </a:txBody>
                  <a:tcPr marL="73152" marR="73152" marT="27432" marB="27432">
                    <a:solidFill>
                      <a:srgbClr val="FFFFFF"/>
                    </a:solidFill>
                  </a:tcPr>
                </a:tc>
                <a:tc>
                  <a:txBody>
                    <a:bodyPr wrap="square"/>
                    <a:lstStyle/>
                    <a:p>
                      <a:r>
                        <a:rPr sz="850" b="0" i="0">
                          <a:solidFill>
                            <a:srgbClr val="16202C"/>
                          </a:solidFill>
                          <a:latin typeface="Segoe UI"/>
                          <a:ea typeface="맑은 고딕"/>
                          <a:cs typeface="맑은 고딕"/>
                        </a:rPr>
                        <a:t>dense</a:t>
                      </a:r>
                    </a:p>
                  </a:txBody>
                  <a:tcPr marL="73152" marR="73152" marT="27432" marB="27432">
                    <a:solidFill>
                      <a:srgbClr val="FFFFFF"/>
                    </a:solidFill>
                  </a:tcPr>
                </a:tc>
                <a:tc>
                  <a:txBody>
                    <a:bodyPr wrap="square"/>
                    <a:lstStyle/>
                    <a:p>
                      <a:r>
                        <a:rPr sz="850" b="0" i="0">
                          <a:solidFill>
                            <a:srgbClr val="16202C"/>
                          </a:solidFill>
                          <a:latin typeface="Segoe UI"/>
                          <a:ea typeface="맑은 고딕"/>
                          <a:cs typeface="맑은 고딕"/>
                        </a:rPr>
                        <a:t>bf16</a:t>
                      </a:r>
                    </a:p>
                  </a:txBody>
                  <a:tcPr marL="73152" marR="73152" marT="27432" marB="27432">
                    <a:solidFill>
                      <a:srgbClr val="FFFFFF"/>
                    </a:solidFill>
                  </a:tcPr>
                </a:tc>
                <a:tc>
                  <a:txBody>
                    <a:bodyPr wrap="square"/>
                    <a:lstStyle/>
                    <a:p>
                      <a:r>
                        <a:rPr sz="850" b="0" i="0">
                          <a:solidFill>
                            <a:srgbClr val="16202C"/>
                          </a:solidFill>
                          <a:latin typeface="Segoe UI"/>
                          <a:ea typeface="맑은 고딕"/>
                          <a:cs typeface="맑은 고딕"/>
                        </a:rPr>
                        <a:t>40,960</a:t>
                      </a:r>
                    </a:p>
                  </a:txBody>
                  <a:tcPr marL="73152" marR="73152" marT="27432" marB="27432">
                    <a:solidFill>
                      <a:srgbClr val="FFFFFF"/>
                    </a:solidFill>
                  </a:tcPr>
                </a:tc>
                <a:tc>
                  <a:txBody>
                    <a:bodyPr wrap="square"/>
                    <a:lstStyle/>
                    <a:p>
                      <a:r>
                        <a:rPr sz="850" b="0" i="0">
                          <a:solidFill>
                            <a:srgbClr val="16202C"/>
                          </a:solidFill>
                          <a:latin typeface="Segoe UI"/>
                          <a:ea typeface="맑은 고딕"/>
                          <a:cs typeface="맑은 고딕"/>
                        </a:rPr>
                        <a:t>1</a:t>
                      </a:r>
                    </a:p>
                  </a:txBody>
                  <a:tcPr marL="73152" marR="73152" marT="27432" marB="27432">
                    <a:solidFill>
                      <a:srgbClr val="FFFFFF"/>
                    </a:solidFill>
                  </a:tcPr>
                </a:tc>
                <a:tc>
                  <a:txBody>
                    <a:bodyPr wrap="square"/>
                    <a:lstStyle/>
                    <a:p>
                      <a:r>
                        <a:rPr sz="850" b="0" i="0">
                          <a:solidFill>
                            <a:srgbClr val="16202C"/>
                          </a:solidFill>
                          <a:latin typeface="Segoe UI"/>
                          <a:ea typeface="맑은 고딕"/>
                          <a:cs typeface="맑은 고딕"/>
                        </a:rPr>
                        <a:t>리랭크</a:t>
                      </a:r>
                    </a:p>
                  </a:txBody>
                  <a:tcPr marL="73152" marR="73152" marT="27432" marB="27432">
                    <a:solidFill>
                      <a:srgbClr val="FFFFFF"/>
                    </a:solidFill>
                  </a:tcPr>
                </a:tc>
              </a:tr>
            </a:tbl>
          </a:graphicData>
        </a:graphic>
      </p:graphicFrame>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46304" cy="6858000"/>
          </a:xfrm>
          <a:prstGeom prst="rect">
            <a:avLst/>
          </a:prstGeom>
          <a:solidFill>
            <a:srgbClr val="0B5FC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3" name="TextBox 2"/>
          <p:cNvSpPr txBox="1"/>
          <p:nvPr/>
        </p:nvSpPr>
        <p:spPr>
          <a:xfrm>
            <a:off x="566928" y="384048"/>
            <a:ext cx="11057839" cy="713232"/>
          </a:xfrm>
          <a:prstGeom prst="rect">
            <a:avLst/>
          </a:prstGeom>
          <a:noFill/>
        </p:spPr>
        <p:txBody>
          <a:bodyPr wrap="square" anchor="t" lIns="0" rIns="0" tIns="0" bIns="0">
            <a:spAutoFit/>
          </a:bodyPr>
          <a:lstStyle/>
          <a:p>
            <a:pPr algn="l">
              <a:lnSpc>
                <a:spcPct val="118000"/>
              </a:lnSpc>
              <a:spcBef>
                <a:spcPts val="0"/>
              </a:spcBef>
              <a:spcAft>
                <a:spcPts val="0"/>
              </a:spcAft>
            </a:pPr>
            <a:r>
              <a:rPr sz="3000" b="1" i="0">
                <a:solidFill>
                  <a:srgbClr val="16202C"/>
                </a:solidFill>
                <a:latin typeface="Segoe UI"/>
                <a:ea typeface="맑은 고딕"/>
                <a:cs typeface="맑은 고딕"/>
              </a:rPr>
              <a:t>측정 방법</a:t>
            </a:r>
          </a:p>
        </p:txBody>
      </p:sp>
      <p:cxnSp>
        <p:nvCxnSpPr>
          <p:cNvPr id="4" name="Connector 3"/>
          <p:cNvCxnSpPr/>
          <p:nvPr/>
        </p:nvCxnSpPr>
        <p:spPr>
          <a:xfrm>
            <a:off x="566928" y="1097280"/>
            <a:ext cx="11057839" cy="0"/>
          </a:xfrm>
          <a:prstGeom prst="line">
            <a:avLst/>
          </a:prstGeom>
          <a:ln w="15875">
            <a:solidFill>
              <a:srgbClr val="D6DEE7"/>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566928" y="6455664"/>
            <a:ext cx="9686239" cy="219456"/>
          </a:xfrm>
          <a:prstGeom prst="rect">
            <a:avLst/>
          </a:prstGeom>
          <a:noFill/>
        </p:spPr>
        <p:txBody>
          <a:bodyPr wrap="square" anchor="t" lIns="0" rIns="0" tIns="0" bIns="0">
            <a:spAutoFit/>
          </a:bodyPr>
          <a:lstStyle/>
          <a:p>
            <a:pPr algn="l">
              <a:lnSpc>
                <a:spcPct val="118000"/>
              </a:lnSpc>
              <a:spcBef>
                <a:spcPts val="0"/>
              </a:spcBef>
              <a:spcAft>
                <a:spcPts val="0"/>
              </a:spcAft>
            </a:pPr>
            <a:r>
              <a:rPr sz="950" b="0" i="0">
                <a:solidFill>
                  <a:srgbClr val="5B6B7B"/>
                </a:solidFill>
                <a:latin typeface="Segoe UI"/>
                <a:ea typeface="맑은 고딕"/>
                <a:cs typeface="맑은 고딕"/>
              </a:rPr>
              <a:t>RNGD 4장 서버, 2026-08-29 실측</a:t>
            </a:r>
          </a:p>
        </p:txBody>
      </p:sp>
      <p:sp>
        <p:nvSpPr>
          <p:cNvPr id="6" name="TextBox 5"/>
          <p:cNvSpPr txBox="1"/>
          <p:nvPr/>
        </p:nvSpPr>
        <p:spPr>
          <a:xfrm>
            <a:off x="10527487" y="6455664"/>
            <a:ext cx="1097280" cy="219456"/>
          </a:xfrm>
          <a:prstGeom prst="rect">
            <a:avLst/>
          </a:prstGeom>
          <a:noFill/>
        </p:spPr>
        <p:txBody>
          <a:bodyPr wrap="square" anchor="t" lIns="0" rIns="0" tIns="0" bIns="0">
            <a:spAutoFit/>
          </a:bodyPr>
          <a:lstStyle/>
          <a:p>
            <a:pPr algn="r">
              <a:lnSpc>
                <a:spcPct val="118000"/>
              </a:lnSpc>
              <a:spcBef>
                <a:spcPts val="0"/>
              </a:spcBef>
              <a:spcAft>
                <a:spcPts val="0"/>
              </a:spcAft>
            </a:pPr>
            <a:r>
              <a:rPr sz="950" b="0" i="0">
                <a:solidFill>
                  <a:srgbClr val="5B6B7B"/>
                </a:solidFill>
                <a:latin typeface="Segoe UI"/>
                <a:ea typeface="맑은 고딕"/>
                <a:cs typeface="맑은 고딕"/>
              </a:rPr>
              <a:t>3</a:t>
            </a:r>
          </a:p>
        </p:txBody>
      </p:sp>
      <p:sp>
        <p:nvSpPr>
          <p:cNvPr id="7" name="TextBox 6"/>
          <p:cNvSpPr txBox="1"/>
          <p:nvPr/>
        </p:nvSpPr>
        <p:spPr>
          <a:xfrm>
            <a:off x="566928" y="1316736"/>
            <a:ext cx="11057839" cy="237744"/>
          </a:xfrm>
          <a:prstGeom prst="rect">
            <a:avLst/>
          </a:prstGeom>
          <a:noFill/>
        </p:spPr>
        <p:txBody>
          <a:bodyPr wrap="square" anchor="t" lIns="0" rIns="0" tIns="0" bIns="0">
            <a:spAutoFit/>
          </a:bodyPr>
          <a:lstStyle/>
          <a:p>
            <a:pPr algn="l">
              <a:lnSpc>
                <a:spcPct val="118000"/>
              </a:lnSpc>
              <a:spcBef>
                <a:spcPts val="0"/>
              </a:spcBef>
              <a:spcAft>
                <a:spcPts val="0"/>
              </a:spcAft>
            </a:pPr>
            <a:r>
              <a:rPr sz="1250" b="1" i="0">
                <a:solidFill>
                  <a:srgbClr val="5B6B7B"/>
                </a:solidFill>
                <a:latin typeface="Segoe UI"/>
                <a:ea typeface="맑은 고딕"/>
                <a:cs typeface="맑은 고딕"/>
              </a:rPr>
              <a:t>코드 1: bench.py, 모든 모델에 같은 조건을 강제하는 부분과 시간을 재는 부분</a:t>
            </a:r>
          </a:p>
        </p:txBody>
      </p:sp>
      <p:sp>
        <p:nvSpPr>
          <p:cNvPr id="8" name="Rectangle 7"/>
          <p:cNvSpPr/>
          <p:nvPr/>
        </p:nvSpPr>
        <p:spPr>
          <a:xfrm>
            <a:off x="566928" y="1609344"/>
            <a:ext cx="11057839" cy="4663440"/>
          </a:xfrm>
          <a:prstGeom prst="rect">
            <a:avLst/>
          </a:prstGeom>
          <a:solidFill>
            <a:srgbClr val="0F1B2A"/>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201168" rIns="73152" tIns="128016" bIns="36576"/>
          <a:lstStyle/>
          <a:p>
            <a:pPr algn="l">
              <a:lnSpc>
                <a:spcPct val="124000"/>
              </a:lnSpc>
              <a:spcAft>
                <a:spcPts val="0"/>
              </a:spcAft>
            </a:pPr>
            <a:r>
              <a:rPr sz="1400" b="0" i="0">
                <a:solidFill>
                  <a:srgbClr val="7D91A8"/>
                </a:solidFill>
                <a:latin typeface="Consolas"/>
                <a:ea typeface="Consolas"/>
                <a:cs typeface="Consolas"/>
              </a:rPr>
              <a:t># bench.py — 모델마다 (1) 준비될 때까지 기다리고 (2) 프롬프트 4종을 스트리밍으로 재고</a:t>
            </a:r>
          </a:p>
          <a:p>
            <a:pPr algn="l">
              <a:lnSpc>
                <a:spcPct val="124000"/>
              </a:lnSpc>
              <a:spcAft>
                <a:spcPts val="0"/>
              </a:spcAft>
            </a:pPr>
            <a:r>
              <a:rPr sz="1400" b="0" i="0">
                <a:solidFill>
                  <a:srgbClr val="7D91A8"/>
                </a:solidFill>
                <a:latin typeface="Consolas"/>
                <a:ea typeface="Consolas"/>
                <a:cs typeface="Consolas"/>
              </a:rPr>
              <a:t>#            (3) 같은 프롬프트 4개를 동시에 던져 총처리량을 잰다</a:t>
            </a:r>
          </a:p>
          <a:p>
            <a:pPr algn="l">
              <a:lnSpc>
                <a:spcPct val="124000"/>
              </a:lnSpc>
              <a:spcAft>
                <a:spcPts val="0"/>
              </a:spcAft>
            </a:pPr>
            <a:r>
              <a:rPr sz="1400" b="0" i="0">
                <a:solidFill>
                  <a:srgbClr val="E6EDF3"/>
                </a:solidFill>
                <a:latin typeface="Consolas"/>
                <a:ea typeface="Consolas"/>
                <a:cs typeface="Consolas"/>
              </a:rPr>
              <a:t>PROMPTS = [사실 질문, 코드 작성, 계산 추론, 개념 설명]   # 네 종류 고정, 모든 모델에 같은 문장</a:t>
            </a:r>
          </a:p>
          <a:p>
            <a:pPr algn="l">
              <a:lnSpc>
                <a:spcPct val="124000"/>
              </a:lnSpc>
              <a:spcAft>
                <a:spcPts val="0"/>
              </a:spcAft>
            </a:pPr>
            <a:r>
              <a:rPr sz="1400" b="0" i="0">
                <a:solidFill>
                  <a:srgbClr val="E6EDF3"/>
                </a:solidFill>
                <a:latin typeface="Consolas"/>
                <a:ea typeface="Consolas"/>
                <a:cs typeface="Consolas"/>
              </a:rPr>
              <a:t>MAX_TOKENS = 1024                                     # 256 이면 사고하는 모델이 답까지 못 간다</a:t>
            </a:r>
          </a:p>
          <a:p>
            <a:pPr algn="l">
              <a:lnSpc>
                <a:spcPct val="124000"/>
              </a:lnSpc>
              <a:spcAft>
                <a:spcPts val="0"/>
              </a:spcAft>
            </a:pPr>
            <a:r>
              <a:rPr sz="1400" b="0" i="0">
                <a:solidFill>
                  <a:srgbClr val="E6EDF3"/>
                </a:solidFill>
                <a:latin typeface="Consolas"/>
                <a:ea typeface="Consolas"/>
                <a:cs typeface="Consolas"/>
              </a:rPr>
              <a:t> </a:t>
            </a:r>
          </a:p>
          <a:p>
            <a:pPr algn="l">
              <a:lnSpc>
                <a:spcPct val="124000"/>
              </a:lnSpc>
              <a:spcAft>
                <a:spcPts val="0"/>
              </a:spcAft>
            </a:pPr>
            <a:r>
              <a:rPr sz="1400" b="0" i="0">
                <a:solidFill>
                  <a:srgbClr val="E6EDF3"/>
                </a:solidFill>
                <a:latin typeface="Consolas"/>
                <a:ea typeface="Consolas"/>
                <a:cs typeface="Consolas"/>
              </a:rPr>
              <a:t>body = {'model': model, 'messages': [...],</a:t>
            </a:r>
          </a:p>
          <a:p>
            <a:pPr algn="l">
              <a:lnSpc>
                <a:spcPct val="124000"/>
              </a:lnSpc>
              <a:spcAft>
                <a:spcPts val="0"/>
              </a:spcAft>
            </a:pPr>
            <a:r>
              <a:rPr sz="1400" b="0" i="0">
                <a:solidFill>
                  <a:srgbClr val="E6EDF3"/>
                </a:solidFill>
                <a:latin typeface="Consolas"/>
                <a:ea typeface="Consolas"/>
                <a:cs typeface="Consolas"/>
              </a:rPr>
              <a:t>        'temperature': 0,                             # greedy, 무작위성 제거</a:t>
            </a:r>
          </a:p>
          <a:p>
            <a:pPr algn="l">
              <a:lnSpc>
                <a:spcPct val="124000"/>
              </a:lnSpc>
              <a:spcAft>
                <a:spcPts val="0"/>
              </a:spcAft>
            </a:pPr>
            <a:r>
              <a:rPr sz="1400" b="0" i="0">
                <a:solidFill>
                  <a:srgbClr val="E6EDF3"/>
                </a:solidFill>
                <a:latin typeface="Consolas"/>
                <a:ea typeface="Consolas"/>
                <a:cs typeface="Consolas"/>
              </a:rPr>
              <a:t>        'max_tokens': MAX_TOKENS, 'stream': True,</a:t>
            </a:r>
          </a:p>
          <a:p>
            <a:pPr algn="l">
              <a:lnSpc>
                <a:spcPct val="124000"/>
              </a:lnSpc>
              <a:spcAft>
                <a:spcPts val="0"/>
              </a:spcAft>
            </a:pPr>
            <a:r>
              <a:rPr sz="1400" b="0" i="0">
                <a:solidFill>
                  <a:srgbClr val="E6EDF3"/>
                </a:solidFill>
                <a:latin typeface="Consolas"/>
                <a:ea typeface="Consolas"/>
                <a:cs typeface="Consolas"/>
              </a:rPr>
              <a:t>        'stream_options': {'include_usage': True}}     # 토큰 수는 서버가 세 준 값을 쓴다</a:t>
            </a:r>
          </a:p>
          <a:p>
            <a:pPr algn="l">
              <a:lnSpc>
                <a:spcPct val="124000"/>
              </a:lnSpc>
              <a:spcAft>
                <a:spcPts val="0"/>
              </a:spcAft>
            </a:pPr>
            <a:r>
              <a:rPr sz="1400" b="0" i="0">
                <a:solidFill>
                  <a:srgbClr val="E6EDF3"/>
                </a:solidFill>
                <a:latin typeface="Consolas"/>
                <a:ea typeface="Consolas"/>
                <a:cs typeface="Consolas"/>
              </a:rPr>
              <a:t> </a:t>
            </a:r>
          </a:p>
          <a:p>
            <a:pPr algn="l">
              <a:lnSpc>
                <a:spcPct val="124000"/>
              </a:lnSpc>
              <a:spcAft>
                <a:spcPts val="0"/>
              </a:spcAft>
            </a:pPr>
            <a:r>
              <a:rPr sz="1400" b="0" i="0">
                <a:solidFill>
                  <a:srgbClr val="E6EDF3"/>
                </a:solidFill>
                <a:latin typeface="Consolas"/>
                <a:ea typeface="Consolas"/>
                <a:cs typeface="Consolas"/>
              </a:rPr>
              <a:t>t0 = time.perf_counter()</a:t>
            </a:r>
          </a:p>
          <a:p>
            <a:pPr algn="l">
              <a:lnSpc>
                <a:spcPct val="124000"/>
              </a:lnSpc>
              <a:spcAft>
                <a:spcPts val="0"/>
              </a:spcAft>
            </a:pPr>
            <a:r>
              <a:rPr sz="1400" b="0" i="0">
                <a:solidFill>
                  <a:srgbClr val="E6EDF3"/>
                </a:solidFill>
                <a:latin typeface="Consolas"/>
                <a:ea typeface="Consolas"/>
                <a:cs typeface="Consolas"/>
              </a:rPr>
              <a:t>for 이벤트 in 스트림:</a:t>
            </a:r>
          </a:p>
          <a:p>
            <a:pPr algn="l">
              <a:lnSpc>
                <a:spcPct val="124000"/>
              </a:lnSpc>
              <a:spcAft>
                <a:spcPts val="0"/>
              </a:spcAft>
            </a:pPr>
            <a:r>
              <a:rPr sz="1400" b="0" i="0">
                <a:solidFill>
                  <a:srgbClr val="E6EDF3"/>
                </a:solidFill>
                <a:latin typeface="Consolas"/>
                <a:ea typeface="Consolas"/>
                <a:cs typeface="Consolas"/>
              </a:rPr>
              <a:t>    본문 = delta.content;  사고 = delta.reasoning      # 사고하는 모델은 reasoning 으로 온다</a:t>
            </a:r>
          </a:p>
          <a:p>
            <a:pPr algn="l">
              <a:lnSpc>
                <a:spcPct val="124000"/>
              </a:lnSpc>
              <a:spcAft>
                <a:spcPts val="0"/>
              </a:spcAft>
            </a:pPr>
            <a:r>
              <a:rPr sz="1400" b="0" i="0">
                <a:solidFill>
                  <a:srgbClr val="E6EDF3"/>
                </a:solidFill>
                <a:latin typeface="Consolas"/>
                <a:ea typeface="Consolas"/>
                <a:cs typeface="Consolas"/>
              </a:rPr>
              <a:t>    if (본문 or 사고) and ttft is None:</a:t>
            </a:r>
          </a:p>
          <a:p>
            <a:pPr algn="l">
              <a:lnSpc>
                <a:spcPct val="124000"/>
              </a:lnSpc>
              <a:spcAft>
                <a:spcPts val="0"/>
              </a:spcAft>
            </a:pPr>
            <a:r>
              <a:rPr sz="1400" b="0" i="0">
                <a:solidFill>
                  <a:srgbClr val="E6EDF3"/>
                </a:solidFill>
                <a:latin typeface="Consolas"/>
                <a:ea typeface="Consolas"/>
                <a:cs typeface="Consolas"/>
              </a:rPr>
              <a:t>        ttft = time.perf_counter() - t0               # 첫 토큰까지 = TTFT</a:t>
            </a:r>
          </a:p>
          <a:p>
            <a:pPr algn="l">
              <a:lnSpc>
                <a:spcPct val="124000"/>
              </a:lnSpc>
              <a:spcAft>
                <a:spcPts val="0"/>
              </a:spcAft>
            </a:pPr>
            <a:r>
              <a:rPr sz="1400" b="0" i="0">
                <a:solidFill>
                  <a:srgbClr val="E6EDF3"/>
                </a:solidFill>
                <a:latin typeface="Consolas"/>
                <a:ea typeface="Consolas"/>
                <a:cs typeface="Consolas"/>
              </a:rPr>
              <a:t>total = time.perf_counter() - t0                      # 답이 끝날 때까지</a:t>
            </a:r>
          </a:p>
          <a:p>
            <a:pPr algn="l">
              <a:lnSpc>
                <a:spcPct val="124000"/>
              </a:lnSpc>
              <a:spcAft>
                <a:spcPts val="0"/>
              </a:spcAft>
            </a:pPr>
            <a:r>
              <a:rPr sz="1400" b="0" i="0">
                <a:solidFill>
                  <a:srgbClr val="E6EDF3"/>
                </a:solidFill>
                <a:latin typeface="Consolas"/>
                <a:ea typeface="Consolas"/>
                <a:cs typeface="Consolas"/>
              </a:rPr>
              <a:t>decode_tps = (출력토큰 - 1) / (total - ttft)           # 첫 토큰 뒤의 순수 생성 속도</a:t>
            </a:r>
          </a:p>
          <a:p>
            <a:pPr algn="l">
              <a:lnSpc>
                <a:spcPct val="124000"/>
              </a:lnSpc>
              <a:spcAft>
                <a:spcPts val="0"/>
              </a:spcAft>
            </a:pPr>
            <a:r>
              <a:rPr sz="1400" b="0" i="0">
                <a:solidFill>
                  <a:srgbClr val="E6EDF3"/>
                </a:solidFill>
                <a:latin typeface="Consolas"/>
                <a:ea typeface="Consolas"/>
                <a:cs typeface="Consolas"/>
              </a:rPr>
              <a:t> </a:t>
            </a:r>
          </a:p>
          <a:p>
            <a:pPr algn="l">
              <a:lnSpc>
                <a:spcPct val="124000"/>
              </a:lnSpc>
              <a:spcAft>
                <a:spcPts val="0"/>
              </a:spcAft>
            </a:pPr>
            <a:r>
              <a:rPr sz="1400" b="0" i="0">
                <a:solidFill>
                  <a:srgbClr val="7D91A8"/>
                </a:solidFill>
                <a:latin typeface="Consolas"/>
                <a:ea typeface="Consolas"/>
                <a:cs typeface="Consolas"/>
              </a:rPr>
              <a:t># 동시 요청: 같은 프롬프트 4개를 스레드로 동시에 → 합계 토큰 ÷ 전부 끝난 시간</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46304" cy="6858000"/>
          </a:xfrm>
          <a:prstGeom prst="rect">
            <a:avLst/>
          </a:prstGeom>
          <a:solidFill>
            <a:srgbClr val="0B5FC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3" name="TextBox 2"/>
          <p:cNvSpPr txBox="1"/>
          <p:nvPr/>
        </p:nvSpPr>
        <p:spPr>
          <a:xfrm>
            <a:off x="566928" y="310896"/>
            <a:ext cx="11057839" cy="475488"/>
          </a:xfrm>
          <a:prstGeom prst="rect">
            <a:avLst/>
          </a:prstGeom>
          <a:noFill/>
        </p:spPr>
        <p:txBody>
          <a:bodyPr wrap="square" anchor="t" lIns="0" rIns="0" tIns="0" bIns="0">
            <a:spAutoFit/>
          </a:bodyPr>
          <a:lstStyle/>
          <a:p>
            <a:pPr algn="l">
              <a:lnSpc>
                <a:spcPct val="118000"/>
              </a:lnSpc>
              <a:spcBef>
                <a:spcPts val="0"/>
              </a:spcBef>
              <a:spcAft>
                <a:spcPts val="0"/>
              </a:spcAft>
            </a:pPr>
            <a:r>
              <a:rPr sz="2400" b="1" i="0">
                <a:solidFill>
                  <a:srgbClr val="16202C"/>
                </a:solidFill>
                <a:latin typeface="Segoe UI"/>
                <a:ea typeface="맑은 고딕"/>
                <a:cs typeface="맑은 고딕"/>
              </a:rPr>
              <a:t>시간 측정 구간</a:t>
            </a:r>
          </a:p>
        </p:txBody>
      </p:sp>
      <p:cxnSp>
        <p:nvCxnSpPr>
          <p:cNvPr id="4" name="Connector 3"/>
          <p:cNvCxnSpPr/>
          <p:nvPr/>
        </p:nvCxnSpPr>
        <p:spPr>
          <a:xfrm>
            <a:off x="566928" y="822960"/>
            <a:ext cx="11057839" cy="0"/>
          </a:xfrm>
          <a:prstGeom prst="line">
            <a:avLst/>
          </a:prstGeom>
          <a:ln w="15875">
            <a:solidFill>
              <a:srgbClr val="D6DEE7"/>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566928" y="6455664"/>
            <a:ext cx="9686239" cy="219456"/>
          </a:xfrm>
          <a:prstGeom prst="rect">
            <a:avLst/>
          </a:prstGeom>
          <a:noFill/>
        </p:spPr>
        <p:txBody>
          <a:bodyPr wrap="square" anchor="t" lIns="0" rIns="0" tIns="0" bIns="0">
            <a:spAutoFit/>
          </a:bodyPr>
          <a:lstStyle/>
          <a:p>
            <a:pPr algn="l">
              <a:lnSpc>
                <a:spcPct val="118000"/>
              </a:lnSpc>
              <a:spcBef>
                <a:spcPts val="0"/>
              </a:spcBef>
              <a:spcAft>
                <a:spcPts val="0"/>
              </a:spcAft>
            </a:pPr>
            <a:r>
              <a:rPr sz="950" b="0" i="0">
                <a:solidFill>
                  <a:srgbClr val="5B6B7B"/>
                </a:solidFill>
                <a:latin typeface="Segoe UI"/>
                <a:ea typeface="맑은 고딕"/>
                <a:cs typeface="맑은 고딕"/>
              </a:rPr>
              <a:t>RNGD 4장 서버, 2026-08-29 실측</a:t>
            </a:r>
          </a:p>
        </p:txBody>
      </p:sp>
      <p:sp>
        <p:nvSpPr>
          <p:cNvPr id="6" name="TextBox 5"/>
          <p:cNvSpPr txBox="1"/>
          <p:nvPr/>
        </p:nvSpPr>
        <p:spPr>
          <a:xfrm>
            <a:off x="10527487" y="6455664"/>
            <a:ext cx="1097280" cy="219456"/>
          </a:xfrm>
          <a:prstGeom prst="rect">
            <a:avLst/>
          </a:prstGeom>
          <a:noFill/>
        </p:spPr>
        <p:txBody>
          <a:bodyPr wrap="square" anchor="t" lIns="0" rIns="0" tIns="0" bIns="0">
            <a:spAutoFit/>
          </a:bodyPr>
          <a:lstStyle/>
          <a:p>
            <a:pPr algn="r">
              <a:lnSpc>
                <a:spcPct val="118000"/>
              </a:lnSpc>
              <a:spcBef>
                <a:spcPts val="0"/>
              </a:spcBef>
              <a:spcAft>
                <a:spcPts val="0"/>
              </a:spcAft>
            </a:pPr>
            <a:r>
              <a:rPr sz="950" b="0" i="0">
                <a:solidFill>
                  <a:srgbClr val="5B6B7B"/>
                </a:solidFill>
                <a:latin typeface="Segoe UI"/>
                <a:ea typeface="맑은 고딕"/>
                <a:cs typeface="맑은 고딕"/>
              </a:rPr>
              <a:t>4</a:t>
            </a:r>
          </a:p>
        </p:txBody>
      </p:sp>
      <p:sp>
        <p:nvSpPr>
          <p:cNvPr id="7" name="TextBox 6"/>
          <p:cNvSpPr txBox="1"/>
          <p:nvPr/>
        </p:nvSpPr>
        <p:spPr>
          <a:xfrm>
            <a:off x="566928" y="1115568"/>
            <a:ext cx="11057839" cy="274320"/>
          </a:xfrm>
          <a:prstGeom prst="rect">
            <a:avLst/>
          </a:prstGeom>
          <a:noFill/>
        </p:spPr>
        <p:txBody>
          <a:bodyPr wrap="square" anchor="t" lIns="0" rIns="0" tIns="0" bIns="0">
            <a:spAutoFit/>
          </a:bodyPr>
          <a:lstStyle/>
          <a:p>
            <a:pPr algn="l">
              <a:lnSpc>
                <a:spcPct val="118000"/>
              </a:lnSpc>
              <a:spcBef>
                <a:spcPts val="0"/>
              </a:spcBef>
              <a:spcAft>
                <a:spcPts val="0"/>
              </a:spcAft>
            </a:pPr>
            <a:r>
              <a:rPr sz="1400" b="1" i="0">
                <a:solidFill>
                  <a:srgbClr val="16202C"/>
                </a:solidFill>
                <a:latin typeface="Segoe UI"/>
                <a:ea typeface="맑은 고딕"/>
                <a:cs typeface="맑은 고딕"/>
              </a:rPr>
              <a:t>그림 2: 한 요청의 시간 축에서 TTFT 와 디코드 구간이 각각 어디인지</a:t>
            </a:r>
          </a:p>
        </p:txBody>
      </p:sp>
      <p:grpSp>
        <p:nvGrpSpPr>
          <p:cNvPr id="8" name="도해 method"/>
          <p:cNvGrpSpPr/>
          <p:nvPr/>
        </p:nvGrpSpPr>
        <p:grpSpPr>
          <a:xfrm>
            <a:off x="566928" y="1554480"/>
            <a:ext cx="11057839" cy="2944857"/>
            <a:chOff x="566928" y="1554480"/>
            <a:chExt cx="11057839" cy="2944857"/>
          </a:xfrm>
        </p:grpSpPr>
        <p:sp>
          <p:nvSpPr>
            <p:cNvPr id="9" name="TextBox 8"/>
            <p:cNvSpPr txBox="1"/>
            <p:nvPr/>
          </p:nvSpPr>
          <p:spPr>
            <a:xfrm>
              <a:off x="566928" y="1554480"/>
              <a:ext cx="1390677" cy="222385"/>
            </a:xfrm>
            <a:prstGeom prst="rect">
              <a:avLst/>
            </a:prstGeom>
            <a:noFill/>
          </p:spPr>
          <p:txBody>
            <a:bodyPr wrap="none" anchor="ctr" lIns="0" rIns="0" tIns="0" bIns="0">
              <a:noAutofit/>
            </a:bodyPr>
            <a:lstStyle/>
            <a:p>
              <a:pPr algn="l"/>
              <a:r>
                <a:rPr sz="1210" b="1">
                  <a:solidFill>
                    <a:srgbClr val="16202C"/>
                  </a:solidFill>
                  <a:latin typeface="맑은 고딕"/>
                  <a:ea typeface="맑은 고딕"/>
                  <a:cs typeface="맑은 고딕"/>
                </a:rPr>
                <a:t>(a) 한 요청의 시간 축</a:t>
              </a:r>
            </a:p>
          </p:txBody>
        </p:sp>
        <p:cxnSp>
          <p:nvCxnSpPr>
            <p:cNvPr id="10" name="Connector 9"/>
            <p:cNvCxnSpPr/>
            <p:nvPr/>
          </p:nvCxnSpPr>
          <p:spPr>
            <a:xfrm>
              <a:off x="1154543" y="2427088"/>
              <a:ext cx="10149707" cy="0"/>
            </a:xfrm>
            <a:prstGeom prst="line">
              <a:avLst/>
            </a:prstGeom>
            <a:ln w="18696">
              <a:solidFill>
                <a:srgbClr val="5B6B7B"/>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1154543" y="2320249"/>
              <a:ext cx="0" cy="213678"/>
            </a:xfrm>
            <a:prstGeom prst="line">
              <a:avLst/>
            </a:prstGeom>
            <a:ln w="18696">
              <a:solidFill>
                <a:srgbClr val="16202C"/>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855580" y="2611652"/>
              <a:ext cx="597925" cy="203048"/>
            </a:xfrm>
            <a:prstGeom prst="rect">
              <a:avLst/>
            </a:prstGeom>
            <a:noFill/>
          </p:spPr>
          <p:txBody>
            <a:bodyPr wrap="none" anchor="ctr" lIns="0" rIns="0" tIns="0" bIns="0">
              <a:noAutofit/>
            </a:bodyPr>
            <a:lstStyle/>
            <a:p>
              <a:pPr algn="ctr"/>
              <a:r>
                <a:rPr sz="1100" b="0">
                  <a:solidFill>
                    <a:srgbClr val="16202C"/>
                  </a:solidFill>
                  <a:latin typeface="맑은 고딕"/>
                  <a:ea typeface="맑은 고딕"/>
                  <a:cs typeface="맑은 고딕"/>
                </a:rPr>
                <a:t>요청 보냄</a:t>
              </a:r>
            </a:p>
          </p:txBody>
        </p:sp>
        <p:cxnSp>
          <p:nvCxnSpPr>
            <p:cNvPr id="13" name="Connector 12"/>
            <p:cNvCxnSpPr/>
            <p:nvPr/>
          </p:nvCxnSpPr>
          <p:spPr>
            <a:xfrm>
              <a:off x="3691969" y="2320249"/>
              <a:ext cx="0" cy="213678"/>
            </a:xfrm>
            <a:prstGeom prst="line">
              <a:avLst/>
            </a:prstGeom>
            <a:ln w="18696">
              <a:solidFill>
                <a:srgbClr val="16202C"/>
              </a:solidFill>
            </a:ln>
          </p:spPr>
          <p:style>
            <a:lnRef idx="2">
              <a:schemeClr val="accent1"/>
            </a:lnRef>
            <a:fillRef idx="0">
              <a:schemeClr val="accent1"/>
            </a:fillRef>
            <a:effectRef idx="1">
              <a:schemeClr val="accent1"/>
            </a:effectRef>
            <a:fontRef idx="minor">
              <a:schemeClr val="tx1"/>
            </a:fontRef>
          </p:style>
        </p:cxnSp>
        <p:sp>
          <p:nvSpPr>
            <p:cNvPr id="14" name="TextBox 13"/>
            <p:cNvSpPr txBox="1"/>
            <p:nvPr/>
          </p:nvSpPr>
          <p:spPr>
            <a:xfrm>
              <a:off x="3457511" y="2611652"/>
              <a:ext cx="468916" cy="203048"/>
            </a:xfrm>
            <a:prstGeom prst="rect">
              <a:avLst/>
            </a:prstGeom>
            <a:noFill/>
          </p:spPr>
          <p:txBody>
            <a:bodyPr wrap="none" anchor="ctr" lIns="0" rIns="0" tIns="0" bIns="0">
              <a:noAutofit/>
            </a:bodyPr>
            <a:lstStyle/>
            <a:p>
              <a:pPr algn="ctr"/>
              <a:r>
                <a:rPr sz="1100" b="0">
                  <a:solidFill>
                    <a:srgbClr val="16202C"/>
                  </a:solidFill>
                  <a:latin typeface="맑은 고딕"/>
                  <a:ea typeface="맑은 고딕"/>
                  <a:cs typeface="맑은 고딕"/>
                </a:rPr>
                <a:t>첫 토큰</a:t>
              </a:r>
            </a:p>
          </p:txBody>
        </p:sp>
        <p:cxnSp>
          <p:nvCxnSpPr>
            <p:cNvPr id="15" name="Connector 14"/>
            <p:cNvCxnSpPr/>
            <p:nvPr/>
          </p:nvCxnSpPr>
          <p:spPr>
            <a:xfrm>
              <a:off x="11304250" y="2320249"/>
              <a:ext cx="0" cy="213678"/>
            </a:xfrm>
            <a:prstGeom prst="line">
              <a:avLst/>
            </a:prstGeom>
            <a:ln w="18696">
              <a:solidFill>
                <a:srgbClr val="16202C"/>
              </a:solidFill>
            </a:ln>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10577317" y="2611652"/>
              <a:ext cx="726933" cy="203048"/>
            </a:xfrm>
            <a:prstGeom prst="rect">
              <a:avLst/>
            </a:prstGeom>
            <a:noFill/>
          </p:spPr>
          <p:txBody>
            <a:bodyPr wrap="none" anchor="ctr" lIns="0" rIns="0" tIns="0" bIns="0">
              <a:noAutofit/>
            </a:bodyPr>
            <a:lstStyle/>
            <a:p>
              <a:pPr algn="r"/>
              <a:r>
                <a:rPr sz="1100" b="0">
                  <a:solidFill>
                    <a:srgbClr val="16202C"/>
                  </a:solidFill>
                  <a:latin typeface="맑은 고딕"/>
                  <a:ea typeface="맑은 고딕"/>
                  <a:cs typeface="맑은 고딕"/>
                </a:rPr>
                <a:t>마지막 토큰</a:t>
              </a:r>
            </a:p>
          </p:txBody>
        </p:sp>
        <p:sp>
          <p:nvSpPr>
            <p:cNvPr id="17" name="Rectangle 16"/>
            <p:cNvSpPr/>
            <p:nvPr/>
          </p:nvSpPr>
          <p:spPr>
            <a:xfrm>
              <a:off x="1154543" y="2106571"/>
              <a:ext cx="2537427" cy="186968"/>
            </a:xfrm>
            <a:prstGeom prst="rect">
              <a:avLst/>
            </a:prstGeom>
            <a:solidFill>
              <a:srgbClr val="FFD34D"/>
            </a:solidFill>
            <a:ln w="12019">
              <a:solidFill>
                <a:srgbClr val="25376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2225537" y="2090812"/>
              <a:ext cx="395438" cy="203048"/>
            </a:xfrm>
            <a:prstGeom prst="rect">
              <a:avLst/>
            </a:prstGeom>
            <a:noFill/>
          </p:spPr>
          <p:txBody>
            <a:bodyPr wrap="none" anchor="ctr" lIns="0" rIns="0" tIns="0" bIns="0">
              <a:noAutofit/>
            </a:bodyPr>
            <a:lstStyle/>
            <a:p>
              <a:pPr algn="ctr"/>
              <a:r>
                <a:rPr sz="1100" b="1">
                  <a:solidFill>
                    <a:srgbClr val="16202C"/>
                  </a:solidFill>
                  <a:latin typeface="맑은 고딕"/>
                  <a:ea typeface="맑은 고딕"/>
                  <a:cs typeface="맑은 고딕"/>
                </a:rPr>
                <a:t>TTFT</a:t>
              </a:r>
            </a:p>
          </p:txBody>
        </p:sp>
        <p:sp>
          <p:nvSpPr>
            <p:cNvPr id="19" name="Rectangle 18"/>
            <p:cNvSpPr/>
            <p:nvPr/>
          </p:nvSpPr>
          <p:spPr>
            <a:xfrm>
              <a:off x="3691969" y="2106571"/>
              <a:ext cx="7612280" cy="186968"/>
            </a:xfrm>
            <a:prstGeom prst="rect">
              <a:avLst/>
            </a:prstGeom>
            <a:solidFill>
              <a:srgbClr val="E3E5EA"/>
            </a:solidFill>
            <a:ln w="12019">
              <a:solidFill>
                <a:srgbClr val="25376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197582" y="2090812"/>
              <a:ext cx="2601056" cy="203048"/>
            </a:xfrm>
            <a:prstGeom prst="rect">
              <a:avLst/>
            </a:prstGeom>
            <a:noFill/>
          </p:spPr>
          <p:txBody>
            <a:bodyPr wrap="none" anchor="ctr" lIns="0" rIns="0" tIns="0" bIns="0">
              <a:noAutofit/>
            </a:bodyPr>
            <a:lstStyle/>
            <a:p>
              <a:pPr algn="ctr"/>
              <a:r>
                <a:rPr sz="1100" b="0">
                  <a:solidFill>
                    <a:srgbClr val="16202C"/>
                  </a:solidFill>
                  <a:latin typeface="맑은 고딕"/>
                  <a:ea typeface="맑은 고딕"/>
                  <a:cs typeface="맑은 고딕"/>
                </a:rPr>
                <a:t>디코드 구간, 남은 토큰 수 ÷ 이 시간 = tok/s</a:t>
              </a:r>
            </a:p>
          </p:txBody>
        </p:sp>
        <p:sp>
          <p:nvSpPr>
            <p:cNvPr id="21" name="TextBox 20"/>
            <p:cNvSpPr txBox="1"/>
            <p:nvPr/>
          </p:nvSpPr>
          <p:spPr>
            <a:xfrm>
              <a:off x="566928" y="3210485"/>
              <a:ext cx="1222659" cy="222385"/>
            </a:xfrm>
            <a:prstGeom prst="rect">
              <a:avLst/>
            </a:prstGeom>
            <a:noFill/>
          </p:spPr>
          <p:txBody>
            <a:bodyPr wrap="none" anchor="ctr" lIns="0" rIns="0" tIns="0" bIns="0">
              <a:noAutofit/>
            </a:bodyPr>
            <a:lstStyle/>
            <a:p>
              <a:pPr algn="l"/>
              <a:r>
                <a:rPr sz="1210" b="1">
                  <a:solidFill>
                    <a:srgbClr val="16202C"/>
                  </a:solidFill>
                  <a:latin typeface="맑은 고딕"/>
                  <a:ea typeface="맑은 고딕"/>
                  <a:cs typeface="맑은 고딕"/>
                </a:rPr>
                <a:t>(b) 같게 맞춘 조건</a:t>
              </a:r>
            </a:p>
          </p:txBody>
        </p:sp>
        <p:sp>
          <p:nvSpPr>
            <p:cNvPr id="22" name="Rounded Rectangle 21"/>
            <p:cNvSpPr/>
            <p:nvPr/>
          </p:nvSpPr>
          <p:spPr>
            <a:xfrm>
              <a:off x="566928" y="3548897"/>
              <a:ext cx="2547443" cy="560905"/>
            </a:xfrm>
            <a:prstGeom prst="roundRect">
              <a:avLst>
                <a:gd name="adj" fmla="val 9523"/>
              </a:avLst>
            </a:prstGeom>
            <a:solidFill>
              <a:srgbClr val="FFFFFF"/>
            </a:solidFill>
            <a:ln w="16025">
              <a:solidFill>
                <a:srgbClr val="25376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543904" y="3618877"/>
              <a:ext cx="593491" cy="212716"/>
            </a:xfrm>
            <a:prstGeom prst="rect">
              <a:avLst/>
            </a:prstGeom>
            <a:noFill/>
          </p:spPr>
          <p:txBody>
            <a:bodyPr wrap="none" anchor="ctr" lIns="0" rIns="0" tIns="0" bIns="0">
              <a:noAutofit/>
            </a:bodyPr>
            <a:lstStyle/>
            <a:p>
              <a:pPr algn="ctr"/>
              <a:r>
                <a:rPr sz="1160" b="1">
                  <a:solidFill>
                    <a:srgbClr val="16202C"/>
                  </a:solidFill>
                  <a:latin typeface="맑은 고딕"/>
                  <a:ea typeface="맑은 고딕"/>
                  <a:cs typeface="맑은 고딕"/>
                </a:rPr>
                <a:t>프롬프트</a:t>
              </a:r>
            </a:p>
          </p:txBody>
        </p:sp>
        <p:sp>
          <p:nvSpPr>
            <p:cNvPr id="24" name="TextBox 23"/>
            <p:cNvSpPr txBox="1"/>
            <p:nvPr/>
          </p:nvSpPr>
          <p:spPr>
            <a:xfrm>
              <a:off x="929950" y="3840301"/>
              <a:ext cx="1821398" cy="203048"/>
            </a:xfrm>
            <a:prstGeom prst="rect">
              <a:avLst/>
            </a:prstGeom>
            <a:noFill/>
          </p:spPr>
          <p:txBody>
            <a:bodyPr wrap="none" anchor="ctr" lIns="0" rIns="0" tIns="0" bIns="0">
              <a:noAutofit/>
            </a:bodyPr>
            <a:lstStyle/>
            <a:p>
              <a:pPr algn="ctr"/>
              <a:r>
                <a:rPr sz="1100" b="0">
                  <a:solidFill>
                    <a:srgbClr val="16202C"/>
                  </a:solidFill>
                  <a:latin typeface="맑은 고딕"/>
                  <a:ea typeface="맑은 고딕"/>
                  <a:cs typeface="맑은 고딕"/>
                </a:rPr>
                <a:t>사실, 코드, 추론, 설명 4종 고정</a:t>
              </a:r>
            </a:p>
          </p:txBody>
        </p:sp>
        <p:sp>
          <p:nvSpPr>
            <p:cNvPr id="25" name="Rounded Rectangle 24"/>
            <p:cNvSpPr/>
            <p:nvPr/>
          </p:nvSpPr>
          <p:spPr>
            <a:xfrm>
              <a:off x="3247920" y="3548897"/>
              <a:ext cx="1916425" cy="560905"/>
            </a:xfrm>
            <a:prstGeom prst="roundRect">
              <a:avLst>
                <a:gd name="adj" fmla="val 9523"/>
              </a:avLst>
            </a:prstGeom>
            <a:solidFill>
              <a:srgbClr val="FFFFFF"/>
            </a:solidFill>
            <a:ln w="16025">
              <a:solidFill>
                <a:srgbClr val="25376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3976963" y="3618877"/>
              <a:ext cx="458339" cy="212716"/>
            </a:xfrm>
            <a:prstGeom prst="rect">
              <a:avLst/>
            </a:prstGeom>
            <a:noFill/>
          </p:spPr>
          <p:txBody>
            <a:bodyPr wrap="none" anchor="ctr" lIns="0" rIns="0" tIns="0" bIns="0">
              <a:noAutofit/>
            </a:bodyPr>
            <a:lstStyle/>
            <a:p>
              <a:pPr algn="ctr"/>
              <a:r>
                <a:rPr sz="1160" b="1">
                  <a:solidFill>
                    <a:srgbClr val="16202C"/>
                  </a:solidFill>
                  <a:latin typeface="맑은 고딕"/>
                  <a:ea typeface="맑은 고딕"/>
                  <a:cs typeface="맑은 고딕"/>
                </a:rPr>
                <a:t>샘플링</a:t>
              </a:r>
            </a:p>
          </p:txBody>
        </p:sp>
        <p:sp>
          <p:nvSpPr>
            <p:cNvPr id="27" name="TextBox 26"/>
            <p:cNvSpPr txBox="1"/>
            <p:nvPr/>
          </p:nvSpPr>
          <p:spPr>
            <a:xfrm>
              <a:off x="3430050" y="3840301"/>
              <a:ext cx="1552164" cy="203048"/>
            </a:xfrm>
            <a:prstGeom prst="rect">
              <a:avLst/>
            </a:prstGeom>
            <a:noFill/>
          </p:spPr>
          <p:txBody>
            <a:bodyPr wrap="none" anchor="ctr" lIns="0" rIns="0" tIns="0" bIns="0">
              <a:noAutofit/>
            </a:bodyPr>
            <a:lstStyle/>
            <a:p>
              <a:pPr algn="ctr"/>
              <a:r>
                <a:rPr sz="1100" b="0">
                  <a:solidFill>
                    <a:srgbClr val="16202C"/>
                  </a:solidFill>
                  <a:latin typeface="맑은 고딕"/>
                  <a:ea typeface="맑은 고딕"/>
                  <a:cs typeface="맑은 고딕"/>
                </a:rPr>
                <a:t>temperature 0 (greedy)</a:t>
              </a:r>
            </a:p>
          </p:txBody>
        </p:sp>
        <p:sp>
          <p:nvSpPr>
            <p:cNvPr id="28" name="Rounded Rectangle 27"/>
            <p:cNvSpPr/>
            <p:nvPr/>
          </p:nvSpPr>
          <p:spPr>
            <a:xfrm>
              <a:off x="5297894" y="3548897"/>
              <a:ext cx="1355520" cy="560905"/>
            </a:xfrm>
            <a:prstGeom prst="roundRect">
              <a:avLst>
                <a:gd name="adj" fmla="val 9523"/>
              </a:avLst>
            </a:prstGeom>
            <a:solidFill>
              <a:srgbClr val="FFFFFF"/>
            </a:solidFill>
            <a:ln w="16025">
              <a:solidFill>
                <a:srgbClr val="25376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5814060" y="3618877"/>
              <a:ext cx="323188" cy="212716"/>
            </a:xfrm>
            <a:prstGeom prst="rect">
              <a:avLst/>
            </a:prstGeom>
            <a:noFill/>
          </p:spPr>
          <p:txBody>
            <a:bodyPr wrap="none" anchor="ctr" lIns="0" rIns="0" tIns="0" bIns="0">
              <a:noAutofit/>
            </a:bodyPr>
            <a:lstStyle/>
            <a:p>
              <a:pPr algn="ctr"/>
              <a:r>
                <a:rPr sz="1160" b="1">
                  <a:solidFill>
                    <a:srgbClr val="16202C"/>
                  </a:solidFill>
                  <a:latin typeface="맑은 고딕"/>
                  <a:ea typeface="맑은 고딕"/>
                  <a:cs typeface="맑은 고딕"/>
                </a:rPr>
                <a:t>길이</a:t>
              </a:r>
            </a:p>
          </p:txBody>
        </p:sp>
        <p:sp>
          <p:nvSpPr>
            <p:cNvPr id="30" name="TextBox 29"/>
            <p:cNvSpPr txBox="1"/>
            <p:nvPr/>
          </p:nvSpPr>
          <p:spPr>
            <a:xfrm>
              <a:off x="5419867" y="3840301"/>
              <a:ext cx="1111573" cy="203048"/>
            </a:xfrm>
            <a:prstGeom prst="rect">
              <a:avLst/>
            </a:prstGeom>
            <a:noFill/>
          </p:spPr>
          <p:txBody>
            <a:bodyPr wrap="none" anchor="ctr" lIns="0" rIns="0" tIns="0" bIns="0">
              <a:noAutofit/>
            </a:bodyPr>
            <a:lstStyle/>
            <a:p>
              <a:pPr algn="ctr"/>
              <a:r>
                <a:rPr sz="1100" b="0">
                  <a:solidFill>
                    <a:srgbClr val="16202C"/>
                  </a:solidFill>
                  <a:latin typeface="맑은 고딕"/>
                  <a:ea typeface="맑은 고딕"/>
                  <a:cs typeface="맑은 고딕"/>
                </a:rPr>
                <a:t>max_tokens 256</a:t>
              </a:r>
            </a:p>
          </p:txBody>
        </p:sp>
        <p:sp>
          <p:nvSpPr>
            <p:cNvPr id="31" name="Rounded Rectangle 30"/>
            <p:cNvSpPr/>
            <p:nvPr/>
          </p:nvSpPr>
          <p:spPr>
            <a:xfrm>
              <a:off x="6786962" y="3548897"/>
              <a:ext cx="3108348" cy="560905"/>
            </a:xfrm>
            <a:prstGeom prst="roundRect">
              <a:avLst>
                <a:gd name="adj" fmla="val 9523"/>
              </a:avLst>
            </a:prstGeom>
            <a:solidFill>
              <a:srgbClr val="FFFFFF"/>
            </a:solidFill>
            <a:ln w="16025">
              <a:solidFill>
                <a:srgbClr val="25376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111967" y="3618877"/>
              <a:ext cx="458339" cy="212716"/>
            </a:xfrm>
            <a:prstGeom prst="rect">
              <a:avLst/>
            </a:prstGeom>
            <a:noFill/>
          </p:spPr>
          <p:txBody>
            <a:bodyPr wrap="none" anchor="ctr" lIns="0" rIns="0" tIns="0" bIns="0">
              <a:noAutofit/>
            </a:bodyPr>
            <a:lstStyle/>
            <a:p>
              <a:pPr algn="ctr"/>
              <a:r>
                <a:rPr sz="1160" b="1">
                  <a:solidFill>
                    <a:srgbClr val="16202C"/>
                  </a:solidFill>
                  <a:latin typeface="맑은 고딕"/>
                  <a:ea typeface="맑은 고딕"/>
                  <a:cs typeface="맑은 고딕"/>
                </a:rPr>
                <a:t>동시성</a:t>
              </a:r>
            </a:p>
          </p:txBody>
        </p:sp>
        <p:sp>
          <p:nvSpPr>
            <p:cNvPr id="33" name="TextBox 32"/>
            <p:cNvSpPr txBox="1"/>
            <p:nvPr/>
          </p:nvSpPr>
          <p:spPr>
            <a:xfrm>
              <a:off x="7156786" y="3840301"/>
              <a:ext cx="2368701" cy="203048"/>
            </a:xfrm>
            <a:prstGeom prst="rect">
              <a:avLst/>
            </a:prstGeom>
            <a:noFill/>
          </p:spPr>
          <p:txBody>
            <a:bodyPr wrap="none" anchor="ctr" lIns="0" rIns="0" tIns="0" bIns="0">
              <a:noAutofit/>
            </a:bodyPr>
            <a:lstStyle/>
            <a:p>
              <a:pPr algn="ctr"/>
              <a:r>
                <a:rPr sz="1100" b="0">
                  <a:solidFill>
                    <a:srgbClr val="16202C"/>
                  </a:solidFill>
                  <a:latin typeface="맑은 고딕"/>
                  <a:ea typeface="맑은 고딕"/>
                  <a:cs typeface="맑은 고딕"/>
                </a:rPr>
                <a:t>단일 1개, 그리고 같은 프롬프트 4개 동시</a:t>
              </a:r>
            </a:p>
          </p:txBody>
        </p:sp>
        <p:sp>
          <p:nvSpPr>
            <p:cNvPr id="34" name="TextBox 33"/>
            <p:cNvSpPr txBox="1"/>
            <p:nvPr/>
          </p:nvSpPr>
          <p:spPr>
            <a:xfrm>
              <a:off x="566928" y="4286621"/>
              <a:ext cx="4944777" cy="212716"/>
            </a:xfrm>
            <a:prstGeom prst="rect">
              <a:avLst/>
            </a:prstGeom>
            <a:noFill/>
          </p:spPr>
          <p:txBody>
            <a:bodyPr wrap="none" anchor="ctr" lIns="0" rIns="0" tIns="0" bIns="0">
              <a:noAutofit/>
            </a:bodyPr>
            <a:lstStyle/>
            <a:p>
              <a:pPr algn="l"/>
              <a:r>
                <a:rPr sz="1160" b="0">
                  <a:solidFill>
                    <a:srgbClr val="16202C"/>
                  </a:solidFill>
                  <a:latin typeface="맑은 고딕"/>
                  <a:ea typeface="맑은 고딕"/>
                  <a:cs typeface="맑은 고딕"/>
                </a:rPr>
                <a:t>적재 시간은 따로 잰다, serve 로그의 첫 줄과 마지막 줄 간격이 순수 적재 시간이다</a:t>
              </a:r>
            </a:p>
          </p:txBody>
        </p:sp>
        <p:sp>
          <p:nvSpPr>
            <p:cNvPr id="35" name="TextBox 34"/>
            <p:cNvSpPr txBox="1"/>
            <p:nvPr/>
          </p:nvSpPr>
          <p:spPr>
            <a:xfrm>
              <a:off x="8699368" y="4294367"/>
              <a:ext cx="2925399" cy="203048"/>
            </a:xfrm>
            <a:prstGeom prst="rect">
              <a:avLst/>
            </a:prstGeom>
            <a:noFill/>
          </p:spPr>
          <p:txBody>
            <a:bodyPr wrap="none" anchor="ctr" lIns="0" rIns="0" tIns="0" bIns="0">
              <a:noAutofit/>
            </a:bodyPr>
            <a:lstStyle/>
            <a:p>
              <a:pPr algn="r"/>
              <a:r>
                <a:rPr sz="1100" b="0">
                  <a:solidFill>
                    <a:srgbClr val="5B6B7B"/>
                  </a:solidFill>
                  <a:latin typeface="맑은 고딕"/>
                  <a:ea typeface="맑은 고딕"/>
                  <a:cs typeface="맑은 고딕"/>
                </a:rPr>
                <a:t>bench.py, chat/serve_logs/router-&lt;모델&gt;.log</a:t>
              </a:r>
            </a:p>
          </p:txBody>
        </p:sp>
      </p:grpSp>
      <p:sp>
        <p:nvSpPr>
          <p:cNvPr id="36" name="TextBox 35"/>
          <p:cNvSpPr txBox="1"/>
          <p:nvPr/>
        </p:nvSpPr>
        <p:spPr>
          <a:xfrm>
            <a:off x="566928" y="4737081"/>
            <a:ext cx="11057839" cy="1535703"/>
          </a:xfrm>
          <a:prstGeom prst="rect">
            <a:avLst/>
          </a:prstGeom>
          <a:noFill/>
        </p:spPr>
        <p:txBody>
          <a:bodyPr wrap="square" anchor="t" lIns="0" rIns="0" tIns="0" bIns="0">
            <a:spAutoFit/>
          </a:bodyPr>
          <a:lstStyle/>
          <a:p>
            <a:pPr algn="l">
              <a:lnSpc>
                <a:spcPct val="118000"/>
              </a:lnSpc>
              <a:spcBef>
                <a:spcPts val="200"/>
              </a:spcBef>
              <a:spcAft>
                <a:spcPts val="200"/>
              </a:spcAft>
            </a:pPr>
            <a:r>
              <a:rPr sz="1200" b="0" i="0">
                <a:solidFill>
                  <a:srgbClr val="16202C"/>
                </a:solidFill>
                <a:latin typeface="Segoe UI"/>
                <a:ea typeface="맑은 고딕"/>
                <a:cs typeface="맑은 고딕"/>
              </a:rPr>
              <a:t>▪  TTFT 는 요청을 보낸 순간부터 첫 글자가 올 때까지다. 프롬프트를 읽는 시간이 여기 들어간다</a:t>
            </a:r>
          </a:p>
          <a:p>
            <a:pPr algn="l">
              <a:lnSpc>
                <a:spcPct val="118000"/>
              </a:lnSpc>
              <a:spcBef>
                <a:spcPts val="600"/>
              </a:spcBef>
              <a:spcAft>
                <a:spcPts val="200"/>
              </a:spcAft>
            </a:pPr>
            <a:r>
              <a:rPr sz="1200" b="0" i="0">
                <a:solidFill>
                  <a:srgbClr val="16202C"/>
                </a:solidFill>
                <a:latin typeface="Segoe UI"/>
                <a:ea typeface="맑은 고딕"/>
                <a:cs typeface="맑은 고딕"/>
              </a:rPr>
              <a:t>▪  디코드 속도는 첫 글자 이후 남은 토큰을 걸린 초로 나눈 값이라, 프롬프트 길이에 덜 휘둘린다</a:t>
            </a:r>
          </a:p>
          <a:p>
            <a:pPr algn="l">
              <a:lnSpc>
                <a:spcPct val="118000"/>
              </a:lnSpc>
              <a:spcBef>
                <a:spcPts val="600"/>
              </a:spcBef>
              <a:spcAft>
                <a:spcPts val="200"/>
              </a:spcAft>
            </a:pPr>
            <a:r>
              <a:rPr sz="1200" b="0" i="0">
                <a:solidFill>
                  <a:srgbClr val="16202C"/>
                </a:solidFill>
                <a:latin typeface="Segoe UI"/>
                <a:ea typeface="맑은 고딕"/>
                <a:cs typeface="맑은 고딕"/>
              </a:rPr>
              <a:t>▪  적재 시간은 따로 잰다. 요청이 아니라 모델을 카드에 올리는 시간이고, serve 로그에서 뽑는다</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46304" cy="6858000"/>
          </a:xfrm>
          <a:prstGeom prst="rect">
            <a:avLst/>
          </a:prstGeom>
          <a:solidFill>
            <a:srgbClr val="0B5FC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3" name="TextBox 2"/>
          <p:cNvSpPr txBox="1"/>
          <p:nvPr/>
        </p:nvSpPr>
        <p:spPr>
          <a:xfrm>
            <a:off x="566928" y="310896"/>
            <a:ext cx="11057839" cy="475488"/>
          </a:xfrm>
          <a:prstGeom prst="rect">
            <a:avLst/>
          </a:prstGeom>
          <a:noFill/>
        </p:spPr>
        <p:txBody>
          <a:bodyPr wrap="square" anchor="t" lIns="0" rIns="0" tIns="0" bIns="0">
            <a:spAutoFit/>
          </a:bodyPr>
          <a:lstStyle/>
          <a:p>
            <a:pPr algn="l">
              <a:lnSpc>
                <a:spcPct val="118000"/>
              </a:lnSpc>
              <a:spcBef>
                <a:spcPts val="0"/>
              </a:spcBef>
              <a:spcAft>
                <a:spcPts val="0"/>
              </a:spcAft>
            </a:pPr>
            <a:r>
              <a:rPr sz="2400" b="1" i="0">
                <a:solidFill>
                  <a:srgbClr val="16202C"/>
                </a:solidFill>
                <a:latin typeface="Segoe UI"/>
                <a:ea typeface="맑은 고딕"/>
                <a:cs typeface="맑은 고딕"/>
              </a:rPr>
              <a:t>응답 지연</a:t>
            </a:r>
          </a:p>
        </p:txBody>
      </p:sp>
      <p:cxnSp>
        <p:nvCxnSpPr>
          <p:cNvPr id="4" name="Connector 3"/>
          <p:cNvCxnSpPr/>
          <p:nvPr/>
        </p:nvCxnSpPr>
        <p:spPr>
          <a:xfrm>
            <a:off x="566928" y="822960"/>
            <a:ext cx="11057839" cy="0"/>
          </a:xfrm>
          <a:prstGeom prst="line">
            <a:avLst/>
          </a:prstGeom>
          <a:ln w="15875">
            <a:solidFill>
              <a:srgbClr val="D6DEE7"/>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566928" y="6455664"/>
            <a:ext cx="9686239" cy="219456"/>
          </a:xfrm>
          <a:prstGeom prst="rect">
            <a:avLst/>
          </a:prstGeom>
          <a:noFill/>
        </p:spPr>
        <p:txBody>
          <a:bodyPr wrap="square" anchor="t" lIns="0" rIns="0" tIns="0" bIns="0">
            <a:spAutoFit/>
          </a:bodyPr>
          <a:lstStyle/>
          <a:p>
            <a:pPr algn="l">
              <a:lnSpc>
                <a:spcPct val="118000"/>
              </a:lnSpc>
              <a:spcBef>
                <a:spcPts val="0"/>
              </a:spcBef>
              <a:spcAft>
                <a:spcPts val="0"/>
              </a:spcAft>
            </a:pPr>
            <a:r>
              <a:rPr sz="950" b="0" i="0">
                <a:solidFill>
                  <a:srgbClr val="5B6B7B"/>
                </a:solidFill>
                <a:latin typeface="Segoe UI"/>
                <a:ea typeface="맑은 고딕"/>
                <a:cs typeface="맑은 고딕"/>
              </a:rPr>
              <a:t>RNGD 4장 서버, 2026-08-29 실측</a:t>
            </a:r>
          </a:p>
        </p:txBody>
      </p:sp>
      <p:sp>
        <p:nvSpPr>
          <p:cNvPr id="6" name="TextBox 5"/>
          <p:cNvSpPr txBox="1"/>
          <p:nvPr/>
        </p:nvSpPr>
        <p:spPr>
          <a:xfrm>
            <a:off x="10527487" y="6455664"/>
            <a:ext cx="1097280" cy="219456"/>
          </a:xfrm>
          <a:prstGeom prst="rect">
            <a:avLst/>
          </a:prstGeom>
          <a:noFill/>
        </p:spPr>
        <p:txBody>
          <a:bodyPr wrap="square" anchor="t" lIns="0" rIns="0" tIns="0" bIns="0">
            <a:spAutoFit/>
          </a:bodyPr>
          <a:lstStyle/>
          <a:p>
            <a:pPr algn="r">
              <a:lnSpc>
                <a:spcPct val="118000"/>
              </a:lnSpc>
              <a:spcBef>
                <a:spcPts val="0"/>
              </a:spcBef>
              <a:spcAft>
                <a:spcPts val="0"/>
              </a:spcAft>
            </a:pPr>
            <a:r>
              <a:rPr sz="950" b="0" i="0">
                <a:solidFill>
                  <a:srgbClr val="5B6B7B"/>
                </a:solidFill>
                <a:latin typeface="Segoe UI"/>
                <a:ea typeface="맑은 고딕"/>
                <a:cs typeface="맑은 고딕"/>
              </a:rPr>
              <a:t>5</a:t>
            </a:r>
          </a:p>
        </p:txBody>
      </p:sp>
      <p:sp>
        <p:nvSpPr>
          <p:cNvPr id="7" name="TextBox 6"/>
          <p:cNvSpPr txBox="1"/>
          <p:nvPr/>
        </p:nvSpPr>
        <p:spPr>
          <a:xfrm>
            <a:off x="566928" y="1115568"/>
            <a:ext cx="11057839" cy="274320"/>
          </a:xfrm>
          <a:prstGeom prst="rect">
            <a:avLst/>
          </a:prstGeom>
          <a:noFill/>
        </p:spPr>
        <p:txBody>
          <a:bodyPr wrap="square" anchor="t" lIns="0" rIns="0" tIns="0" bIns="0">
            <a:spAutoFit/>
          </a:bodyPr>
          <a:lstStyle/>
          <a:p>
            <a:pPr algn="l">
              <a:lnSpc>
                <a:spcPct val="118000"/>
              </a:lnSpc>
              <a:spcBef>
                <a:spcPts val="0"/>
              </a:spcBef>
              <a:spcAft>
                <a:spcPts val="0"/>
              </a:spcAft>
            </a:pPr>
            <a:r>
              <a:rPr sz="1400" b="1" i="0">
                <a:solidFill>
                  <a:srgbClr val="16202C"/>
                </a:solidFill>
                <a:latin typeface="Segoe UI"/>
                <a:ea typeface="맑은 고딕"/>
                <a:cs typeface="맑은 고딕"/>
              </a:rPr>
              <a:t>그림 3: 모델별 첫 토큰까지 걸린 시간과, 짧은 질문 하나가 끝날 때까지 걸린 시간</a:t>
            </a:r>
          </a:p>
        </p:txBody>
      </p:sp>
      <p:grpSp>
        <p:nvGrpSpPr>
          <p:cNvPr id="8" name="도해 latency"/>
          <p:cNvGrpSpPr/>
          <p:nvPr/>
        </p:nvGrpSpPr>
        <p:grpSpPr>
          <a:xfrm>
            <a:off x="566928" y="1554480"/>
            <a:ext cx="11057839" cy="2971567"/>
            <a:chOff x="566928" y="1554480"/>
            <a:chExt cx="11057839" cy="2971567"/>
          </a:xfrm>
        </p:grpSpPr>
        <p:sp>
          <p:nvSpPr>
            <p:cNvPr id="9" name="TextBox 8"/>
            <p:cNvSpPr txBox="1"/>
            <p:nvPr/>
          </p:nvSpPr>
          <p:spPr>
            <a:xfrm>
              <a:off x="566928" y="1554480"/>
              <a:ext cx="2393254" cy="222385"/>
            </a:xfrm>
            <a:prstGeom prst="rect">
              <a:avLst/>
            </a:prstGeom>
            <a:noFill/>
          </p:spPr>
          <p:txBody>
            <a:bodyPr wrap="none" anchor="ctr" lIns="0" rIns="0" tIns="0" bIns="0">
              <a:noAutofit/>
            </a:bodyPr>
            <a:lstStyle/>
            <a:p>
              <a:pPr algn="l"/>
              <a:r>
                <a:rPr sz="1210" b="1">
                  <a:solidFill>
                    <a:srgbClr val="16202C"/>
                  </a:solidFill>
                  <a:latin typeface="맑은 고딕"/>
                  <a:ea typeface="맑은 고딕"/>
                  <a:cs typeface="맑은 고딕"/>
                </a:rPr>
                <a:t>(a) 첫 토큰까지 걸린 시간(TTFT), 초</a:t>
              </a:r>
            </a:p>
          </p:txBody>
        </p:sp>
        <p:sp>
          <p:nvSpPr>
            <p:cNvPr id="10" name="TextBox 9"/>
            <p:cNvSpPr txBox="1"/>
            <p:nvPr/>
          </p:nvSpPr>
          <p:spPr>
            <a:xfrm>
              <a:off x="566928" y="1810359"/>
              <a:ext cx="884547" cy="203048"/>
            </a:xfrm>
            <a:prstGeom prst="rect">
              <a:avLst/>
            </a:prstGeom>
            <a:noFill/>
          </p:spPr>
          <p:txBody>
            <a:bodyPr wrap="none" anchor="ctr" lIns="0" rIns="0" tIns="0" bIns="0">
              <a:noAutofit/>
            </a:bodyPr>
            <a:lstStyle/>
            <a:p>
              <a:pPr algn="l"/>
              <a:r>
                <a:rPr sz="1100" b="0">
                  <a:solidFill>
                    <a:srgbClr val="16202C"/>
                  </a:solidFill>
                  <a:latin typeface="맑은 고딕"/>
                  <a:ea typeface="맑은 고딕"/>
                  <a:cs typeface="맑은 고딕"/>
                </a:rPr>
                <a:t>gpt-oss 120B</a:t>
              </a:r>
            </a:p>
          </p:txBody>
        </p:sp>
        <p:sp>
          <p:nvSpPr>
            <p:cNvPr id="11" name="Rectangle 10"/>
            <p:cNvSpPr/>
            <p:nvPr/>
          </p:nvSpPr>
          <p:spPr>
            <a:xfrm>
              <a:off x="2062674" y="1866183"/>
              <a:ext cx="1575876" cy="146904"/>
            </a:xfrm>
            <a:prstGeom prst="rect">
              <a:avLst/>
            </a:prstGeom>
            <a:solidFill>
              <a:srgbClr val="EEF2F7"/>
            </a:solidFill>
            <a:ln w="9348">
              <a:solidFill>
                <a:srgbClr val="5B6B7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705324" y="1810359"/>
              <a:ext cx="99140" cy="203048"/>
            </a:xfrm>
            <a:prstGeom prst="rect">
              <a:avLst/>
            </a:prstGeom>
            <a:noFill/>
          </p:spPr>
          <p:txBody>
            <a:bodyPr wrap="none" anchor="ctr" lIns="0" rIns="0" tIns="0" bIns="0">
              <a:noAutofit/>
            </a:bodyPr>
            <a:lstStyle/>
            <a:p>
              <a:pPr algn="l"/>
              <a:r>
                <a:rPr sz="1100" b="0">
                  <a:solidFill>
                    <a:srgbClr val="16202C"/>
                  </a:solidFill>
                  <a:latin typeface="맑은 고딕"/>
                  <a:ea typeface="맑은 고딕"/>
                  <a:cs typeface="맑은 고딕"/>
                </a:rPr>
                <a:t>-</a:t>
              </a:r>
            </a:p>
          </p:txBody>
        </p:sp>
        <p:sp>
          <p:nvSpPr>
            <p:cNvPr id="13" name="TextBox 12"/>
            <p:cNvSpPr txBox="1"/>
            <p:nvPr/>
          </p:nvSpPr>
          <p:spPr>
            <a:xfrm>
              <a:off x="566928" y="1997328"/>
              <a:ext cx="1148313" cy="203048"/>
            </a:xfrm>
            <a:prstGeom prst="rect">
              <a:avLst/>
            </a:prstGeom>
            <a:noFill/>
          </p:spPr>
          <p:txBody>
            <a:bodyPr wrap="none" anchor="ctr" lIns="0" rIns="0" tIns="0" bIns="0">
              <a:noAutofit/>
            </a:bodyPr>
            <a:lstStyle/>
            <a:p>
              <a:pPr algn="l"/>
              <a:r>
                <a:rPr sz="1100" b="0">
                  <a:solidFill>
                    <a:srgbClr val="16202C"/>
                  </a:solidFill>
                  <a:latin typeface="맑은 고딕"/>
                  <a:ea typeface="맑은 고딕"/>
                  <a:cs typeface="맑은 고딕"/>
                </a:rPr>
                <a:t>Solar-Open 100B</a:t>
              </a:r>
            </a:p>
          </p:txBody>
        </p:sp>
        <p:sp>
          <p:nvSpPr>
            <p:cNvPr id="14" name="Rectangle 13"/>
            <p:cNvSpPr/>
            <p:nvPr/>
          </p:nvSpPr>
          <p:spPr>
            <a:xfrm>
              <a:off x="2062674" y="2053151"/>
              <a:ext cx="1575876" cy="146904"/>
            </a:xfrm>
            <a:prstGeom prst="rect">
              <a:avLst/>
            </a:prstGeom>
            <a:solidFill>
              <a:srgbClr val="EEF2F7"/>
            </a:solidFill>
            <a:ln w="9348">
              <a:solidFill>
                <a:srgbClr val="5B6B7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705324" y="1997328"/>
              <a:ext cx="99140" cy="203048"/>
            </a:xfrm>
            <a:prstGeom prst="rect">
              <a:avLst/>
            </a:prstGeom>
            <a:noFill/>
          </p:spPr>
          <p:txBody>
            <a:bodyPr wrap="none" anchor="ctr" lIns="0" rIns="0" tIns="0" bIns="0">
              <a:noAutofit/>
            </a:bodyPr>
            <a:lstStyle/>
            <a:p>
              <a:pPr algn="l"/>
              <a:r>
                <a:rPr sz="1100" b="0">
                  <a:solidFill>
                    <a:srgbClr val="16202C"/>
                  </a:solidFill>
                  <a:latin typeface="맑은 고딕"/>
                  <a:ea typeface="맑은 고딕"/>
                  <a:cs typeface="맑은 고딕"/>
                </a:rPr>
                <a:t>-</a:t>
              </a:r>
            </a:p>
          </p:txBody>
        </p:sp>
        <p:sp>
          <p:nvSpPr>
            <p:cNvPr id="16" name="TextBox 15"/>
            <p:cNvSpPr txBox="1"/>
            <p:nvPr/>
          </p:nvSpPr>
          <p:spPr>
            <a:xfrm>
              <a:off x="566928" y="2184296"/>
              <a:ext cx="1077218" cy="203048"/>
            </a:xfrm>
            <a:prstGeom prst="rect">
              <a:avLst/>
            </a:prstGeom>
            <a:noFill/>
          </p:spPr>
          <p:txBody>
            <a:bodyPr wrap="none" anchor="ctr" lIns="0" rIns="0" tIns="0" bIns="0">
              <a:noAutofit/>
            </a:bodyPr>
            <a:lstStyle/>
            <a:p>
              <a:pPr algn="l"/>
              <a:r>
                <a:rPr sz="1100" b="0">
                  <a:solidFill>
                    <a:srgbClr val="16202C"/>
                  </a:solidFill>
                  <a:latin typeface="맑은 고딕"/>
                  <a:ea typeface="맑은 고딕"/>
                  <a:cs typeface="맑은 고딕"/>
                </a:rPr>
                <a:t>K-EXAONE 236B</a:t>
              </a:r>
            </a:p>
          </p:txBody>
        </p:sp>
        <p:sp>
          <p:nvSpPr>
            <p:cNvPr id="17" name="Rectangle 16"/>
            <p:cNvSpPr/>
            <p:nvPr/>
          </p:nvSpPr>
          <p:spPr>
            <a:xfrm>
              <a:off x="2062674" y="2240119"/>
              <a:ext cx="1575876" cy="146904"/>
            </a:xfrm>
            <a:prstGeom prst="rect">
              <a:avLst/>
            </a:prstGeom>
            <a:solidFill>
              <a:srgbClr val="EEF2F7"/>
            </a:solidFill>
            <a:ln w="9348">
              <a:solidFill>
                <a:srgbClr val="5B6B7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705324" y="2184296"/>
              <a:ext cx="99140" cy="203048"/>
            </a:xfrm>
            <a:prstGeom prst="rect">
              <a:avLst/>
            </a:prstGeom>
            <a:noFill/>
          </p:spPr>
          <p:txBody>
            <a:bodyPr wrap="none" anchor="ctr" lIns="0" rIns="0" tIns="0" bIns="0">
              <a:noAutofit/>
            </a:bodyPr>
            <a:lstStyle/>
            <a:p>
              <a:pPr algn="l"/>
              <a:r>
                <a:rPr sz="1100" b="0">
                  <a:solidFill>
                    <a:srgbClr val="16202C"/>
                  </a:solidFill>
                  <a:latin typeface="맑은 고딕"/>
                  <a:ea typeface="맑은 고딕"/>
                  <a:cs typeface="맑은 고딕"/>
                </a:rPr>
                <a:t>-</a:t>
              </a:r>
            </a:p>
          </p:txBody>
        </p:sp>
        <p:sp>
          <p:nvSpPr>
            <p:cNvPr id="19" name="TextBox 18"/>
            <p:cNvSpPr txBox="1"/>
            <p:nvPr/>
          </p:nvSpPr>
          <p:spPr>
            <a:xfrm>
              <a:off x="566928" y="2371264"/>
              <a:ext cx="959428" cy="203048"/>
            </a:xfrm>
            <a:prstGeom prst="rect">
              <a:avLst/>
            </a:prstGeom>
            <a:noFill/>
          </p:spPr>
          <p:txBody>
            <a:bodyPr wrap="none" anchor="ctr" lIns="0" rIns="0" tIns="0" bIns="0">
              <a:noAutofit/>
            </a:bodyPr>
            <a:lstStyle/>
            <a:p>
              <a:pPr algn="l"/>
              <a:r>
                <a:rPr sz="1100" b="0">
                  <a:solidFill>
                    <a:srgbClr val="16202C"/>
                  </a:solidFill>
                  <a:latin typeface="맑은 고딕"/>
                  <a:ea typeface="맑은 고딕"/>
                  <a:cs typeface="맑은 고딕"/>
                </a:rPr>
                <a:t>Llama 3.3 70B</a:t>
              </a:r>
            </a:p>
          </p:txBody>
        </p:sp>
        <p:sp>
          <p:nvSpPr>
            <p:cNvPr id="20" name="Rectangle 19"/>
            <p:cNvSpPr/>
            <p:nvPr/>
          </p:nvSpPr>
          <p:spPr>
            <a:xfrm>
              <a:off x="2062674" y="2427088"/>
              <a:ext cx="1575876" cy="146904"/>
            </a:xfrm>
            <a:prstGeom prst="rect">
              <a:avLst/>
            </a:prstGeom>
            <a:solidFill>
              <a:srgbClr val="EEF2F7"/>
            </a:solidFill>
            <a:ln w="9348">
              <a:solidFill>
                <a:srgbClr val="5B6B7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3705324" y="2371264"/>
              <a:ext cx="99140" cy="203048"/>
            </a:xfrm>
            <a:prstGeom prst="rect">
              <a:avLst/>
            </a:prstGeom>
            <a:noFill/>
          </p:spPr>
          <p:txBody>
            <a:bodyPr wrap="none" anchor="ctr" lIns="0" rIns="0" tIns="0" bIns="0">
              <a:noAutofit/>
            </a:bodyPr>
            <a:lstStyle/>
            <a:p>
              <a:pPr algn="l"/>
              <a:r>
                <a:rPr sz="1100" b="0">
                  <a:solidFill>
                    <a:srgbClr val="16202C"/>
                  </a:solidFill>
                  <a:latin typeface="맑은 고딕"/>
                  <a:ea typeface="맑은 고딕"/>
                  <a:cs typeface="맑은 고딕"/>
                </a:rPr>
                <a:t>-</a:t>
              </a:r>
            </a:p>
          </p:txBody>
        </p:sp>
        <p:sp>
          <p:nvSpPr>
            <p:cNvPr id="22" name="TextBox 21"/>
            <p:cNvSpPr txBox="1"/>
            <p:nvPr/>
          </p:nvSpPr>
          <p:spPr>
            <a:xfrm>
              <a:off x="566928" y="2558233"/>
              <a:ext cx="786669" cy="203048"/>
            </a:xfrm>
            <a:prstGeom prst="rect">
              <a:avLst/>
            </a:prstGeom>
            <a:noFill/>
          </p:spPr>
          <p:txBody>
            <a:bodyPr wrap="none" anchor="ctr" lIns="0" rIns="0" tIns="0" bIns="0">
              <a:noAutofit/>
            </a:bodyPr>
            <a:lstStyle/>
            <a:p>
              <a:pPr algn="l"/>
              <a:r>
                <a:rPr sz="1100" b="0">
                  <a:solidFill>
                    <a:srgbClr val="16202C"/>
                  </a:solidFill>
                  <a:latin typeface="맑은 고딕"/>
                  <a:ea typeface="맑은 고딕"/>
                  <a:cs typeface="맑은 고딕"/>
                </a:rPr>
                <a:t>Qwen3 32B</a:t>
              </a:r>
            </a:p>
          </p:txBody>
        </p:sp>
        <p:sp>
          <p:nvSpPr>
            <p:cNvPr id="23" name="Rectangle 22"/>
            <p:cNvSpPr/>
            <p:nvPr/>
          </p:nvSpPr>
          <p:spPr>
            <a:xfrm>
              <a:off x="2062674" y="2614056"/>
              <a:ext cx="1575876" cy="146904"/>
            </a:xfrm>
            <a:prstGeom prst="rect">
              <a:avLst/>
            </a:prstGeom>
            <a:solidFill>
              <a:srgbClr val="EEF2F7"/>
            </a:solidFill>
            <a:ln w="9348">
              <a:solidFill>
                <a:srgbClr val="5B6B7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2062674" y="2614056"/>
              <a:ext cx="657140" cy="146904"/>
            </a:xfrm>
            <a:prstGeom prst="rect">
              <a:avLst/>
            </a:prstGeom>
            <a:solidFill>
              <a:srgbClr val="9DA5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3705324" y="2558233"/>
              <a:ext cx="322941" cy="203048"/>
            </a:xfrm>
            <a:prstGeom prst="rect">
              <a:avLst/>
            </a:prstGeom>
            <a:noFill/>
          </p:spPr>
          <p:txBody>
            <a:bodyPr wrap="none" anchor="ctr" lIns="0" rIns="0" tIns="0" bIns="0">
              <a:noAutofit/>
            </a:bodyPr>
            <a:lstStyle/>
            <a:p>
              <a:pPr algn="l"/>
              <a:r>
                <a:rPr sz="1100" b="0">
                  <a:solidFill>
                    <a:srgbClr val="16202C"/>
                  </a:solidFill>
                  <a:latin typeface="맑은 고딕"/>
                  <a:ea typeface="맑은 고딕"/>
                  <a:cs typeface="맑은 고딕"/>
                </a:rPr>
                <a:t>0.42</a:t>
              </a:r>
            </a:p>
          </p:txBody>
        </p:sp>
        <p:sp>
          <p:nvSpPr>
            <p:cNvPr id="26" name="TextBox 25"/>
            <p:cNvSpPr txBox="1"/>
            <p:nvPr/>
          </p:nvSpPr>
          <p:spPr>
            <a:xfrm>
              <a:off x="4306294" y="1810359"/>
              <a:ext cx="1090820" cy="203048"/>
            </a:xfrm>
            <a:prstGeom prst="rect">
              <a:avLst/>
            </a:prstGeom>
            <a:noFill/>
          </p:spPr>
          <p:txBody>
            <a:bodyPr wrap="none" anchor="ctr" lIns="0" rIns="0" tIns="0" bIns="0">
              <a:noAutofit/>
            </a:bodyPr>
            <a:lstStyle/>
            <a:p>
              <a:pPr algn="l"/>
              <a:r>
                <a:rPr sz="1100" b="0">
                  <a:solidFill>
                    <a:srgbClr val="16202C"/>
                  </a:solidFill>
                  <a:latin typeface="맑은 고딕"/>
                  <a:ea typeface="맑은 고딕"/>
                  <a:cs typeface="맑은 고딕"/>
                </a:rPr>
                <a:t>EXAONE 4.0 32B</a:t>
              </a:r>
            </a:p>
          </p:txBody>
        </p:sp>
        <p:sp>
          <p:nvSpPr>
            <p:cNvPr id="27" name="Rectangle 26"/>
            <p:cNvSpPr/>
            <p:nvPr/>
          </p:nvSpPr>
          <p:spPr>
            <a:xfrm>
              <a:off x="5802040" y="1866183"/>
              <a:ext cx="1575876" cy="146904"/>
            </a:xfrm>
            <a:prstGeom prst="rect">
              <a:avLst/>
            </a:prstGeom>
            <a:solidFill>
              <a:srgbClr val="EEF2F7"/>
            </a:solidFill>
            <a:ln w="9348">
              <a:solidFill>
                <a:srgbClr val="5B6B7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5802040" y="1866183"/>
              <a:ext cx="360876" cy="146904"/>
            </a:xfrm>
            <a:prstGeom prst="rect">
              <a:avLst/>
            </a:prstGeom>
            <a:solidFill>
              <a:srgbClr val="9DA5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444690" y="1810359"/>
              <a:ext cx="322941" cy="203048"/>
            </a:xfrm>
            <a:prstGeom prst="rect">
              <a:avLst/>
            </a:prstGeom>
            <a:noFill/>
          </p:spPr>
          <p:txBody>
            <a:bodyPr wrap="none" anchor="ctr" lIns="0" rIns="0" tIns="0" bIns="0">
              <a:noAutofit/>
            </a:bodyPr>
            <a:lstStyle/>
            <a:p>
              <a:pPr algn="l"/>
              <a:r>
                <a:rPr sz="1100" b="0">
                  <a:solidFill>
                    <a:srgbClr val="16202C"/>
                  </a:solidFill>
                  <a:latin typeface="맑은 고딕"/>
                  <a:ea typeface="맑은 고딕"/>
                  <a:cs typeface="맑은 고딕"/>
                </a:rPr>
                <a:t>0.23</a:t>
              </a:r>
            </a:p>
          </p:txBody>
        </p:sp>
        <p:sp>
          <p:nvSpPr>
            <p:cNvPr id="30" name="TextBox 29"/>
            <p:cNvSpPr txBox="1"/>
            <p:nvPr/>
          </p:nvSpPr>
          <p:spPr>
            <a:xfrm>
              <a:off x="4306294" y="1997328"/>
              <a:ext cx="989156" cy="203048"/>
            </a:xfrm>
            <a:prstGeom prst="rect">
              <a:avLst/>
            </a:prstGeom>
            <a:noFill/>
          </p:spPr>
          <p:txBody>
            <a:bodyPr wrap="none" anchor="ctr" lIns="0" rIns="0" tIns="0" bIns="0">
              <a:noAutofit/>
            </a:bodyPr>
            <a:lstStyle/>
            <a:p>
              <a:pPr algn="l"/>
              <a:r>
                <a:rPr sz="1100" b="0">
                  <a:solidFill>
                    <a:srgbClr val="16202C"/>
                  </a:solidFill>
                  <a:latin typeface="맑은 고딕"/>
                  <a:ea typeface="맑은 고딕"/>
                  <a:cs typeface="맑은 고딕"/>
                </a:rPr>
                <a:t>Qwen3-VL 32B</a:t>
              </a:r>
            </a:p>
          </p:txBody>
        </p:sp>
        <p:sp>
          <p:nvSpPr>
            <p:cNvPr id="31" name="Rectangle 30"/>
            <p:cNvSpPr/>
            <p:nvPr/>
          </p:nvSpPr>
          <p:spPr>
            <a:xfrm>
              <a:off x="5802040" y="2053151"/>
              <a:ext cx="1575876" cy="146904"/>
            </a:xfrm>
            <a:prstGeom prst="rect">
              <a:avLst/>
            </a:prstGeom>
            <a:solidFill>
              <a:srgbClr val="EEF2F7"/>
            </a:solidFill>
            <a:ln w="9348">
              <a:solidFill>
                <a:srgbClr val="5B6B7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7444690" y="1997328"/>
              <a:ext cx="99140" cy="203048"/>
            </a:xfrm>
            <a:prstGeom prst="rect">
              <a:avLst/>
            </a:prstGeom>
            <a:noFill/>
          </p:spPr>
          <p:txBody>
            <a:bodyPr wrap="none" anchor="ctr" lIns="0" rIns="0" tIns="0" bIns="0">
              <a:noAutofit/>
            </a:bodyPr>
            <a:lstStyle/>
            <a:p>
              <a:pPr algn="l"/>
              <a:r>
                <a:rPr sz="1100" b="0">
                  <a:solidFill>
                    <a:srgbClr val="16202C"/>
                  </a:solidFill>
                  <a:latin typeface="맑은 고딕"/>
                  <a:ea typeface="맑은 고딕"/>
                  <a:cs typeface="맑은 고딕"/>
                </a:rPr>
                <a:t>-</a:t>
              </a:r>
            </a:p>
          </p:txBody>
        </p:sp>
        <p:sp>
          <p:nvSpPr>
            <p:cNvPr id="33" name="TextBox 32"/>
            <p:cNvSpPr txBox="1"/>
            <p:nvPr/>
          </p:nvSpPr>
          <p:spPr>
            <a:xfrm>
              <a:off x="4306294" y="2184296"/>
              <a:ext cx="1228802" cy="203048"/>
            </a:xfrm>
            <a:prstGeom prst="rect">
              <a:avLst/>
            </a:prstGeom>
            <a:noFill/>
          </p:spPr>
          <p:txBody>
            <a:bodyPr wrap="none" anchor="ctr" lIns="0" rIns="0" tIns="0" bIns="0">
              <a:noAutofit/>
            </a:bodyPr>
            <a:lstStyle/>
            <a:p>
              <a:pPr algn="l"/>
              <a:r>
                <a:rPr sz="1100" b="0">
                  <a:solidFill>
                    <a:srgbClr val="16202C"/>
                  </a:solidFill>
                  <a:latin typeface="맑은 고딕"/>
                  <a:ea typeface="맑은 고딕"/>
                  <a:cs typeface="맑은 고딕"/>
                </a:rPr>
                <a:t>Qwen3-Coder 30B</a:t>
              </a:r>
            </a:p>
          </p:txBody>
        </p:sp>
        <p:sp>
          <p:nvSpPr>
            <p:cNvPr id="34" name="Rectangle 33"/>
            <p:cNvSpPr/>
            <p:nvPr/>
          </p:nvSpPr>
          <p:spPr>
            <a:xfrm>
              <a:off x="5802040" y="2240119"/>
              <a:ext cx="1575876" cy="146904"/>
            </a:xfrm>
            <a:prstGeom prst="rect">
              <a:avLst/>
            </a:prstGeom>
            <a:solidFill>
              <a:srgbClr val="EEF2F7"/>
            </a:solidFill>
            <a:ln w="9348">
              <a:solidFill>
                <a:srgbClr val="5B6B7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5802040" y="2240119"/>
              <a:ext cx="225350" cy="146904"/>
            </a:xfrm>
            <a:prstGeom prst="rect">
              <a:avLst/>
            </a:prstGeom>
            <a:solidFill>
              <a:srgbClr val="9DA5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7444690" y="2184296"/>
              <a:ext cx="322941" cy="203048"/>
            </a:xfrm>
            <a:prstGeom prst="rect">
              <a:avLst/>
            </a:prstGeom>
            <a:noFill/>
          </p:spPr>
          <p:txBody>
            <a:bodyPr wrap="none" anchor="ctr" lIns="0" rIns="0" tIns="0" bIns="0">
              <a:noAutofit/>
            </a:bodyPr>
            <a:lstStyle/>
            <a:p>
              <a:pPr algn="l"/>
              <a:r>
                <a:rPr sz="1100" b="0">
                  <a:solidFill>
                    <a:srgbClr val="16202C"/>
                  </a:solidFill>
                  <a:latin typeface="맑은 고딕"/>
                  <a:ea typeface="맑은 고딕"/>
                  <a:cs typeface="맑은 고딕"/>
                </a:rPr>
                <a:t>0.14</a:t>
              </a:r>
            </a:p>
          </p:txBody>
        </p:sp>
        <p:sp>
          <p:nvSpPr>
            <p:cNvPr id="37" name="TextBox 36"/>
            <p:cNvSpPr txBox="1"/>
            <p:nvPr/>
          </p:nvSpPr>
          <p:spPr>
            <a:xfrm>
              <a:off x="4306294" y="2371264"/>
              <a:ext cx="1184210" cy="203048"/>
            </a:xfrm>
            <a:prstGeom prst="rect">
              <a:avLst/>
            </a:prstGeom>
            <a:noFill/>
          </p:spPr>
          <p:txBody>
            <a:bodyPr wrap="none" anchor="ctr" lIns="0" rIns="0" tIns="0" bIns="0">
              <a:noAutofit/>
            </a:bodyPr>
            <a:lstStyle/>
            <a:p>
              <a:pPr algn="l"/>
              <a:r>
                <a:rPr sz="1100" b="0">
                  <a:solidFill>
                    <a:srgbClr val="16202C"/>
                  </a:solidFill>
                  <a:latin typeface="맑은 고딕"/>
                  <a:ea typeface="맑은 고딕"/>
                  <a:cs typeface="맑은 고딕"/>
                </a:rPr>
                <a:t>A3B Instruct 2507</a:t>
              </a:r>
            </a:p>
          </p:txBody>
        </p:sp>
        <p:sp>
          <p:nvSpPr>
            <p:cNvPr id="38" name="Rectangle 37"/>
            <p:cNvSpPr/>
            <p:nvPr/>
          </p:nvSpPr>
          <p:spPr>
            <a:xfrm>
              <a:off x="5802040" y="2427088"/>
              <a:ext cx="1575876" cy="146904"/>
            </a:xfrm>
            <a:prstGeom prst="rect">
              <a:avLst/>
            </a:prstGeom>
            <a:solidFill>
              <a:srgbClr val="EEF2F7"/>
            </a:solidFill>
            <a:ln w="9348">
              <a:solidFill>
                <a:srgbClr val="5B6B7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5802040" y="2427088"/>
              <a:ext cx="146556" cy="146904"/>
            </a:xfrm>
            <a:prstGeom prst="rect">
              <a:avLst/>
            </a:prstGeom>
            <a:solidFill>
              <a:srgbClr val="9DA5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7444690" y="2371264"/>
              <a:ext cx="322941" cy="203048"/>
            </a:xfrm>
            <a:prstGeom prst="rect">
              <a:avLst/>
            </a:prstGeom>
            <a:noFill/>
          </p:spPr>
          <p:txBody>
            <a:bodyPr wrap="none" anchor="ctr" lIns="0" rIns="0" tIns="0" bIns="0">
              <a:noAutofit/>
            </a:bodyPr>
            <a:lstStyle/>
            <a:p>
              <a:pPr algn="l"/>
              <a:r>
                <a:rPr sz="1100" b="0">
                  <a:solidFill>
                    <a:srgbClr val="16202C"/>
                  </a:solidFill>
                  <a:latin typeface="맑은 고딕"/>
                  <a:ea typeface="맑은 고딕"/>
                  <a:cs typeface="맑은 고딕"/>
                </a:rPr>
                <a:t>0.09</a:t>
              </a:r>
            </a:p>
          </p:txBody>
        </p:sp>
        <p:sp>
          <p:nvSpPr>
            <p:cNvPr id="41" name="TextBox 40"/>
            <p:cNvSpPr txBox="1"/>
            <p:nvPr/>
          </p:nvSpPr>
          <p:spPr>
            <a:xfrm>
              <a:off x="4306294" y="2558233"/>
              <a:ext cx="1253622" cy="203048"/>
            </a:xfrm>
            <a:prstGeom prst="rect">
              <a:avLst/>
            </a:prstGeom>
            <a:noFill/>
          </p:spPr>
          <p:txBody>
            <a:bodyPr wrap="none" anchor="ctr" lIns="0" rIns="0" tIns="0" bIns="0">
              <a:noAutofit/>
            </a:bodyPr>
            <a:lstStyle/>
            <a:p>
              <a:pPr algn="l"/>
              <a:r>
                <a:rPr sz="1100" b="0">
                  <a:solidFill>
                    <a:srgbClr val="16202C"/>
                  </a:solidFill>
                  <a:latin typeface="맑은 고딕"/>
                  <a:ea typeface="맑은 고딕"/>
                  <a:cs typeface="맑은 고딕"/>
                </a:rPr>
                <a:t>A3B Thinking 2507</a:t>
              </a:r>
            </a:p>
          </p:txBody>
        </p:sp>
        <p:sp>
          <p:nvSpPr>
            <p:cNvPr id="42" name="Rectangle 41"/>
            <p:cNvSpPr/>
            <p:nvPr/>
          </p:nvSpPr>
          <p:spPr>
            <a:xfrm>
              <a:off x="5802040" y="2614056"/>
              <a:ext cx="1575876" cy="146904"/>
            </a:xfrm>
            <a:prstGeom prst="rect">
              <a:avLst/>
            </a:prstGeom>
            <a:solidFill>
              <a:srgbClr val="EEF2F7"/>
            </a:solidFill>
            <a:ln w="9348">
              <a:solidFill>
                <a:srgbClr val="5B6B7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5802040" y="2614056"/>
              <a:ext cx="304144" cy="146904"/>
            </a:xfrm>
            <a:prstGeom prst="rect">
              <a:avLst/>
            </a:prstGeom>
            <a:solidFill>
              <a:srgbClr val="9DA5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7444690" y="2558233"/>
              <a:ext cx="322941" cy="203048"/>
            </a:xfrm>
            <a:prstGeom prst="rect">
              <a:avLst/>
            </a:prstGeom>
            <a:noFill/>
          </p:spPr>
          <p:txBody>
            <a:bodyPr wrap="none" anchor="ctr" lIns="0" rIns="0" tIns="0" bIns="0">
              <a:noAutofit/>
            </a:bodyPr>
            <a:lstStyle/>
            <a:p>
              <a:pPr algn="l"/>
              <a:r>
                <a:rPr sz="1100" b="0">
                  <a:solidFill>
                    <a:srgbClr val="16202C"/>
                  </a:solidFill>
                  <a:latin typeface="맑은 고딕"/>
                  <a:ea typeface="맑은 고딕"/>
                  <a:cs typeface="맑은 고딕"/>
                </a:rPr>
                <a:t>0.19</a:t>
              </a:r>
            </a:p>
          </p:txBody>
        </p:sp>
        <p:sp>
          <p:nvSpPr>
            <p:cNvPr id="45" name="TextBox 44"/>
            <p:cNvSpPr txBox="1"/>
            <p:nvPr/>
          </p:nvSpPr>
          <p:spPr>
            <a:xfrm>
              <a:off x="8045660" y="1810359"/>
              <a:ext cx="584884" cy="203048"/>
            </a:xfrm>
            <a:prstGeom prst="rect">
              <a:avLst/>
            </a:prstGeom>
            <a:noFill/>
          </p:spPr>
          <p:txBody>
            <a:bodyPr wrap="none" anchor="ctr" lIns="0" rIns="0" tIns="0" bIns="0">
              <a:noAutofit/>
            </a:bodyPr>
            <a:lstStyle/>
            <a:p>
              <a:pPr algn="l"/>
              <a:r>
                <a:rPr sz="1100" b="0">
                  <a:solidFill>
                    <a:srgbClr val="16202C"/>
                  </a:solidFill>
                  <a:latin typeface="맑은 고딕"/>
                  <a:ea typeface="맑은 고딕"/>
                  <a:cs typeface="맑은 고딕"/>
                </a:rPr>
                <a:t>A3B 30B</a:t>
              </a:r>
            </a:p>
          </p:txBody>
        </p:sp>
        <p:sp>
          <p:nvSpPr>
            <p:cNvPr id="46" name="Rectangle 45"/>
            <p:cNvSpPr/>
            <p:nvPr/>
          </p:nvSpPr>
          <p:spPr>
            <a:xfrm>
              <a:off x="9541406" y="1866183"/>
              <a:ext cx="1575876" cy="146904"/>
            </a:xfrm>
            <a:prstGeom prst="rect">
              <a:avLst/>
            </a:prstGeom>
            <a:solidFill>
              <a:srgbClr val="EEF2F7"/>
            </a:solidFill>
            <a:ln w="9348">
              <a:solidFill>
                <a:srgbClr val="5B6B7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11184056" y="1810359"/>
              <a:ext cx="99140" cy="203048"/>
            </a:xfrm>
            <a:prstGeom prst="rect">
              <a:avLst/>
            </a:prstGeom>
            <a:noFill/>
          </p:spPr>
          <p:txBody>
            <a:bodyPr wrap="none" anchor="ctr" lIns="0" rIns="0" tIns="0" bIns="0">
              <a:noAutofit/>
            </a:bodyPr>
            <a:lstStyle/>
            <a:p>
              <a:pPr algn="l"/>
              <a:r>
                <a:rPr sz="1100" b="0">
                  <a:solidFill>
                    <a:srgbClr val="16202C"/>
                  </a:solidFill>
                  <a:latin typeface="맑은 고딕"/>
                  <a:ea typeface="맑은 고딕"/>
                  <a:cs typeface="맑은 고딕"/>
                </a:rPr>
                <a:t>-</a:t>
              </a:r>
            </a:p>
          </p:txBody>
        </p:sp>
        <p:sp>
          <p:nvSpPr>
            <p:cNvPr id="48" name="TextBox 47"/>
            <p:cNvSpPr txBox="1"/>
            <p:nvPr/>
          </p:nvSpPr>
          <p:spPr>
            <a:xfrm>
              <a:off x="8045660" y="1997328"/>
              <a:ext cx="881602" cy="203048"/>
            </a:xfrm>
            <a:prstGeom prst="rect">
              <a:avLst/>
            </a:prstGeom>
            <a:noFill/>
          </p:spPr>
          <p:txBody>
            <a:bodyPr wrap="none" anchor="ctr" lIns="0" rIns="0" tIns="0" bIns="0">
              <a:noAutofit/>
            </a:bodyPr>
            <a:lstStyle/>
            <a:p>
              <a:pPr algn="l"/>
              <a:r>
                <a:rPr sz="1100" b="0">
                  <a:solidFill>
                    <a:srgbClr val="16202C"/>
                  </a:solidFill>
                  <a:latin typeface="맑은 고딕"/>
                  <a:ea typeface="맑은 고딕"/>
                  <a:cs typeface="맑은 고딕"/>
                </a:rPr>
                <a:t>Llama 3.1 8B</a:t>
              </a:r>
            </a:p>
          </p:txBody>
        </p:sp>
        <p:sp>
          <p:nvSpPr>
            <p:cNvPr id="49" name="Rectangle 48"/>
            <p:cNvSpPr/>
            <p:nvPr/>
          </p:nvSpPr>
          <p:spPr>
            <a:xfrm>
              <a:off x="9541406" y="2053151"/>
              <a:ext cx="1575876" cy="146904"/>
            </a:xfrm>
            <a:prstGeom prst="rect">
              <a:avLst/>
            </a:prstGeom>
            <a:solidFill>
              <a:srgbClr val="EEF2F7"/>
            </a:solidFill>
            <a:ln w="9348">
              <a:solidFill>
                <a:srgbClr val="5B6B7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Rectangle 49"/>
            <p:cNvSpPr/>
            <p:nvPr/>
          </p:nvSpPr>
          <p:spPr>
            <a:xfrm>
              <a:off x="9541406" y="2053151"/>
              <a:ext cx="58307" cy="146904"/>
            </a:xfrm>
            <a:prstGeom prst="rect">
              <a:avLst/>
            </a:prstGeom>
            <a:solidFill>
              <a:srgbClr val="FFD3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11184056" y="1997328"/>
              <a:ext cx="322941" cy="203048"/>
            </a:xfrm>
            <a:prstGeom prst="rect">
              <a:avLst/>
            </a:prstGeom>
            <a:noFill/>
          </p:spPr>
          <p:txBody>
            <a:bodyPr wrap="none" anchor="ctr" lIns="0" rIns="0" tIns="0" bIns="0">
              <a:noAutofit/>
            </a:bodyPr>
            <a:lstStyle/>
            <a:p>
              <a:pPr algn="l"/>
              <a:r>
                <a:rPr sz="1100" b="0">
                  <a:solidFill>
                    <a:srgbClr val="16202C"/>
                  </a:solidFill>
                  <a:latin typeface="맑은 고딕"/>
                  <a:ea typeface="맑은 고딕"/>
                  <a:cs typeface="맑은 고딕"/>
                </a:rPr>
                <a:t>0.04</a:t>
              </a:r>
            </a:p>
          </p:txBody>
        </p:sp>
        <p:sp>
          <p:nvSpPr>
            <p:cNvPr id="52" name="TextBox 51"/>
            <p:cNvSpPr txBox="1"/>
            <p:nvPr/>
          </p:nvSpPr>
          <p:spPr>
            <a:xfrm>
              <a:off x="8045660" y="2184296"/>
              <a:ext cx="708844" cy="203048"/>
            </a:xfrm>
            <a:prstGeom prst="rect">
              <a:avLst/>
            </a:prstGeom>
            <a:noFill/>
          </p:spPr>
          <p:txBody>
            <a:bodyPr wrap="none" anchor="ctr" lIns="0" rIns="0" tIns="0" bIns="0">
              <a:noAutofit/>
            </a:bodyPr>
            <a:lstStyle/>
            <a:p>
              <a:pPr algn="l"/>
              <a:r>
                <a:rPr sz="1100" b="0">
                  <a:solidFill>
                    <a:srgbClr val="16202C"/>
                  </a:solidFill>
                  <a:latin typeface="맑은 고딕"/>
                  <a:ea typeface="맑은 고딕"/>
                  <a:cs typeface="맑은 고딕"/>
                </a:rPr>
                <a:t>Qwen3 8B</a:t>
              </a:r>
            </a:p>
          </p:txBody>
        </p:sp>
        <p:sp>
          <p:nvSpPr>
            <p:cNvPr id="53" name="Rectangle 52"/>
            <p:cNvSpPr/>
            <p:nvPr/>
          </p:nvSpPr>
          <p:spPr>
            <a:xfrm>
              <a:off x="9541406" y="2240119"/>
              <a:ext cx="1575876" cy="146904"/>
            </a:xfrm>
            <a:prstGeom prst="rect">
              <a:avLst/>
            </a:prstGeom>
            <a:solidFill>
              <a:srgbClr val="EEF2F7"/>
            </a:solidFill>
            <a:ln w="9348">
              <a:solidFill>
                <a:srgbClr val="5B6B7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Rectangle 53"/>
            <p:cNvSpPr/>
            <p:nvPr/>
          </p:nvSpPr>
          <p:spPr>
            <a:xfrm>
              <a:off x="9541406" y="2240119"/>
              <a:ext cx="264747" cy="146904"/>
            </a:xfrm>
            <a:prstGeom prst="rect">
              <a:avLst/>
            </a:prstGeom>
            <a:solidFill>
              <a:srgbClr val="FFD3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11184056" y="2184296"/>
              <a:ext cx="322941" cy="203048"/>
            </a:xfrm>
            <a:prstGeom prst="rect">
              <a:avLst/>
            </a:prstGeom>
            <a:noFill/>
          </p:spPr>
          <p:txBody>
            <a:bodyPr wrap="none" anchor="ctr" lIns="0" rIns="0" tIns="0" bIns="0">
              <a:noAutofit/>
            </a:bodyPr>
            <a:lstStyle/>
            <a:p>
              <a:pPr algn="l"/>
              <a:r>
                <a:rPr sz="1100" b="0">
                  <a:solidFill>
                    <a:srgbClr val="16202C"/>
                  </a:solidFill>
                  <a:latin typeface="맑은 고딕"/>
                  <a:ea typeface="맑은 고딕"/>
                  <a:cs typeface="맑은 고딕"/>
                </a:rPr>
                <a:t>0.17</a:t>
              </a:r>
            </a:p>
          </p:txBody>
        </p:sp>
        <p:sp>
          <p:nvSpPr>
            <p:cNvPr id="56" name="TextBox 55"/>
            <p:cNvSpPr txBox="1"/>
            <p:nvPr/>
          </p:nvSpPr>
          <p:spPr>
            <a:xfrm>
              <a:off x="8045660" y="2371264"/>
              <a:ext cx="708844" cy="203048"/>
            </a:xfrm>
            <a:prstGeom prst="rect">
              <a:avLst/>
            </a:prstGeom>
            <a:noFill/>
          </p:spPr>
          <p:txBody>
            <a:bodyPr wrap="none" anchor="ctr" lIns="0" rIns="0" tIns="0" bIns="0">
              <a:noAutofit/>
            </a:bodyPr>
            <a:lstStyle/>
            <a:p>
              <a:pPr algn="l"/>
              <a:r>
                <a:rPr sz="1100" b="0">
                  <a:solidFill>
                    <a:srgbClr val="16202C"/>
                  </a:solidFill>
                  <a:latin typeface="맑은 고딕"/>
                  <a:ea typeface="맑은 고딕"/>
                  <a:cs typeface="맑은 고딕"/>
                </a:rPr>
                <a:t>Qwen3 4B</a:t>
              </a:r>
            </a:p>
          </p:txBody>
        </p:sp>
        <p:sp>
          <p:nvSpPr>
            <p:cNvPr id="57" name="Rectangle 56"/>
            <p:cNvSpPr/>
            <p:nvPr/>
          </p:nvSpPr>
          <p:spPr>
            <a:xfrm>
              <a:off x="9541406" y="2427088"/>
              <a:ext cx="1575876" cy="146904"/>
            </a:xfrm>
            <a:prstGeom prst="rect">
              <a:avLst/>
            </a:prstGeom>
            <a:solidFill>
              <a:srgbClr val="EEF2F7"/>
            </a:solidFill>
            <a:ln w="9348">
              <a:solidFill>
                <a:srgbClr val="5B6B7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Rectangle 57"/>
            <p:cNvSpPr/>
            <p:nvPr/>
          </p:nvSpPr>
          <p:spPr>
            <a:xfrm>
              <a:off x="9541406" y="2427088"/>
              <a:ext cx="312023" cy="146904"/>
            </a:xfrm>
            <a:prstGeom prst="rect">
              <a:avLst/>
            </a:prstGeom>
            <a:solidFill>
              <a:srgbClr val="FFD3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11184056" y="2371264"/>
              <a:ext cx="322941" cy="203048"/>
            </a:xfrm>
            <a:prstGeom prst="rect">
              <a:avLst/>
            </a:prstGeom>
            <a:noFill/>
          </p:spPr>
          <p:txBody>
            <a:bodyPr wrap="none" anchor="ctr" lIns="0" rIns="0" tIns="0" bIns="0">
              <a:noAutofit/>
            </a:bodyPr>
            <a:lstStyle/>
            <a:p>
              <a:pPr algn="l"/>
              <a:r>
                <a:rPr sz="1100" b="0">
                  <a:solidFill>
                    <a:srgbClr val="16202C"/>
                  </a:solidFill>
                  <a:latin typeface="맑은 고딕"/>
                  <a:ea typeface="맑은 고딕"/>
                  <a:cs typeface="맑은 고딕"/>
                </a:rPr>
                <a:t>0.20</a:t>
              </a:r>
            </a:p>
          </p:txBody>
        </p:sp>
        <p:sp>
          <p:nvSpPr>
            <p:cNvPr id="60" name="TextBox 59"/>
            <p:cNvSpPr txBox="1"/>
            <p:nvPr/>
          </p:nvSpPr>
          <p:spPr>
            <a:xfrm>
              <a:off x="8045660" y="2558233"/>
              <a:ext cx="942460" cy="203048"/>
            </a:xfrm>
            <a:prstGeom prst="rect">
              <a:avLst/>
            </a:prstGeom>
            <a:noFill/>
          </p:spPr>
          <p:txBody>
            <a:bodyPr wrap="none" anchor="ctr" lIns="0" rIns="0" tIns="0" bIns="0">
              <a:noAutofit/>
            </a:bodyPr>
            <a:lstStyle/>
            <a:p>
              <a:pPr algn="l"/>
              <a:r>
                <a:rPr sz="1100" b="0">
                  <a:solidFill>
                    <a:srgbClr val="16202C"/>
                  </a:solidFill>
                  <a:latin typeface="맑은 고딕"/>
                  <a:ea typeface="맑은 고딕"/>
                  <a:cs typeface="맑은 고딕"/>
                </a:rPr>
                <a:t>Qwen2.5 0.5B</a:t>
              </a:r>
            </a:p>
          </p:txBody>
        </p:sp>
        <p:sp>
          <p:nvSpPr>
            <p:cNvPr id="61" name="Rectangle 60"/>
            <p:cNvSpPr/>
            <p:nvPr/>
          </p:nvSpPr>
          <p:spPr>
            <a:xfrm>
              <a:off x="9541406" y="2614056"/>
              <a:ext cx="1575876" cy="146904"/>
            </a:xfrm>
            <a:prstGeom prst="rect">
              <a:avLst/>
            </a:prstGeom>
            <a:solidFill>
              <a:srgbClr val="EEF2F7"/>
            </a:solidFill>
            <a:ln w="9348">
              <a:solidFill>
                <a:srgbClr val="5B6B7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Rectangle 61"/>
            <p:cNvSpPr/>
            <p:nvPr/>
          </p:nvSpPr>
          <p:spPr>
            <a:xfrm>
              <a:off x="9541406" y="2614056"/>
              <a:ext cx="53580" cy="146904"/>
            </a:xfrm>
            <a:prstGeom prst="rect">
              <a:avLst/>
            </a:prstGeom>
            <a:solidFill>
              <a:srgbClr val="FFD3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TextBox 62"/>
            <p:cNvSpPr txBox="1"/>
            <p:nvPr/>
          </p:nvSpPr>
          <p:spPr>
            <a:xfrm>
              <a:off x="11184056" y="2558233"/>
              <a:ext cx="322941" cy="203048"/>
            </a:xfrm>
            <a:prstGeom prst="rect">
              <a:avLst/>
            </a:prstGeom>
            <a:noFill/>
          </p:spPr>
          <p:txBody>
            <a:bodyPr wrap="none" anchor="ctr" lIns="0" rIns="0" tIns="0" bIns="0">
              <a:noAutofit/>
            </a:bodyPr>
            <a:lstStyle/>
            <a:p>
              <a:pPr algn="l"/>
              <a:r>
                <a:rPr sz="1100" b="0">
                  <a:solidFill>
                    <a:srgbClr val="16202C"/>
                  </a:solidFill>
                  <a:latin typeface="맑은 고딕"/>
                  <a:ea typeface="맑은 고딕"/>
                  <a:cs typeface="맑은 고딕"/>
                </a:rPr>
                <a:t>0.03</a:t>
              </a:r>
            </a:p>
          </p:txBody>
        </p:sp>
        <p:sp>
          <p:nvSpPr>
            <p:cNvPr id="64" name="TextBox 63"/>
            <p:cNvSpPr txBox="1"/>
            <p:nvPr/>
          </p:nvSpPr>
          <p:spPr>
            <a:xfrm>
              <a:off x="566928" y="2771911"/>
              <a:ext cx="3624006" cy="203048"/>
            </a:xfrm>
            <a:prstGeom prst="rect">
              <a:avLst/>
            </a:prstGeom>
            <a:noFill/>
          </p:spPr>
          <p:txBody>
            <a:bodyPr wrap="none" anchor="ctr" lIns="0" rIns="0" tIns="0" bIns="0">
              <a:noAutofit/>
            </a:bodyPr>
            <a:lstStyle/>
            <a:p>
              <a:pPr algn="l"/>
              <a:r>
                <a:rPr sz="1100" b="0">
                  <a:solidFill>
                    <a:srgbClr val="5B6B7B"/>
                  </a:solidFill>
                  <a:latin typeface="맑은 고딕"/>
                  <a:ea typeface="맑은 고딕"/>
                  <a:cs typeface="맑은 고딕"/>
                </a:rPr>
                <a:t>전부 0.5초 안쪽이라 사람이 느끼는 첫 반응은 모델을 안 가린다</a:t>
              </a:r>
            </a:p>
          </p:txBody>
        </p:sp>
        <p:sp>
          <p:nvSpPr>
            <p:cNvPr id="65" name="TextBox 64"/>
            <p:cNvSpPr txBox="1"/>
            <p:nvPr/>
          </p:nvSpPr>
          <p:spPr>
            <a:xfrm>
              <a:off x="566928" y="3050226"/>
              <a:ext cx="4285988" cy="222385"/>
            </a:xfrm>
            <a:prstGeom prst="rect">
              <a:avLst/>
            </a:prstGeom>
            <a:noFill/>
          </p:spPr>
          <p:txBody>
            <a:bodyPr wrap="none" anchor="ctr" lIns="0" rIns="0" tIns="0" bIns="0">
              <a:noAutofit/>
            </a:bodyPr>
            <a:lstStyle/>
            <a:p>
              <a:pPr algn="l"/>
              <a:r>
                <a:rPr sz="1210" b="1">
                  <a:solidFill>
                    <a:srgbClr val="16202C"/>
                  </a:solidFill>
                  <a:latin typeface="맑은 고딕"/>
                  <a:ea typeface="맑은 고딕"/>
                  <a:cs typeface="맑은 고딕"/>
                </a:rPr>
                <a:t>(b) 짧은 질문 하나에 답이 다 나올 때까지, 초. 별표는 사고하는 모델</a:t>
              </a:r>
            </a:p>
          </p:txBody>
        </p:sp>
        <p:sp>
          <p:nvSpPr>
            <p:cNvPr id="66" name="TextBox 65"/>
            <p:cNvSpPr txBox="1"/>
            <p:nvPr/>
          </p:nvSpPr>
          <p:spPr>
            <a:xfrm>
              <a:off x="566928" y="3306106"/>
              <a:ext cx="884547" cy="203048"/>
            </a:xfrm>
            <a:prstGeom prst="rect">
              <a:avLst/>
            </a:prstGeom>
            <a:noFill/>
          </p:spPr>
          <p:txBody>
            <a:bodyPr wrap="none" anchor="ctr" lIns="0" rIns="0" tIns="0" bIns="0">
              <a:noAutofit/>
            </a:bodyPr>
            <a:lstStyle/>
            <a:p>
              <a:pPr algn="l"/>
              <a:r>
                <a:rPr sz="1100" b="0">
                  <a:solidFill>
                    <a:srgbClr val="16202C"/>
                  </a:solidFill>
                  <a:latin typeface="맑은 고딕"/>
                  <a:ea typeface="맑은 고딕"/>
                  <a:cs typeface="맑은 고딕"/>
                </a:rPr>
                <a:t>gpt-oss 120B</a:t>
              </a:r>
            </a:p>
          </p:txBody>
        </p:sp>
        <p:sp>
          <p:nvSpPr>
            <p:cNvPr id="67" name="Rectangle 66"/>
            <p:cNvSpPr/>
            <p:nvPr/>
          </p:nvSpPr>
          <p:spPr>
            <a:xfrm>
              <a:off x="2062674" y="3361929"/>
              <a:ext cx="1575876" cy="146904"/>
            </a:xfrm>
            <a:prstGeom prst="rect">
              <a:avLst/>
            </a:prstGeom>
            <a:solidFill>
              <a:srgbClr val="EEF2F7"/>
            </a:solidFill>
            <a:ln w="9348">
              <a:solidFill>
                <a:srgbClr val="5B6B7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TextBox 67"/>
            <p:cNvSpPr txBox="1"/>
            <p:nvPr/>
          </p:nvSpPr>
          <p:spPr>
            <a:xfrm>
              <a:off x="3705324" y="3306106"/>
              <a:ext cx="99140" cy="203048"/>
            </a:xfrm>
            <a:prstGeom prst="rect">
              <a:avLst/>
            </a:prstGeom>
            <a:noFill/>
          </p:spPr>
          <p:txBody>
            <a:bodyPr wrap="none" anchor="ctr" lIns="0" rIns="0" tIns="0" bIns="0">
              <a:noAutofit/>
            </a:bodyPr>
            <a:lstStyle/>
            <a:p>
              <a:pPr algn="l"/>
              <a:r>
                <a:rPr sz="1100" b="0">
                  <a:solidFill>
                    <a:srgbClr val="16202C"/>
                  </a:solidFill>
                  <a:latin typeface="맑은 고딕"/>
                  <a:ea typeface="맑은 고딕"/>
                  <a:cs typeface="맑은 고딕"/>
                </a:rPr>
                <a:t>-</a:t>
              </a:r>
            </a:p>
          </p:txBody>
        </p:sp>
        <p:sp>
          <p:nvSpPr>
            <p:cNvPr id="69" name="TextBox 68"/>
            <p:cNvSpPr txBox="1"/>
            <p:nvPr/>
          </p:nvSpPr>
          <p:spPr>
            <a:xfrm>
              <a:off x="566928" y="3493074"/>
              <a:ext cx="1245209" cy="203048"/>
            </a:xfrm>
            <a:prstGeom prst="rect">
              <a:avLst/>
            </a:prstGeom>
            <a:noFill/>
          </p:spPr>
          <p:txBody>
            <a:bodyPr wrap="none" anchor="ctr" lIns="0" rIns="0" tIns="0" bIns="0">
              <a:noAutofit/>
            </a:bodyPr>
            <a:lstStyle/>
            <a:p>
              <a:pPr algn="l"/>
              <a:r>
                <a:rPr sz="1100" b="0">
                  <a:solidFill>
                    <a:srgbClr val="16202C"/>
                  </a:solidFill>
                  <a:latin typeface="맑은 고딕"/>
                  <a:ea typeface="맑은 고딕"/>
                  <a:cs typeface="맑은 고딕"/>
                </a:rPr>
                <a:t>Solar-Open 100B *</a:t>
              </a:r>
            </a:p>
          </p:txBody>
        </p:sp>
        <p:sp>
          <p:nvSpPr>
            <p:cNvPr id="70" name="Rectangle 69"/>
            <p:cNvSpPr/>
            <p:nvPr/>
          </p:nvSpPr>
          <p:spPr>
            <a:xfrm>
              <a:off x="2062674" y="3548897"/>
              <a:ext cx="1575876" cy="146904"/>
            </a:xfrm>
            <a:prstGeom prst="rect">
              <a:avLst/>
            </a:prstGeom>
            <a:solidFill>
              <a:srgbClr val="EEF2F7"/>
            </a:solidFill>
            <a:ln w="9348">
              <a:solidFill>
                <a:srgbClr val="5B6B7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TextBox 70"/>
            <p:cNvSpPr txBox="1"/>
            <p:nvPr/>
          </p:nvSpPr>
          <p:spPr>
            <a:xfrm>
              <a:off x="3705324" y="3493074"/>
              <a:ext cx="99140" cy="203048"/>
            </a:xfrm>
            <a:prstGeom prst="rect">
              <a:avLst/>
            </a:prstGeom>
            <a:noFill/>
          </p:spPr>
          <p:txBody>
            <a:bodyPr wrap="none" anchor="ctr" lIns="0" rIns="0" tIns="0" bIns="0">
              <a:noAutofit/>
            </a:bodyPr>
            <a:lstStyle/>
            <a:p>
              <a:pPr algn="l"/>
              <a:r>
                <a:rPr sz="1100" b="0">
                  <a:solidFill>
                    <a:srgbClr val="16202C"/>
                  </a:solidFill>
                  <a:latin typeface="맑은 고딕"/>
                  <a:ea typeface="맑은 고딕"/>
                  <a:cs typeface="맑은 고딕"/>
                </a:rPr>
                <a:t>-</a:t>
              </a:r>
            </a:p>
          </p:txBody>
        </p:sp>
        <p:sp>
          <p:nvSpPr>
            <p:cNvPr id="72" name="TextBox 71"/>
            <p:cNvSpPr txBox="1"/>
            <p:nvPr/>
          </p:nvSpPr>
          <p:spPr>
            <a:xfrm>
              <a:off x="566928" y="3680042"/>
              <a:ext cx="1174114" cy="203048"/>
            </a:xfrm>
            <a:prstGeom prst="rect">
              <a:avLst/>
            </a:prstGeom>
            <a:noFill/>
          </p:spPr>
          <p:txBody>
            <a:bodyPr wrap="none" anchor="ctr" lIns="0" rIns="0" tIns="0" bIns="0">
              <a:noAutofit/>
            </a:bodyPr>
            <a:lstStyle/>
            <a:p>
              <a:pPr algn="l"/>
              <a:r>
                <a:rPr sz="1100" b="0">
                  <a:solidFill>
                    <a:srgbClr val="16202C"/>
                  </a:solidFill>
                  <a:latin typeface="맑은 고딕"/>
                  <a:ea typeface="맑은 고딕"/>
                  <a:cs typeface="맑은 고딕"/>
                </a:rPr>
                <a:t>K-EXAONE 236B *</a:t>
              </a:r>
            </a:p>
          </p:txBody>
        </p:sp>
        <p:sp>
          <p:nvSpPr>
            <p:cNvPr id="73" name="Rectangle 72"/>
            <p:cNvSpPr/>
            <p:nvPr/>
          </p:nvSpPr>
          <p:spPr>
            <a:xfrm>
              <a:off x="2062674" y="3735866"/>
              <a:ext cx="1575876" cy="146904"/>
            </a:xfrm>
            <a:prstGeom prst="rect">
              <a:avLst/>
            </a:prstGeom>
            <a:solidFill>
              <a:srgbClr val="EEF2F7"/>
            </a:solidFill>
            <a:ln w="9348">
              <a:solidFill>
                <a:srgbClr val="5B6B7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TextBox 73"/>
            <p:cNvSpPr txBox="1"/>
            <p:nvPr/>
          </p:nvSpPr>
          <p:spPr>
            <a:xfrm>
              <a:off x="3705324" y="3680042"/>
              <a:ext cx="99140" cy="203048"/>
            </a:xfrm>
            <a:prstGeom prst="rect">
              <a:avLst/>
            </a:prstGeom>
            <a:noFill/>
          </p:spPr>
          <p:txBody>
            <a:bodyPr wrap="none" anchor="ctr" lIns="0" rIns="0" tIns="0" bIns="0">
              <a:noAutofit/>
            </a:bodyPr>
            <a:lstStyle/>
            <a:p>
              <a:pPr algn="l"/>
              <a:r>
                <a:rPr sz="1100" b="0">
                  <a:solidFill>
                    <a:srgbClr val="16202C"/>
                  </a:solidFill>
                  <a:latin typeface="맑은 고딕"/>
                  <a:ea typeface="맑은 고딕"/>
                  <a:cs typeface="맑은 고딕"/>
                </a:rPr>
                <a:t>-</a:t>
              </a:r>
            </a:p>
          </p:txBody>
        </p:sp>
        <p:sp>
          <p:nvSpPr>
            <p:cNvPr id="75" name="TextBox 74"/>
            <p:cNvSpPr txBox="1"/>
            <p:nvPr/>
          </p:nvSpPr>
          <p:spPr>
            <a:xfrm>
              <a:off x="566928" y="3867011"/>
              <a:ext cx="959428" cy="203048"/>
            </a:xfrm>
            <a:prstGeom prst="rect">
              <a:avLst/>
            </a:prstGeom>
            <a:noFill/>
          </p:spPr>
          <p:txBody>
            <a:bodyPr wrap="none" anchor="ctr" lIns="0" rIns="0" tIns="0" bIns="0">
              <a:noAutofit/>
            </a:bodyPr>
            <a:lstStyle/>
            <a:p>
              <a:pPr algn="l"/>
              <a:r>
                <a:rPr sz="1100" b="0">
                  <a:solidFill>
                    <a:srgbClr val="16202C"/>
                  </a:solidFill>
                  <a:latin typeface="맑은 고딕"/>
                  <a:ea typeface="맑은 고딕"/>
                  <a:cs typeface="맑은 고딕"/>
                </a:rPr>
                <a:t>Llama 3.3 70B</a:t>
              </a:r>
            </a:p>
          </p:txBody>
        </p:sp>
        <p:sp>
          <p:nvSpPr>
            <p:cNvPr id="76" name="Rectangle 75"/>
            <p:cNvSpPr/>
            <p:nvPr/>
          </p:nvSpPr>
          <p:spPr>
            <a:xfrm>
              <a:off x="2062674" y="3922834"/>
              <a:ext cx="1575876" cy="146904"/>
            </a:xfrm>
            <a:prstGeom prst="rect">
              <a:avLst/>
            </a:prstGeom>
            <a:solidFill>
              <a:srgbClr val="EEF2F7"/>
            </a:solidFill>
            <a:ln w="9348">
              <a:solidFill>
                <a:srgbClr val="5B6B7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TextBox 76"/>
            <p:cNvSpPr txBox="1"/>
            <p:nvPr/>
          </p:nvSpPr>
          <p:spPr>
            <a:xfrm>
              <a:off x="3705324" y="3867011"/>
              <a:ext cx="99140" cy="203048"/>
            </a:xfrm>
            <a:prstGeom prst="rect">
              <a:avLst/>
            </a:prstGeom>
            <a:noFill/>
          </p:spPr>
          <p:txBody>
            <a:bodyPr wrap="none" anchor="ctr" lIns="0" rIns="0" tIns="0" bIns="0">
              <a:noAutofit/>
            </a:bodyPr>
            <a:lstStyle/>
            <a:p>
              <a:pPr algn="l"/>
              <a:r>
                <a:rPr sz="1100" b="0">
                  <a:solidFill>
                    <a:srgbClr val="16202C"/>
                  </a:solidFill>
                  <a:latin typeface="맑은 고딕"/>
                  <a:ea typeface="맑은 고딕"/>
                  <a:cs typeface="맑은 고딕"/>
                </a:rPr>
                <a:t>-</a:t>
              </a:r>
            </a:p>
          </p:txBody>
        </p:sp>
        <p:sp>
          <p:nvSpPr>
            <p:cNvPr id="78" name="TextBox 77"/>
            <p:cNvSpPr txBox="1"/>
            <p:nvPr/>
          </p:nvSpPr>
          <p:spPr>
            <a:xfrm>
              <a:off x="566928" y="4053979"/>
              <a:ext cx="883565" cy="203048"/>
            </a:xfrm>
            <a:prstGeom prst="rect">
              <a:avLst/>
            </a:prstGeom>
            <a:noFill/>
          </p:spPr>
          <p:txBody>
            <a:bodyPr wrap="none" anchor="ctr" lIns="0" rIns="0" tIns="0" bIns="0">
              <a:noAutofit/>
            </a:bodyPr>
            <a:lstStyle/>
            <a:p>
              <a:pPr algn="l"/>
              <a:r>
                <a:rPr sz="1100" b="0">
                  <a:solidFill>
                    <a:srgbClr val="16202C"/>
                  </a:solidFill>
                  <a:latin typeface="맑은 고딕"/>
                  <a:ea typeface="맑은 고딕"/>
                  <a:cs typeface="맑은 고딕"/>
                </a:rPr>
                <a:t>Qwen3 32B *</a:t>
              </a:r>
            </a:p>
          </p:txBody>
        </p:sp>
        <p:sp>
          <p:nvSpPr>
            <p:cNvPr id="79" name="Rectangle 78"/>
            <p:cNvSpPr/>
            <p:nvPr/>
          </p:nvSpPr>
          <p:spPr>
            <a:xfrm>
              <a:off x="2062674" y="4109802"/>
              <a:ext cx="1575876" cy="146904"/>
            </a:xfrm>
            <a:prstGeom prst="rect">
              <a:avLst/>
            </a:prstGeom>
            <a:solidFill>
              <a:srgbClr val="EEF2F7"/>
            </a:solidFill>
            <a:ln w="9348">
              <a:solidFill>
                <a:srgbClr val="5B6B7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 name="Rectangle 79"/>
            <p:cNvSpPr/>
            <p:nvPr/>
          </p:nvSpPr>
          <p:spPr>
            <a:xfrm>
              <a:off x="2062674" y="4109802"/>
              <a:ext cx="974917" cy="146904"/>
            </a:xfrm>
            <a:prstGeom prst="rect">
              <a:avLst/>
            </a:prstGeom>
            <a:solidFill>
              <a:srgbClr val="9DA5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 name="TextBox 80"/>
            <p:cNvSpPr txBox="1"/>
            <p:nvPr/>
          </p:nvSpPr>
          <p:spPr>
            <a:xfrm>
              <a:off x="3705324" y="4053979"/>
              <a:ext cx="310741" cy="203048"/>
            </a:xfrm>
            <a:prstGeom prst="rect">
              <a:avLst/>
            </a:prstGeom>
            <a:noFill/>
          </p:spPr>
          <p:txBody>
            <a:bodyPr wrap="none" anchor="ctr" lIns="0" rIns="0" tIns="0" bIns="0">
              <a:noAutofit/>
            </a:bodyPr>
            <a:lstStyle/>
            <a:p>
              <a:pPr algn="l"/>
              <a:r>
                <a:rPr sz="1100" b="0">
                  <a:solidFill>
                    <a:srgbClr val="16202C"/>
                  </a:solidFill>
                  <a:latin typeface="맑은 고딕"/>
                  <a:ea typeface="맑은 고딕"/>
                  <a:cs typeface="맑은 고딕"/>
                </a:rPr>
                <a:t>9.0s</a:t>
              </a:r>
            </a:p>
          </p:txBody>
        </p:sp>
        <p:sp>
          <p:nvSpPr>
            <p:cNvPr id="82" name="TextBox 81"/>
            <p:cNvSpPr txBox="1"/>
            <p:nvPr/>
          </p:nvSpPr>
          <p:spPr>
            <a:xfrm>
              <a:off x="4306294" y="3306106"/>
              <a:ext cx="1187716" cy="203048"/>
            </a:xfrm>
            <a:prstGeom prst="rect">
              <a:avLst/>
            </a:prstGeom>
            <a:noFill/>
          </p:spPr>
          <p:txBody>
            <a:bodyPr wrap="none" anchor="ctr" lIns="0" rIns="0" tIns="0" bIns="0">
              <a:noAutofit/>
            </a:bodyPr>
            <a:lstStyle/>
            <a:p>
              <a:pPr algn="l"/>
              <a:r>
                <a:rPr sz="1100" b="0">
                  <a:solidFill>
                    <a:srgbClr val="16202C"/>
                  </a:solidFill>
                  <a:latin typeface="맑은 고딕"/>
                  <a:ea typeface="맑은 고딕"/>
                  <a:cs typeface="맑은 고딕"/>
                </a:rPr>
                <a:t>EXAONE 4.0 32B *</a:t>
              </a:r>
            </a:p>
          </p:txBody>
        </p:sp>
        <p:sp>
          <p:nvSpPr>
            <p:cNvPr id="83" name="Rectangle 82"/>
            <p:cNvSpPr/>
            <p:nvPr/>
          </p:nvSpPr>
          <p:spPr>
            <a:xfrm>
              <a:off x="5802040" y="3361929"/>
              <a:ext cx="1575876" cy="146904"/>
            </a:xfrm>
            <a:prstGeom prst="rect">
              <a:avLst/>
            </a:prstGeom>
            <a:solidFill>
              <a:srgbClr val="EEF2F7"/>
            </a:solidFill>
            <a:ln w="9348">
              <a:solidFill>
                <a:srgbClr val="5B6B7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 name="Rectangle 83"/>
            <p:cNvSpPr/>
            <p:nvPr/>
          </p:nvSpPr>
          <p:spPr>
            <a:xfrm>
              <a:off x="5802040" y="3361929"/>
              <a:ext cx="406863" cy="146904"/>
            </a:xfrm>
            <a:prstGeom prst="rect">
              <a:avLst/>
            </a:prstGeom>
            <a:solidFill>
              <a:srgbClr val="9DA5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 name="TextBox 84"/>
            <p:cNvSpPr txBox="1"/>
            <p:nvPr/>
          </p:nvSpPr>
          <p:spPr>
            <a:xfrm>
              <a:off x="7444690" y="3306106"/>
              <a:ext cx="310741" cy="203048"/>
            </a:xfrm>
            <a:prstGeom prst="rect">
              <a:avLst/>
            </a:prstGeom>
            <a:noFill/>
          </p:spPr>
          <p:txBody>
            <a:bodyPr wrap="none" anchor="ctr" lIns="0" rIns="0" tIns="0" bIns="0">
              <a:noAutofit/>
            </a:bodyPr>
            <a:lstStyle/>
            <a:p>
              <a:pPr algn="l"/>
              <a:r>
                <a:rPr sz="1100" b="0">
                  <a:solidFill>
                    <a:srgbClr val="16202C"/>
                  </a:solidFill>
                  <a:latin typeface="맑은 고딕"/>
                  <a:ea typeface="맑은 고딕"/>
                  <a:cs typeface="맑은 고딕"/>
                </a:rPr>
                <a:t>3.8s</a:t>
              </a:r>
            </a:p>
          </p:txBody>
        </p:sp>
        <p:sp>
          <p:nvSpPr>
            <p:cNvPr id="86" name="TextBox 85"/>
            <p:cNvSpPr txBox="1"/>
            <p:nvPr/>
          </p:nvSpPr>
          <p:spPr>
            <a:xfrm>
              <a:off x="4306294" y="3493074"/>
              <a:ext cx="989156" cy="203048"/>
            </a:xfrm>
            <a:prstGeom prst="rect">
              <a:avLst/>
            </a:prstGeom>
            <a:noFill/>
          </p:spPr>
          <p:txBody>
            <a:bodyPr wrap="none" anchor="ctr" lIns="0" rIns="0" tIns="0" bIns="0">
              <a:noAutofit/>
            </a:bodyPr>
            <a:lstStyle/>
            <a:p>
              <a:pPr algn="l"/>
              <a:r>
                <a:rPr sz="1100" b="0">
                  <a:solidFill>
                    <a:srgbClr val="16202C"/>
                  </a:solidFill>
                  <a:latin typeface="맑은 고딕"/>
                  <a:ea typeface="맑은 고딕"/>
                  <a:cs typeface="맑은 고딕"/>
                </a:rPr>
                <a:t>Qwen3-VL 32B</a:t>
              </a:r>
            </a:p>
          </p:txBody>
        </p:sp>
        <p:sp>
          <p:nvSpPr>
            <p:cNvPr id="87" name="Rectangle 86"/>
            <p:cNvSpPr/>
            <p:nvPr/>
          </p:nvSpPr>
          <p:spPr>
            <a:xfrm>
              <a:off x="5802040" y="3548897"/>
              <a:ext cx="1575876" cy="146904"/>
            </a:xfrm>
            <a:prstGeom prst="rect">
              <a:avLst/>
            </a:prstGeom>
            <a:solidFill>
              <a:srgbClr val="EEF2F7"/>
            </a:solidFill>
            <a:ln w="9348">
              <a:solidFill>
                <a:srgbClr val="5B6B7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 name="TextBox 87"/>
            <p:cNvSpPr txBox="1"/>
            <p:nvPr/>
          </p:nvSpPr>
          <p:spPr>
            <a:xfrm>
              <a:off x="7444690" y="3493074"/>
              <a:ext cx="99140" cy="203048"/>
            </a:xfrm>
            <a:prstGeom prst="rect">
              <a:avLst/>
            </a:prstGeom>
            <a:noFill/>
          </p:spPr>
          <p:txBody>
            <a:bodyPr wrap="none" anchor="ctr" lIns="0" rIns="0" tIns="0" bIns="0">
              <a:noAutofit/>
            </a:bodyPr>
            <a:lstStyle/>
            <a:p>
              <a:pPr algn="l"/>
              <a:r>
                <a:rPr sz="1100" b="0">
                  <a:solidFill>
                    <a:srgbClr val="16202C"/>
                  </a:solidFill>
                  <a:latin typeface="맑은 고딕"/>
                  <a:ea typeface="맑은 고딕"/>
                  <a:cs typeface="맑은 고딕"/>
                </a:rPr>
                <a:t>-</a:t>
              </a:r>
            </a:p>
          </p:txBody>
        </p:sp>
        <p:sp>
          <p:nvSpPr>
            <p:cNvPr id="89" name="TextBox 88"/>
            <p:cNvSpPr txBox="1"/>
            <p:nvPr/>
          </p:nvSpPr>
          <p:spPr>
            <a:xfrm>
              <a:off x="4306294" y="3680042"/>
              <a:ext cx="1228802" cy="203048"/>
            </a:xfrm>
            <a:prstGeom prst="rect">
              <a:avLst/>
            </a:prstGeom>
            <a:noFill/>
          </p:spPr>
          <p:txBody>
            <a:bodyPr wrap="none" anchor="ctr" lIns="0" rIns="0" tIns="0" bIns="0">
              <a:noAutofit/>
            </a:bodyPr>
            <a:lstStyle/>
            <a:p>
              <a:pPr algn="l"/>
              <a:r>
                <a:rPr sz="1100" b="0">
                  <a:solidFill>
                    <a:srgbClr val="16202C"/>
                  </a:solidFill>
                  <a:latin typeface="맑은 고딕"/>
                  <a:ea typeface="맑은 고딕"/>
                  <a:cs typeface="맑은 고딕"/>
                </a:rPr>
                <a:t>Qwen3-Coder 30B</a:t>
              </a:r>
            </a:p>
          </p:txBody>
        </p:sp>
        <p:sp>
          <p:nvSpPr>
            <p:cNvPr id="90" name="Rectangle 89"/>
            <p:cNvSpPr/>
            <p:nvPr/>
          </p:nvSpPr>
          <p:spPr>
            <a:xfrm>
              <a:off x="5802040" y="3735866"/>
              <a:ext cx="1575876" cy="146904"/>
            </a:xfrm>
            <a:prstGeom prst="rect">
              <a:avLst/>
            </a:prstGeom>
            <a:solidFill>
              <a:srgbClr val="EEF2F7"/>
            </a:solidFill>
            <a:ln w="9348">
              <a:solidFill>
                <a:srgbClr val="5B6B7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 name="Rectangle 90"/>
            <p:cNvSpPr/>
            <p:nvPr/>
          </p:nvSpPr>
          <p:spPr>
            <a:xfrm>
              <a:off x="5802040" y="3735866"/>
              <a:ext cx="153061" cy="146904"/>
            </a:xfrm>
            <a:prstGeom prst="rect">
              <a:avLst/>
            </a:prstGeom>
            <a:solidFill>
              <a:srgbClr val="9DA5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 name="TextBox 91"/>
            <p:cNvSpPr txBox="1"/>
            <p:nvPr/>
          </p:nvSpPr>
          <p:spPr>
            <a:xfrm>
              <a:off x="7444690" y="3680042"/>
              <a:ext cx="310741" cy="203048"/>
            </a:xfrm>
            <a:prstGeom prst="rect">
              <a:avLst/>
            </a:prstGeom>
            <a:noFill/>
          </p:spPr>
          <p:txBody>
            <a:bodyPr wrap="none" anchor="ctr" lIns="0" rIns="0" tIns="0" bIns="0">
              <a:noAutofit/>
            </a:bodyPr>
            <a:lstStyle/>
            <a:p>
              <a:pPr algn="l"/>
              <a:r>
                <a:rPr sz="1100" b="0">
                  <a:solidFill>
                    <a:srgbClr val="16202C"/>
                  </a:solidFill>
                  <a:latin typeface="맑은 고딕"/>
                  <a:ea typeface="맑은 고딕"/>
                  <a:cs typeface="맑은 고딕"/>
                </a:rPr>
                <a:t>1.4s</a:t>
              </a:r>
            </a:p>
          </p:txBody>
        </p:sp>
        <p:sp>
          <p:nvSpPr>
            <p:cNvPr id="93" name="TextBox 92"/>
            <p:cNvSpPr txBox="1"/>
            <p:nvPr/>
          </p:nvSpPr>
          <p:spPr>
            <a:xfrm>
              <a:off x="4306294" y="3867011"/>
              <a:ext cx="1184210" cy="203048"/>
            </a:xfrm>
            <a:prstGeom prst="rect">
              <a:avLst/>
            </a:prstGeom>
            <a:noFill/>
          </p:spPr>
          <p:txBody>
            <a:bodyPr wrap="none" anchor="ctr" lIns="0" rIns="0" tIns="0" bIns="0">
              <a:noAutofit/>
            </a:bodyPr>
            <a:lstStyle/>
            <a:p>
              <a:pPr algn="l"/>
              <a:r>
                <a:rPr sz="1100" b="0">
                  <a:solidFill>
                    <a:srgbClr val="16202C"/>
                  </a:solidFill>
                  <a:latin typeface="맑은 고딕"/>
                  <a:ea typeface="맑은 고딕"/>
                  <a:cs typeface="맑은 고딕"/>
                </a:rPr>
                <a:t>A3B Instruct 2507</a:t>
              </a:r>
            </a:p>
          </p:txBody>
        </p:sp>
        <p:sp>
          <p:nvSpPr>
            <p:cNvPr id="94" name="Rectangle 93"/>
            <p:cNvSpPr/>
            <p:nvPr/>
          </p:nvSpPr>
          <p:spPr>
            <a:xfrm>
              <a:off x="5802040" y="3922834"/>
              <a:ext cx="1575876" cy="146904"/>
            </a:xfrm>
            <a:prstGeom prst="rect">
              <a:avLst/>
            </a:prstGeom>
            <a:solidFill>
              <a:srgbClr val="EEF2F7"/>
            </a:solidFill>
            <a:ln w="9348">
              <a:solidFill>
                <a:srgbClr val="5B6B7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 name="Rectangle 94"/>
            <p:cNvSpPr/>
            <p:nvPr/>
          </p:nvSpPr>
          <p:spPr>
            <a:xfrm>
              <a:off x="5802040" y="3922834"/>
              <a:ext cx="112327" cy="146904"/>
            </a:xfrm>
            <a:prstGeom prst="rect">
              <a:avLst/>
            </a:prstGeom>
            <a:solidFill>
              <a:srgbClr val="9DA5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 name="TextBox 95"/>
            <p:cNvSpPr txBox="1"/>
            <p:nvPr/>
          </p:nvSpPr>
          <p:spPr>
            <a:xfrm>
              <a:off x="7444690" y="3867011"/>
              <a:ext cx="310741" cy="203048"/>
            </a:xfrm>
            <a:prstGeom prst="rect">
              <a:avLst/>
            </a:prstGeom>
            <a:noFill/>
          </p:spPr>
          <p:txBody>
            <a:bodyPr wrap="none" anchor="ctr" lIns="0" rIns="0" tIns="0" bIns="0">
              <a:noAutofit/>
            </a:bodyPr>
            <a:lstStyle/>
            <a:p>
              <a:pPr algn="l"/>
              <a:r>
                <a:rPr sz="1100" b="0">
                  <a:solidFill>
                    <a:srgbClr val="16202C"/>
                  </a:solidFill>
                  <a:latin typeface="맑은 고딕"/>
                  <a:ea typeface="맑은 고딕"/>
                  <a:cs typeface="맑은 고딕"/>
                </a:rPr>
                <a:t>1.0s</a:t>
              </a:r>
            </a:p>
          </p:txBody>
        </p:sp>
        <p:sp>
          <p:nvSpPr>
            <p:cNvPr id="97" name="TextBox 96"/>
            <p:cNvSpPr txBox="1"/>
            <p:nvPr/>
          </p:nvSpPr>
          <p:spPr>
            <a:xfrm>
              <a:off x="4306294" y="4053979"/>
              <a:ext cx="1350519" cy="203048"/>
            </a:xfrm>
            <a:prstGeom prst="rect">
              <a:avLst/>
            </a:prstGeom>
            <a:noFill/>
          </p:spPr>
          <p:txBody>
            <a:bodyPr wrap="none" anchor="ctr" lIns="0" rIns="0" tIns="0" bIns="0">
              <a:noAutofit/>
            </a:bodyPr>
            <a:lstStyle/>
            <a:p>
              <a:pPr algn="l"/>
              <a:r>
                <a:rPr sz="1100" b="0">
                  <a:solidFill>
                    <a:srgbClr val="16202C"/>
                  </a:solidFill>
                  <a:latin typeface="맑은 고딕"/>
                  <a:ea typeface="맑은 고딕"/>
                  <a:cs typeface="맑은 고딕"/>
                </a:rPr>
                <a:t>A3B Thinking 2507 *</a:t>
              </a:r>
            </a:p>
          </p:txBody>
        </p:sp>
        <p:sp>
          <p:nvSpPr>
            <p:cNvPr id="98" name="Rectangle 97"/>
            <p:cNvSpPr/>
            <p:nvPr/>
          </p:nvSpPr>
          <p:spPr>
            <a:xfrm>
              <a:off x="5802040" y="4109802"/>
              <a:ext cx="1575876" cy="146904"/>
            </a:xfrm>
            <a:prstGeom prst="rect">
              <a:avLst/>
            </a:prstGeom>
            <a:solidFill>
              <a:srgbClr val="EEF2F7"/>
            </a:solidFill>
            <a:ln w="9348">
              <a:solidFill>
                <a:srgbClr val="5B6B7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 name="Rectangle 98"/>
            <p:cNvSpPr/>
            <p:nvPr/>
          </p:nvSpPr>
          <p:spPr>
            <a:xfrm>
              <a:off x="5802040" y="4109802"/>
              <a:ext cx="1575876" cy="146904"/>
            </a:xfrm>
            <a:prstGeom prst="rect">
              <a:avLst/>
            </a:prstGeom>
            <a:solidFill>
              <a:srgbClr val="9DA5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 name="TextBox 99"/>
            <p:cNvSpPr txBox="1"/>
            <p:nvPr/>
          </p:nvSpPr>
          <p:spPr>
            <a:xfrm>
              <a:off x="7444690" y="4053979"/>
              <a:ext cx="388567" cy="203048"/>
            </a:xfrm>
            <a:prstGeom prst="rect">
              <a:avLst/>
            </a:prstGeom>
            <a:noFill/>
          </p:spPr>
          <p:txBody>
            <a:bodyPr wrap="none" anchor="ctr" lIns="0" rIns="0" tIns="0" bIns="0">
              <a:noAutofit/>
            </a:bodyPr>
            <a:lstStyle/>
            <a:p>
              <a:pPr algn="l"/>
              <a:r>
                <a:rPr sz="1100" b="0">
                  <a:solidFill>
                    <a:srgbClr val="16202C"/>
                  </a:solidFill>
                  <a:latin typeface="맑은 고딕"/>
                  <a:ea typeface="맑은 고딕"/>
                  <a:cs typeface="맑은 고딕"/>
                </a:rPr>
                <a:t>14.5s</a:t>
              </a:r>
            </a:p>
          </p:txBody>
        </p:sp>
        <p:sp>
          <p:nvSpPr>
            <p:cNvPr id="101" name="TextBox 100"/>
            <p:cNvSpPr txBox="1"/>
            <p:nvPr/>
          </p:nvSpPr>
          <p:spPr>
            <a:xfrm>
              <a:off x="8045660" y="3306106"/>
              <a:ext cx="681780" cy="203048"/>
            </a:xfrm>
            <a:prstGeom prst="rect">
              <a:avLst/>
            </a:prstGeom>
            <a:noFill/>
          </p:spPr>
          <p:txBody>
            <a:bodyPr wrap="none" anchor="ctr" lIns="0" rIns="0" tIns="0" bIns="0">
              <a:noAutofit/>
            </a:bodyPr>
            <a:lstStyle/>
            <a:p>
              <a:pPr algn="l"/>
              <a:r>
                <a:rPr sz="1100" b="0">
                  <a:solidFill>
                    <a:srgbClr val="16202C"/>
                  </a:solidFill>
                  <a:latin typeface="맑은 고딕"/>
                  <a:ea typeface="맑은 고딕"/>
                  <a:cs typeface="맑은 고딕"/>
                </a:rPr>
                <a:t>A3B 30B *</a:t>
              </a:r>
            </a:p>
          </p:txBody>
        </p:sp>
        <p:sp>
          <p:nvSpPr>
            <p:cNvPr id="102" name="Rectangle 101"/>
            <p:cNvSpPr/>
            <p:nvPr/>
          </p:nvSpPr>
          <p:spPr>
            <a:xfrm>
              <a:off x="9541406" y="3361929"/>
              <a:ext cx="1575876" cy="146904"/>
            </a:xfrm>
            <a:prstGeom prst="rect">
              <a:avLst/>
            </a:prstGeom>
            <a:solidFill>
              <a:srgbClr val="EEF2F7"/>
            </a:solidFill>
            <a:ln w="9348">
              <a:solidFill>
                <a:srgbClr val="5B6B7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 name="TextBox 102"/>
            <p:cNvSpPr txBox="1"/>
            <p:nvPr/>
          </p:nvSpPr>
          <p:spPr>
            <a:xfrm>
              <a:off x="11184056" y="3306106"/>
              <a:ext cx="99140" cy="203048"/>
            </a:xfrm>
            <a:prstGeom prst="rect">
              <a:avLst/>
            </a:prstGeom>
            <a:noFill/>
          </p:spPr>
          <p:txBody>
            <a:bodyPr wrap="none" anchor="ctr" lIns="0" rIns="0" tIns="0" bIns="0">
              <a:noAutofit/>
            </a:bodyPr>
            <a:lstStyle/>
            <a:p>
              <a:pPr algn="l"/>
              <a:r>
                <a:rPr sz="1100" b="0">
                  <a:solidFill>
                    <a:srgbClr val="16202C"/>
                  </a:solidFill>
                  <a:latin typeface="맑은 고딕"/>
                  <a:ea typeface="맑은 고딕"/>
                  <a:cs typeface="맑은 고딕"/>
                </a:rPr>
                <a:t>-</a:t>
              </a:r>
            </a:p>
          </p:txBody>
        </p:sp>
        <p:sp>
          <p:nvSpPr>
            <p:cNvPr id="104" name="TextBox 103"/>
            <p:cNvSpPr txBox="1"/>
            <p:nvPr/>
          </p:nvSpPr>
          <p:spPr>
            <a:xfrm>
              <a:off x="8045660" y="3493074"/>
              <a:ext cx="881602" cy="203048"/>
            </a:xfrm>
            <a:prstGeom prst="rect">
              <a:avLst/>
            </a:prstGeom>
            <a:noFill/>
          </p:spPr>
          <p:txBody>
            <a:bodyPr wrap="none" anchor="ctr" lIns="0" rIns="0" tIns="0" bIns="0">
              <a:noAutofit/>
            </a:bodyPr>
            <a:lstStyle/>
            <a:p>
              <a:pPr algn="l"/>
              <a:r>
                <a:rPr sz="1100" b="0">
                  <a:solidFill>
                    <a:srgbClr val="16202C"/>
                  </a:solidFill>
                  <a:latin typeface="맑은 고딕"/>
                  <a:ea typeface="맑은 고딕"/>
                  <a:cs typeface="맑은 고딕"/>
                </a:rPr>
                <a:t>Llama 3.1 8B</a:t>
              </a:r>
            </a:p>
          </p:txBody>
        </p:sp>
        <p:sp>
          <p:nvSpPr>
            <p:cNvPr id="105" name="Rectangle 104"/>
            <p:cNvSpPr/>
            <p:nvPr/>
          </p:nvSpPr>
          <p:spPr>
            <a:xfrm>
              <a:off x="9541406" y="3548897"/>
              <a:ext cx="1575876" cy="146904"/>
            </a:xfrm>
            <a:prstGeom prst="rect">
              <a:avLst/>
            </a:prstGeom>
            <a:solidFill>
              <a:srgbClr val="EEF2F7"/>
            </a:solidFill>
            <a:ln w="9348">
              <a:solidFill>
                <a:srgbClr val="5B6B7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6" name="Rectangle 105"/>
            <p:cNvSpPr/>
            <p:nvPr/>
          </p:nvSpPr>
          <p:spPr>
            <a:xfrm>
              <a:off x="9541406" y="3548897"/>
              <a:ext cx="273008" cy="146904"/>
            </a:xfrm>
            <a:prstGeom prst="rect">
              <a:avLst/>
            </a:prstGeom>
            <a:solidFill>
              <a:srgbClr val="FFD3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7" name="TextBox 106"/>
            <p:cNvSpPr txBox="1"/>
            <p:nvPr/>
          </p:nvSpPr>
          <p:spPr>
            <a:xfrm>
              <a:off x="11184056" y="3493074"/>
              <a:ext cx="310741" cy="203048"/>
            </a:xfrm>
            <a:prstGeom prst="rect">
              <a:avLst/>
            </a:prstGeom>
            <a:noFill/>
          </p:spPr>
          <p:txBody>
            <a:bodyPr wrap="none" anchor="ctr" lIns="0" rIns="0" tIns="0" bIns="0">
              <a:noAutofit/>
            </a:bodyPr>
            <a:lstStyle/>
            <a:p>
              <a:pPr algn="l"/>
              <a:r>
                <a:rPr sz="1100" b="0">
                  <a:solidFill>
                    <a:srgbClr val="16202C"/>
                  </a:solidFill>
                  <a:latin typeface="맑은 고딕"/>
                  <a:ea typeface="맑은 고딕"/>
                  <a:cs typeface="맑은 고딕"/>
                </a:rPr>
                <a:t>2.5s</a:t>
              </a:r>
            </a:p>
          </p:txBody>
        </p:sp>
        <p:sp>
          <p:nvSpPr>
            <p:cNvPr id="108" name="TextBox 107"/>
            <p:cNvSpPr txBox="1"/>
            <p:nvPr/>
          </p:nvSpPr>
          <p:spPr>
            <a:xfrm>
              <a:off x="8045660" y="3680042"/>
              <a:ext cx="708844" cy="203048"/>
            </a:xfrm>
            <a:prstGeom prst="rect">
              <a:avLst/>
            </a:prstGeom>
            <a:noFill/>
          </p:spPr>
          <p:txBody>
            <a:bodyPr wrap="none" anchor="ctr" lIns="0" rIns="0" tIns="0" bIns="0">
              <a:noAutofit/>
            </a:bodyPr>
            <a:lstStyle/>
            <a:p>
              <a:pPr algn="l"/>
              <a:r>
                <a:rPr sz="1100" b="0">
                  <a:solidFill>
                    <a:srgbClr val="16202C"/>
                  </a:solidFill>
                  <a:latin typeface="맑은 고딕"/>
                  <a:ea typeface="맑은 고딕"/>
                  <a:cs typeface="맑은 고딕"/>
                </a:rPr>
                <a:t>Qwen3 8B</a:t>
              </a:r>
            </a:p>
          </p:txBody>
        </p:sp>
        <p:sp>
          <p:nvSpPr>
            <p:cNvPr id="109" name="Rectangle 108"/>
            <p:cNvSpPr/>
            <p:nvPr/>
          </p:nvSpPr>
          <p:spPr>
            <a:xfrm>
              <a:off x="9541406" y="3735866"/>
              <a:ext cx="1575876" cy="146904"/>
            </a:xfrm>
            <a:prstGeom prst="rect">
              <a:avLst/>
            </a:prstGeom>
            <a:solidFill>
              <a:srgbClr val="EEF2F7"/>
            </a:solidFill>
            <a:ln w="9348">
              <a:solidFill>
                <a:srgbClr val="5B6B7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0" name="Rectangle 109"/>
            <p:cNvSpPr/>
            <p:nvPr/>
          </p:nvSpPr>
          <p:spPr>
            <a:xfrm>
              <a:off x="9541406" y="3735866"/>
              <a:ext cx="743678" cy="146904"/>
            </a:xfrm>
            <a:prstGeom prst="rect">
              <a:avLst/>
            </a:prstGeom>
            <a:solidFill>
              <a:srgbClr val="FFD3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1" name="TextBox 110"/>
            <p:cNvSpPr txBox="1"/>
            <p:nvPr/>
          </p:nvSpPr>
          <p:spPr>
            <a:xfrm>
              <a:off x="11184056" y="3680042"/>
              <a:ext cx="310741" cy="203048"/>
            </a:xfrm>
            <a:prstGeom prst="rect">
              <a:avLst/>
            </a:prstGeom>
            <a:noFill/>
          </p:spPr>
          <p:txBody>
            <a:bodyPr wrap="none" anchor="ctr" lIns="0" rIns="0" tIns="0" bIns="0">
              <a:noAutofit/>
            </a:bodyPr>
            <a:lstStyle/>
            <a:p>
              <a:pPr algn="l"/>
              <a:r>
                <a:rPr sz="1100" b="0">
                  <a:solidFill>
                    <a:srgbClr val="16202C"/>
                  </a:solidFill>
                  <a:latin typeface="맑은 고딕"/>
                  <a:ea typeface="맑은 고딕"/>
                  <a:cs typeface="맑은 고딕"/>
                </a:rPr>
                <a:t>6.9s</a:t>
              </a:r>
            </a:p>
          </p:txBody>
        </p:sp>
        <p:sp>
          <p:nvSpPr>
            <p:cNvPr id="112" name="TextBox 111"/>
            <p:cNvSpPr txBox="1"/>
            <p:nvPr/>
          </p:nvSpPr>
          <p:spPr>
            <a:xfrm>
              <a:off x="8045660" y="3867011"/>
              <a:ext cx="708844" cy="203048"/>
            </a:xfrm>
            <a:prstGeom prst="rect">
              <a:avLst/>
            </a:prstGeom>
            <a:noFill/>
          </p:spPr>
          <p:txBody>
            <a:bodyPr wrap="none" anchor="ctr" lIns="0" rIns="0" tIns="0" bIns="0">
              <a:noAutofit/>
            </a:bodyPr>
            <a:lstStyle/>
            <a:p>
              <a:pPr algn="l"/>
              <a:r>
                <a:rPr sz="1100" b="0">
                  <a:solidFill>
                    <a:srgbClr val="16202C"/>
                  </a:solidFill>
                  <a:latin typeface="맑은 고딕"/>
                  <a:ea typeface="맑은 고딕"/>
                  <a:cs typeface="맑은 고딕"/>
                </a:rPr>
                <a:t>Qwen3 4B</a:t>
              </a:r>
            </a:p>
          </p:txBody>
        </p:sp>
        <p:sp>
          <p:nvSpPr>
            <p:cNvPr id="113" name="Rectangle 112"/>
            <p:cNvSpPr/>
            <p:nvPr/>
          </p:nvSpPr>
          <p:spPr>
            <a:xfrm>
              <a:off x="9541406" y="3922834"/>
              <a:ext cx="1575876" cy="146904"/>
            </a:xfrm>
            <a:prstGeom prst="rect">
              <a:avLst/>
            </a:prstGeom>
            <a:solidFill>
              <a:srgbClr val="EEF2F7"/>
            </a:solidFill>
            <a:ln w="9348">
              <a:solidFill>
                <a:srgbClr val="5B6B7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4" name="Rectangle 113"/>
            <p:cNvSpPr/>
            <p:nvPr/>
          </p:nvSpPr>
          <p:spPr>
            <a:xfrm>
              <a:off x="9541406" y="3922834"/>
              <a:ext cx="619752" cy="146904"/>
            </a:xfrm>
            <a:prstGeom prst="rect">
              <a:avLst/>
            </a:prstGeom>
            <a:solidFill>
              <a:srgbClr val="FFD3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5" name="TextBox 114"/>
            <p:cNvSpPr txBox="1"/>
            <p:nvPr/>
          </p:nvSpPr>
          <p:spPr>
            <a:xfrm>
              <a:off x="11184056" y="3867011"/>
              <a:ext cx="310741" cy="203048"/>
            </a:xfrm>
            <a:prstGeom prst="rect">
              <a:avLst/>
            </a:prstGeom>
            <a:noFill/>
          </p:spPr>
          <p:txBody>
            <a:bodyPr wrap="none" anchor="ctr" lIns="0" rIns="0" tIns="0" bIns="0">
              <a:noAutofit/>
            </a:bodyPr>
            <a:lstStyle/>
            <a:p>
              <a:pPr algn="l"/>
              <a:r>
                <a:rPr sz="1100" b="0">
                  <a:solidFill>
                    <a:srgbClr val="16202C"/>
                  </a:solidFill>
                  <a:latin typeface="맑은 고딕"/>
                  <a:ea typeface="맑은 고딕"/>
                  <a:cs typeface="맑은 고딕"/>
                </a:rPr>
                <a:t>5.7s</a:t>
              </a:r>
            </a:p>
          </p:txBody>
        </p:sp>
        <p:sp>
          <p:nvSpPr>
            <p:cNvPr id="116" name="TextBox 115"/>
            <p:cNvSpPr txBox="1"/>
            <p:nvPr/>
          </p:nvSpPr>
          <p:spPr>
            <a:xfrm>
              <a:off x="8045660" y="4053979"/>
              <a:ext cx="942460" cy="203048"/>
            </a:xfrm>
            <a:prstGeom prst="rect">
              <a:avLst/>
            </a:prstGeom>
            <a:noFill/>
          </p:spPr>
          <p:txBody>
            <a:bodyPr wrap="none" anchor="ctr" lIns="0" rIns="0" tIns="0" bIns="0">
              <a:noAutofit/>
            </a:bodyPr>
            <a:lstStyle/>
            <a:p>
              <a:pPr algn="l"/>
              <a:r>
                <a:rPr sz="1100" b="0">
                  <a:solidFill>
                    <a:srgbClr val="16202C"/>
                  </a:solidFill>
                  <a:latin typeface="맑은 고딕"/>
                  <a:ea typeface="맑은 고딕"/>
                  <a:cs typeface="맑은 고딕"/>
                </a:rPr>
                <a:t>Qwen2.5 0.5B</a:t>
              </a:r>
            </a:p>
          </p:txBody>
        </p:sp>
        <p:sp>
          <p:nvSpPr>
            <p:cNvPr id="117" name="Rectangle 116"/>
            <p:cNvSpPr/>
            <p:nvPr/>
          </p:nvSpPr>
          <p:spPr>
            <a:xfrm>
              <a:off x="9541406" y="4109802"/>
              <a:ext cx="1575876" cy="146904"/>
            </a:xfrm>
            <a:prstGeom prst="rect">
              <a:avLst/>
            </a:prstGeom>
            <a:solidFill>
              <a:srgbClr val="EEF2F7"/>
            </a:solidFill>
            <a:ln w="9348">
              <a:solidFill>
                <a:srgbClr val="5B6B7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8" name="Rectangle 117"/>
            <p:cNvSpPr/>
            <p:nvPr/>
          </p:nvSpPr>
          <p:spPr>
            <a:xfrm>
              <a:off x="9541406" y="4109802"/>
              <a:ext cx="315236" cy="146904"/>
            </a:xfrm>
            <a:prstGeom prst="rect">
              <a:avLst/>
            </a:prstGeom>
            <a:solidFill>
              <a:srgbClr val="FFD3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9" name="TextBox 118"/>
            <p:cNvSpPr txBox="1"/>
            <p:nvPr/>
          </p:nvSpPr>
          <p:spPr>
            <a:xfrm>
              <a:off x="11184056" y="4053979"/>
              <a:ext cx="310741" cy="203048"/>
            </a:xfrm>
            <a:prstGeom prst="rect">
              <a:avLst/>
            </a:prstGeom>
            <a:noFill/>
          </p:spPr>
          <p:txBody>
            <a:bodyPr wrap="none" anchor="ctr" lIns="0" rIns="0" tIns="0" bIns="0">
              <a:noAutofit/>
            </a:bodyPr>
            <a:lstStyle/>
            <a:p>
              <a:pPr algn="l"/>
              <a:r>
                <a:rPr sz="1100" b="0">
                  <a:solidFill>
                    <a:srgbClr val="16202C"/>
                  </a:solidFill>
                  <a:latin typeface="맑은 고딕"/>
                  <a:ea typeface="맑은 고딕"/>
                  <a:cs typeface="맑은 고딕"/>
                </a:rPr>
                <a:t>2.9s</a:t>
              </a:r>
            </a:p>
          </p:txBody>
        </p:sp>
        <p:sp>
          <p:nvSpPr>
            <p:cNvPr id="120" name="TextBox 119"/>
            <p:cNvSpPr txBox="1"/>
            <p:nvPr/>
          </p:nvSpPr>
          <p:spPr>
            <a:xfrm>
              <a:off x="566928" y="4313331"/>
              <a:ext cx="4166188" cy="212716"/>
            </a:xfrm>
            <a:prstGeom prst="rect">
              <a:avLst/>
            </a:prstGeom>
            <a:noFill/>
          </p:spPr>
          <p:txBody>
            <a:bodyPr wrap="none" anchor="ctr" lIns="0" rIns="0" tIns="0" bIns="0">
              <a:noAutofit/>
            </a:bodyPr>
            <a:lstStyle/>
            <a:p>
              <a:pPr algn="l"/>
              <a:r>
                <a:rPr sz="1160" b="0">
                  <a:solidFill>
                    <a:srgbClr val="16202C"/>
                  </a:solidFill>
                  <a:latin typeface="맑은 고딕"/>
                  <a:ea typeface="맑은 고딕"/>
                  <a:cs typeface="맑은 고딕"/>
                </a:rPr>
                <a:t>사고하는 모델은 첫 토큰은 빨라도 답이 끝나기까지 열 배 넘게 걸린다</a:t>
              </a:r>
            </a:p>
          </p:txBody>
        </p:sp>
        <p:sp>
          <p:nvSpPr>
            <p:cNvPr id="121" name="TextBox 120"/>
            <p:cNvSpPr txBox="1"/>
            <p:nvPr/>
          </p:nvSpPr>
          <p:spPr>
            <a:xfrm>
              <a:off x="9630890" y="4321077"/>
              <a:ext cx="1993877" cy="203048"/>
            </a:xfrm>
            <a:prstGeom prst="rect">
              <a:avLst/>
            </a:prstGeom>
            <a:noFill/>
          </p:spPr>
          <p:txBody>
            <a:bodyPr wrap="none" anchor="ctr" lIns="0" rIns="0" tIns="0" bIns="0">
              <a:noAutofit/>
            </a:bodyPr>
            <a:lstStyle/>
            <a:p>
              <a:pPr algn="r"/>
              <a:r>
                <a:rPr sz="1100" b="0">
                  <a:solidFill>
                    <a:srgbClr val="5B6B7B"/>
                  </a:solidFill>
                  <a:latin typeface="맑은 고딕"/>
                  <a:ea typeface="맑은 고딕"/>
                  <a:cs typeface="맑은 고딕"/>
                </a:rPr>
                <a:t>프롬프트 4종 중 가장 짧은 것 기준</a:t>
              </a:r>
            </a:p>
          </p:txBody>
        </p:sp>
      </p:grpSp>
      <p:sp>
        <p:nvSpPr>
          <p:cNvPr id="122" name="TextBox 121"/>
          <p:cNvSpPr txBox="1"/>
          <p:nvPr/>
        </p:nvSpPr>
        <p:spPr>
          <a:xfrm>
            <a:off x="566928" y="4763791"/>
            <a:ext cx="11057839" cy="1508993"/>
          </a:xfrm>
          <a:prstGeom prst="rect">
            <a:avLst/>
          </a:prstGeom>
          <a:noFill/>
        </p:spPr>
        <p:txBody>
          <a:bodyPr wrap="square" anchor="t" lIns="0" rIns="0" tIns="0" bIns="0">
            <a:spAutoFit/>
          </a:bodyPr>
          <a:lstStyle/>
          <a:p>
            <a:pPr algn="l">
              <a:lnSpc>
                <a:spcPct val="118000"/>
              </a:lnSpc>
              <a:spcBef>
                <a:spcPts val="200"/>
              </a:spcBef>
              <a:spcAft>
                <a:spcPts val="200"/>
              </a:spcAft>
            </a:pPr>
            <a:r>
              <a:rPr sz="1200" b="0" i="0">
                <a:solidFill>
                  <a:srgbClr val="16202C"/>
                </a:solidFill>
                <a:latin typeface="Segoe UI"/>
                <a:ea typeface="맑은 고딕"/>
                <a:cs typeface="맑은 고딕"/>
              </a:rPr>
              <a:t>▪  TTFT 는 어느 모델이든 0.5초 안쪽이라 체감 차이가 거의 없다. 기다림은 첫 글자가 아니라 답이 끝날 때까지에서 생긴다</a:t>
            </a:r>
          </a:p>
          <a:p>
            <a:pPr algn="l">
              <a:lnSpc>
                <a:spcPct val="118000"/>
              </a:lnSpc>
              <a:spcBef>
                <a:spcPts val="600"/>
              </a:spcBef>
              <a:spcAft>
                <a:spcPts val="200"/>
              </a:spcAft>
            </a:pPr>
            <a:r>
              <a:rPr sz="1200" b="0" i="0">
                <a:solidFill>
                  <a:srgbClr val="16202C"/>
                </a:solidFill>
                <a:latin typeface="Segoe UI"/>
                <a:ea typeface="맑은 고딕"/>
                <a:cs typeface="맑은 고딕"/>
              </a:rPr>
              <a:t>▪  별표가 붙은 사고하는 모델은 답을 내기 전에 속으로 길게 생각한다. 같은 30B 인데도 A3B Instruct 는 1초, A3B Thinking 은 15초가 걸렸다</a:t>
            </a:r>
          </a:p>
          <a:p>
            <a:pPr algn="l">
              <a:lnSpc>
                <a:spcPct val="118000"/>
              </a:lnSpc>
              <a:spcBef>
                <a:spcPts val="600"/>
              </a:spcBef>
              <a:spcAft>
                <a:spcPts val="200"/>
              </a:spcAft>
            </a:pPr>
            <a:r>
              <a:rPr sz="1200" b="0" i="0">
                <a:solidFill>
                  <a:srgbClr val="16202C"/>
                </a:solidFill>
                <a:latin typeface="Segoe UI"/>
                <a:ea typeface="맑은 고딕"/>
                <a:cs typeface="맑은 고딕"/>
              </a:rPr>
              <a:t>▪  짧게 묻고 짧게 받는 용도라면 사고 없는 모델이 훨씬 낫다. 어려운 추론을 맡길 때만 사고하는 쪽을 고른다</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46304" cy="6858000"/>
          </a:xfrm>
          <a:prstGeom prst="rect">
            <a:avLst/>
          </a:prstGeom>
          <a:solidFill>
            <a:srgbClr val="0B5FC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3" name="TextBox 2"/>
          <p:cNvSpPr txBox="1"/>
          <p:nvPr/>
        </p:nvSpPr>
        <p:spPr>
          <a:xfrm>
            <a:off x="566928" y="310896"/>
            <a:ext cx="11057839" cy="475488"/>
          </a:xfrm>
          <a:prstGeom prst="rect">
            <a:avLst/>
          </a:prstGeom>
          <a:noFill/>
        </p:spPr>
        <p:txBody>
          <a:bodyPr wrap="square" anchor="t" lIns="0" rIns="0" tIns="0" bIns="0">
            <a:spAutoFit/>
          </a:bodyPr>
          <a:lstStyle/>
          <a:p>
            <a:pPr algn="l">
              <a:lnSpc>
                <a:spcPct val="118000"/>
              </a:lnSpc>
              <a:spcBef>
                <a:spcPts val="0"/>
              </a:spcBef>
              <a:spcAft>
                <a:spcPts val="0"/>
              </a:spcAft>
            </a:pPr>
            <a:r>
              <a:rPr sz="2400" b="1" i="0">
                <a:solidFill>
                  <a:srgbClr val="16202C"/>
                </a:solidFill>
                <a:latin typeface="Segoe UI"/>
                <a:ea typeface="맑은 고딕"/>
                <a:cs typeface="맑은 고딕"/>
              </a:rPr>
              <a:t>생성 처리량</a:t>
            </a:r>
          </a:p>
        </p:txBody>
      </p:sp>
      <p:cxnSp>
        <p:nvCxnSpPr>
          <p:cNvPr id="4" name="Connector 3"/>
          <p:cNvCxnSpPr/>
          <p:nvPr/>
        </p:nvCxnSpPr>
        <p:spPr>
          <a:xfrm>
            <a:off x="566928" y="822960"/>
            <a:ext cx="11057839" cy="0"/>
          </a:xfrm>
          <a:prstGeom prst="line">
            <a:avLst/>
          </a:prstGeom>
          <a:ln w="15875">
            <a:solidFill>
              <a:srgbClr val="D6DEE7"/>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566928" y="6455664"/>
            <a:ext cx="9686239" cy="219456"/>
          </a:xfrm>
          <a:prstGeom prst="rect">
            <a:avLst/>
          </a:prstGeom>
          <a:noFill/>
        </p:spPr>
        <p:txBody>
          <a:bodyPr wrap="square" anchor="t" lIns="0" rIns="0" tIns="0" bIns="0">
            <a:spAutoFit/>
          </a:bodyPr>
          <a:lstStyle/>
          <a:p>
            <a:pPr algn="l">
              <a:lnSpc>
                <a:spcPct val="118000"/>
              </a:lnSpc>
              <a:spcBef>
                <a:spcPts val="0"/>
              </a:spcBef>
              <a:spcAft>
                <a:spcPts val="0"/>
              </a:spcAft>
            </a:pPr>
            <a:r>
              <a:rPr sz="950" b="0" i="0">
                <a:solidFill>
                  <a:srgbClr val="5B6B7B"/>
                </a:solidFill>
                <a:latin typeface="Segoe UI"/>
                <a:ea typeface="맑은 고딕"/>
                <a:cs typeface="맑은 고딕"/>
              </a:rPr>
              <a:t>RNGD 4장 서버, 2026-08-29 실측</a:t>
            </a:r>
          </a:p>
        </p:txBody>
      </p:sp>
      <p:sp>
        <p:nvSpPr>
          <p:cNvPr id="6" name="TextBox 5"/>
          <p:cNvSpPr txBox="1"/>
          <p:nvPr/>
        </p:nvSpPr>
        <p:spPr>
          <a:xfrm>
            <a:off x="10527487" y="6455664"/>
            <a:ext cx="1097280" cy="219456"/>
          </a:xfrm>
          <a:prstGeom prst="rect">
            <a:avLst/>
          </a:prstGeom>
          <a:noFill/>
        </p:spPr>
        <p:txBody>
          <a:bodyPr wrap="square" anchor="t" lIns="0" rIns="0" tIns="0" bIns="0">
            <a:spAutoFit/>
          </a:bodyPr>
          <a:lstStyle/>
          <a:p>
            <a:pPr algn="r">
              <a:lnSpc>
                <a:spcPct val="118000"/>
              </a:lnSpc>
              <a:spcBef>
                <a:spcPts val="0"/>
              </a:spcBef>
              <a:spcAft>
                <a:spcPts val="0"/>
              </a:spcAft>
            </a:pPr>
            <a:r>
              <a:rPr sz="950" b="0" i="0">
                <a:solidFill>
                  <a:srgbClr val="5B6B7B"/>
                </a:solidFill>
                <a:latin typeface="Segoe UI"/>
                <a:ea typeface="맑은 고딕"/>
                <a:cs typeface="맑은 고딕"/>
              </a:rPr>
              <a:t>6</a:t>
            </a:r>
          </a:p>
        </p:txBody>
      </p:sp>
      <p:sp>
        <p:nvSpPr>
          <p:cNvPr id="7" name="TextBox 6"/>
          <p:cNvSpPr txBox="1"/>
          <p:nvPr/>
        </p:nvSpPr>
        <p:spPr>
          <a:xfrm>
            <a:off x="566928" y="1115568"/>
            <a:ext cx="11057839" cy="274320"/>
          </a:xfrm>
          <a:prstGeom prst="rect">
            <a:avLst/>
          </a:prstGeom>
          <a:noFill/>
        </p:spPr>
        <p:txBody>
          <a:bodyPr wrap="square" anchor="t" lIns="0" rIns="0" tIns="0" bIns="0">
            <a:spAutoFit/>
          </a:bodyPr>
          <a:lstStyle/>
          <a:p>
            <a:pPr algn="l">
              <a:lnSpc>
                <a:spcPct val="118000"/>
              </a:lnSpc>
              <a:spcBef>
                <a:spcPts val="0"/>
              </a:spcBef>
              <a:spcAft>
                <a:spcPts val="0"/>
              </a:spcAft>
            </a:pPr>
            <a:r>
              <a:rPr sz="1400" b="1" i="0">
                <a:solidFill>
                  <a:srgbClr val="16202C"/>
                </a:solidFill>
                <a:latin typeface="Segoe UI"/>
                <a:ea typeface="맑은 고딕"/>
                <a:cs typeface="맑은 고딕"/>
              </a:rPr>
              <a:t>그림 4: 요청 하나를 처리하는 속도와, 같은 질문 4개를 동시에 던졌을 때의 전체 속도</a:t>
            </a:r>
          </a:p>
        </p:txBody>
      </p:sp>
      <p:grpSp>
        <p:nvGrpSpPr>
          <p:cNvPr id="8" name="도해 tput"/>
          <p:cNvGrpSpPr/>
          <p:nvPr/>
        </p:nvGrpSpPr>
        <p:grpSpPr>
          <a:xfrm>
            <a:off x="566928" y="1554480"/>
            <a:ext cx="11057839" cy="3078406"/>
            <a:chOff x="566928" y="1554480"/>
            <a:chExt cx="11057839" cy="3078406"/>
          </a:xfrm>
        </p:grpSpPr>
        <p:sp>
          <p:nvSpPr>
            <p:cNvPr id="9" name="TextBox 8"/>
            <p:cNvSpPr txBox="1"/>
            <p:nvPr/>
          </p:nvSpPr>
          <p:spPr>
            <a:xfrm>
              <a:off x="566928" y="1554480"/>
              <a:ext cx="2426735" cy="222385"/>
            </a:xfrm>
            <a:prstGeom prst="rect">
              <a:avLst/>
            </a:prstGeom>
            <a:noFill/>
          </p:spPr>
          <p:txBody>
            <a:bodyPr wrap="none" anchor="ctr" lIns="0" rIns="0" tIns="0" bIns="0">
              <a:noAutofit/>
            </a:bodyPr>
            <a:lstStyle/>
            <a:p>
              <a:pPr algn="l"/>
              <a:r>
                <a:rPr sz="1210" b="1">
                  <a:solidFill>
                    <a:srgbClr val="16202C"/>
                  </a:solidFill>
                  <a:latin typeface="맑은 고딕"/>
                  <a:ea typeface="맑은 고딕"/>
                  <a:cs typeface="맑은 고딕"/>
                </a:rPr>
                <a:t>(a) 요청 하나를 처리하는 속도, tok/s</a:t>
              </a:r>
            </a:p>
          </p:txBody>
        </p:sp>
        <p:sp>
          <p:nvSpPr>
            <p:cNvPr id="10" name="TextBox 9"/>
            <p:cNvSpPr txBox="1"/>
            <p:nvPr/>
          </p:nvSpPr>
          <p:spPr>
            <a:xfrm>
              <a:off x="566928" y="1850424"/>
              <a:ext cx="884547" cy="203048"/>
            </a:xfrm>
            <a:prstGeom prst="rect">
              <a:avLst/>
            </a:prstGeom>
            <a:noFill/>
          </p:spPr>
          <p:txBody>
            <a:bodyPr wrap="none" anchor="ctr" lIns="0" rIns="0" tIns="0" bIns="0">
              <a:noAutofit/>
            </a:bodyPr>
            <a:lstStyle/>
            <a:p>
              <a:pPr algn="l"/>
              <a:r>
                <a:rPr sz="1100" b="0">
                  <a:solidFill>
                    <a:srgbClr val="16202C"/>
                  </a:solidFill>
                  <a:latin typeface="맑은 고딕"/>
                  <a:ea typeface="맑은 고딕"/>
                  <a:cs typeface="맑은 고딕"/>
                </a:rPr>
                <a:t>gpt-oss 120B</a:t>
              </a:r>
            </a:p>
          </p:txBody>
        </p:sp>
        <p:sp>
          <p:nvSpPr>
            <p:cNvPr id="11" name="Rectangle 10"/>
            <p:cNvSpPr/>
            <p:nvPr/>
          </p:nvSpPr>
          <p:spPr>
            <a:xfrm>
              <a:off x="2062674" y="1892893"/>
              <a:ext cx="1575876" cy="160259"/>
            </a:xfrm>
            <a:prstGeom prst="rect">
              <a:avLst/>
            </a:prstGeom>
            <a:solidFill>
              <a:srgbClr val="EEF2F7"/>
            </a:solidFill>
            <a:ln w="9348">
              <a:solidFill>
                <a:srgbClr val="5B6B7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705324" y="1850424"/>
              <a:ext cx="99140" cy="203048"/>
            </a:xfrm>
            <a:prstGeom prst="rect">
              <a:avLst/>
            </a:prstGeom>
            <a:noFill/>
          </p:spPr>
          <p:txBody>
            <a:bodyPr wrap="none" anchor="ctr" lIns="0" rIns="0" tIns="0" bIns="0">
              <a:noAutofit/>
            </a:bodyPr>
            <a:lstStyle/>
            <a:p>
              <a:pPr algn="l"/>
              <a:r>
                <a:rPr sz="1100" b="0">
                  <a:solidFill>
                    <a:srgbClr val="16202C"/>
                  </a:solidFill>
                  <a:latin typeface="맑은 고딕"/>
                  <a:ea typeface="맑은 고딕"/>
                  <a:cs typeface="맑은 고딕"/>
                </a:rPr>
                <a:t>-</a:t>
              </a:r>
            </a:p>
          </p:txBody>
        </p:sp>
        <p:sp>
          <p:nvSpPr>
            <p:cNvPr id="13" name="TextBox 12"/>
            <p:cNvSpPr txBox="1"/>
            <p:nvPr/>
          </p:nvSpPr>
          <p:spPr>
            <a:xfrm>
              <a:off x="566928" y="2050747"/>
              <a:ext cx="1148313" cy="203048"/>
            </a:xfrm>
            <a:prstGeom prst="rect">
              <a:avLst/>
            </a:prstGeom>
            <a:noFill/>
          </p:spPr>
          <p:txBody>
            <a:bodyPr wrap="none" anchor="ctr" lIns="0" rIns="0" tIns="0" bIns="0">
              <a:noAutofit/>
            </a:bodyPr>
            <a:lstStyle/>
            <a:p>
              <a:pPr algn="l"/>
              <a:r>
                <a:rPr sz="1100" b="0">
                  <a:solidFill>
                    <a:srgbClr val="16202C"/>
                  </a:solidFill>
                  <a:latin typeface="맑은 고딕"/>
                  <a:ea typeface="맑은 고딕"/>
                  <a:cs typeface="맑은 고딕"/>
                </a:rPr>
                <a:t>Solar-Open 100B</a:t>
              </a:r>
            </a:p>
          </p:txBody>
        </p:sp>
        <p:sp>
          <p:nvSpPr>
            <p:cNvPr id="14" name="Rectangle 13"/>
            <p:cNvSpPr/>
            <p:nvPr/>
          </p:nvSpPr>
          <p:spPr>
            <a:xfrm>
              <a:off x="2062674" y="2093216"/>
              <a:ext cx="1575876" cy="160259"/>
            </a:xfrm>
            <a:prstGeom prst="rect">
              <a:avLst/>
            </a:prstGeom>
            <a:solidFill>
              <a:srgbClr val="EEF2F7"/>
            </a:solidFill>
            <a:ln w="9348">
              <a:solidFill>
                <a:srgbClr val="5B6B7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705324" y="2050747"/>
              <a:ext cx="99140" cy="203048"/>
            </a:xfrm>
            <a:prstGeom prst="rect">
              <a:avLst/>
            </a:prstGeom>
            <a:noFill/>
          </p:spPr>
          <p:txBody>
            <a:bodyPr wrap="none" anchor="ctr" lIns="0" rIns="0" tIns="0" bIns="0">
              <a:noAutofit/>
            </a:bodyPr>
            <a:lstStyle/>
            <a:p>
              <a:pPr algn="l"/>
              <a:r>
                <a:rPr sz="1100" b="0">
                  <a:solidFill>
                    <a:srgbClr val="16202C"/>
                  </a:solidFill>
                  <a:latin typeface="맑은 고딕"/>
                  <a:ea typeface="맑은 고딕"/>
                  <a:cs typeface="맑은 고딕"/>
                </a:rPr>
                <a:t>-</a:t>
              </a:r>
            </a:p>
          </p:txBody>
        </p:sp>
        <p:sp>
          <p:nvSpPr>
            <p:cNvPr id="16" name="TextBox 15"/>
            <p:cNvSpPr txBox="1"/>
            <p:nvPr/>
          </p:nvSpPr>
          <p:spPr>
            <a:xfrm>
              <a:off x="566928" y="2251070"/>
              <a:ext cx="1077218" cy="203048"/>
            </a:xfrm>
            <a:prstGeom prst="rect">
              <a:avLst/>
            </a:prstGeom>
            <a:noFill/>
          </p:spPr>
          <p:txBody>
            <a:bodyPr wrap="none" anchor="ctr" lIns="0" rIns="0" tIns="0" bIns="0">
              <a:noAutofit/>
            </a:bodyPr>
            <a:lstStyle/>
            <a:p>
              <a:pPr algn="l"/>
              <a:r>
                <a:rPr sz="1100" b="0">
                  <a:solidFill>
                    <a:srgbClr val="16202C"/>
                  </a:solidFill>
                  <a:latin typeface="맑은 고딕"/>
                  <a:ea typeface="맑은 고딕"/>
                  <a:cs typeface="맑은 고딕"/>
                </a:rPr>
                <a:t>K-EXAONE 236B</a:t>
              </a:r>
            </a:p>
          </p:txBody>
        </p:sp>
        <p:sp>
          <p:nvSpPr>
            <p:cNvPr id="17" name="Rectangle 16"/>
            <p:cNvSpPr/>
            <p:nvPr/>
          </p:nvSpPr>
          <p:spPr>
            <a:xfrm>
              <a:off x="2062674" y="2293539"/>
              <a:ext cx="1575876" cy="160259"/>
            </a:xfrm>
            <a:prstGeom prst="rect">
              <a:avLst/>
            </a:prstGeom>
            <a:solidFill>
              <a:srgbClr val="EEF2F7"/>
            </a:solidFill>
            <a:ln w="9348">
              <a:solidFill>
                <a:srgbClr val="5B6B7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705324" y="2251070"/>
              <a:ext cx="99140" cy="203048"/>
            </a:xfrm>
            <a:prstGeom prst="rect">
              <a:avLst/>
            </a:prstGeom>
            <a:noFill/>
          </p:spPr>
          <p:txBody>
            <a:bodyPr wrap="none" anchor="ctr" lIns="0" rIns="0" tIns="0" bIns="0">
              <a:noAutofit/>
            </a:bodyPr>
            <a:lstStyle/>
            <a:p>
              <a:pPr algn="l"/>
              <a:r>
                <a:rPr sz="1100" b="0">
                  <a:solidFill>
                    <a:srgbClr val="16202C"/>
                  </a:solidFill>
                  <a:latin typeface="맑은 고딕"/>
                  <a:ea typeface="맑은 고딕"/>
                  <a:cs typeface="맑은 고딕"/>
                </a:rPr>
                <a:t>-</a:t>
              </a:r>
            </a:p>
          </p:txBody>
        </p:sp>
        <p:sp>
          <p:nvSpPr>
            <p:cNvPr id="19" name="TextBox 18"/>
            <p:cNvSpPr txBox="1"/>
            <p:nvPr/>
          </p:nvSpPr>
          <p:spPr>
            <a:xfrm>
              <a:off x="566928" y="2451394"/>
              <a:ext cx="959428" cy="203048"/>
            </a:xfrm>
            <a:prstGeom prst="rect">
              <a:avLst/>
            </a:prstGeom>
            <a:noFill/>
          </p:spPr>
          <p:txBody>
            <a:bodyPr wrap="none" anchor="ctr" lIns="0" rIns="0" tIns="0" bIns="0">
              <a:noAutofit/>
            </a:bodyPr>
            <a:lstStyle/>
            <a:p>
              <a:pPr algn="l"/>
              <a:r>
                <a:rPr sz="1100" b="0">
                  <a:solidFill>
                    <a:srgbClr val="16202C"/>
                  </a:solidFill>
                  <a:latin typeface="맑은 고딕"/>
                  <a:ea typeface="맑은 고딕"/>
                  <a:cs typeface="맑은 고딕"/>
                </a:rPr>
                <a:t>Llama 3.3 70B</a:t>
              </a:r>
            </a:p>
          </p:txBody>
        </p:sp>
        <p:sp>
          <p:nvSpPr>
            <p:cNvPr id="20" name="Rectangle 19"/>
            <p:cNvSpPr/>
            <p:nvPr/>
          </p:nvSpPr>
          <p:spPr>
            <a:xfrm>
              <a:off x="2062674" y="2493862"/>
              <a:ext cx="1575876" cy="160259"/>
            </a:xfrm>
            <a:prstGeom prst="rect">
              <a:avLst/>
            </a:prstGeom>
            <a:solidFill>
              <a:srgbClr val="EEF2F7"/>
            </a:solidFill>
            <a:ln w="9348">
              <a:solidFill>
                <a:srgbClr val="5B6B7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3705324" y="2451394"/>
              <a:ext cx="99140" cy="203048"/>
            </a:xfrm>
            <a:prstGeom prst="rect">
              <a:avLst/>
            </a:prstGeom>
            <a:noFill/>
          </p:spPr>
          <p:txBody>
            <a:bodyPr wrap="none" anchor="ctr" lIns="0" rIns="0" tIns="0" bIns="0">
              <a:noAutofit/>
            </a:bodyPr>
            <a:lstStyle/>
            <a:p>
              <a:pPr algn="l"/>
              <a:r>
                <a:rPr sz="1100" b="0">
                  <a:solidFill>
                    <a:srgbClr val="16202C"/>
                  </a:solidFill>
                  <a:latin typeface="맑은 고딕"/>
                  <a:ea typeface="맑은 고딕"/>
                  <a:cs typeface="맑은 고딕"/>
                </a:rPr>
                <a:t>-</a:t>
              </a:r>
            </a:p>
          </p:txBody>
        </p:sp>
        <p:sp>
          <p:nvSpPr>
            <p:cNvPr id="22" name="TextBox 21"/>
            <p:cNvSpPr txBox="1"/>
            <p:nvPr/>
          </p:nvSpPr>
          <p:spPr>
            <a:xfrm>
              <a:off x="566928" y="2651717"/>
              <a:ext cx="786669" cy="203048"/>
            </a:xfrm>
            <a:prstGeom prst="rect">
              <a:avLst/>
            </a:prstGeom>
            <a:noFill/>
          </p:spPr>
          <p:txBody>
            <a:bodyPr wrap="none" anchor="ctr" lIns="0" rIns="0" tIns="0" bIns="0">
              <a:noAutofit/>
            </a:bodyPr>
            <a:lstStyle/>
            <a:p>
              <a:pPr algn="l"/>
              <a:r>
                <a:rPr sz="1100" b="0">
                  <a:solidFill>
                    <a:srgbClr val="16202C"/>
                  </a:solidFill>
                  <a:latin typeface="맑은 고딕"/>
                  <a:ea typeface="맑은 고딕"/>
                  <a:cs typeface="맑은 고딕"/>
                </a:rPr>
                <a:t>Qwen3 32B</a:t>
              </a:r>
            </a:p>
          </p:txBody>
        </p:sp>
        <p:sp>
          <p:nvSpPr>
            <p:cNvPr id="23" name="Rectangle 22"/>
            <p:cNvSpPr/>
            <p:nvPr/>
          </p:nvSpPr>
          <p:spPr>
            <a:xfrm>
              <a:off x="2062674" y="2694185"/>
              <a:ext cx="1575876" cy="160259"/>
            </a:xfrm>
            <a:prstGeom prst="rect">
              <a:avLst/>
            </a:prstGeom>
            <a:solidFill>
              <a:srgbClr val="EEF2F7"/>
            </a:solidFill>
            <a:ln w="9348">
              <a:solidFill>
                <a:srgbClr val="5B6B7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2062674" y="2694185"/>
              <a:ext cx="989170" cy="160259"/>
            </a:xfrm>
            <a:prstGeom prst="rect">
              <a:avLst/>
            </a:prstGeom>
            <a:solidFill>
              <a:srgbClr val="9DA5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3705324" y="2651717"/>
              <a:ext cx="206133" cy="203048"/>
            </a:xfrm>
            <a:prstGeom prst="rect">
              <a:avLst/>
            </a:prstGeom>
            <a:noFill/>
          </p:spPr>
          <p:txBody>
            <a:bodyPr wrap="none" anchor="ctr" lIns="0" rIns="0" tIns="0" bIns="0">
              <a:noAutofit/>
            </a:bodyPr>
            <a:lstStyle/>
            <a:p>
              <a:pPr algn="l"/>
              <a:r>
                <a:rPr sz="1100" b="0">
                  <a:solidFill>
                    <a:srgbClr val="16202C"/>
                  </a:solidFill>
                  <a:latin typeface="맑은 고딕"/>
                  <a:ea typeface="맑은 고딕"/>
                  <a:cs typeface="맑은 고딕"/>
                </a:rPr>
                <a:t>55</a:t>
              </a:r>
            </a:p>
          </p:txBody>
        </p:sp>
        <p:sp>
          <p:nvSpPr>
            <p:cNvPr id="26" name="TextBox 25"/>
            <p:cNvSpPr txBox="1"/>
            <p:nvPr/>
          </p:nvSpPr>
          <p:spPr>
            <a:xfrm>
              <a:off x="4306294" y="1850424"/>
              <a:ext cx="1090820" cy="203048"/>
            </a:xfrm>
            <a:prstGeom prst="rect">
              <a:avLst/>
            </a:prstGeom>
            <a:noFill/>
          </p:spPr>
          <p:txBody>
            <a:bodyPr wrap="none" anchor="ctr" lIns="0" rIns="0" tIns="0" bIns="0">
              <a:noAutofit/>
            </a:bodyPr>
            <a:lstStyle/>
            <a:p>
              <a:pPr algn="l"/>
              <a:r>
                <a:rPr sz="1100" b="0">
                  <a:solidFill>
                    <a:srgbClr val="16202C"/>
                  </a:solidFill>
                  <a:latin typeface="맑은 고딕"/>
                  <a:ea typeface="맑은 고딕"/>
                  <a:cs typeface="맑은 고딕"/>
                </a:rPr>
                <a:t>EXAONE 4.0 32B</a:t>
              </a:r>
            </a:p>
          </p:txBody>
        </p:sp>
        <p:sp>
          <p:nvSpPr>
            <p:cNvPr id="27" name="Rectangle 26"/>
            <p:cNvSpPr/>
            <p:nvPr/>
          </p:nvSpPr>
          <p:spPr>
            <a:xfrm>
              <a:off x="5802040" y="1892893"/>
              <a:ext cx="1575876" cy="160259"/>
            </a:xfrm>
            <a:prstGeom prst="rect">
              <a:avLst/>
            </a:prstGeom>
            <a:solidFill>
              <a:srgbClr val="EEF2F7"/>
            </a:solidFill>
            <a:ln w="9348">
              <a:solidFill>
                <a:srgbClr val="5B6B7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5802040" y="1892893"/>
              <a:ext cx="593860" cy="160259"/>
            </a:xfrm>
            <a:prstGeom prst="rect">
              <a:avLst/>
            </a:prstGeom>
            <a:solidFill>
              <a:srgbClr val="9DA5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444690" y="1850424"/>
              <a:ext cx="206133" cy="203048"/>
            </a:xfrm>
            <a:prstGeom prst="rect">
              <a:avLst/>
            </a:prstGeom>
            <a:noFill/>
          </p:spPr>
          <p:txBody>
            <a:bodyPr wrap="none" anchor="ctr" lIns="0" rIns="0" tIns="0" bIns="0">
              <a:noAutofit/>
            </a:bodyPr>
            <a:lstStyle/>
            <a:p>
              <a:pPr algn="l"/>
              <a:r>
                <a:rPr sz="1100" b="0">
                  <a:solidFill>
                    <a:srgbClr val="16202C"/>
                  </a:solidFill>
                  <a:latin typeface="맑은 고딕"/>
                  <a:ea typeface="맑은 고딕"/>
                  <a:cs typeface="맑은 고딕"/>
                </a:rPr>
                <a:t>33</a:t>
              </a:r>
            </a:p>
          </p:txBody>
        </p:sp>
        <p:sp>
          <p:nvSpPr>
            <p:cNvPr id="30" name="TextBox 29"/>
            <p:cNvSpPr txBox="1"/>
            <p:nvPr/>
          </p:nvSpPr>
          <p:spPr>
            <a:xfrm>
              <a:off x="4306294" y="2050747"/>
              <a:ext cx="989156" cy="203048"/>
            </a:xfrm>
            <a:prstGeom prst="rect">
              <a:avLst/>
            </a:prstGeom>
            <a:noFill/>
          </p:spPr>
          <p:txBody>
            <a:bodyPr wrap="none" anchor="ctr" lIns="0" rIns="0" tIns="0" bIns="0">
              <a:noAutofit/>
            </a:bodyPr>
            <a:lstStyle/>
            <a:p>
              <a:pPr algn="l"/>
              <a:r>
                <a:rPr sz="1100" b="0">
                  <a:solidFill>
                    <a:srgbClr val="16202C"/>
                  </a:solidFill>
                  <a:latin typeface="맑은 고딕"/>
                  <a:ea typeface="맑은 고딕"/>
                  <a:cs typeface="맑은 고딕"/>
                </a:rPr>
                <a:t>Qwen3-VL 32B</a:t>
              </a:r>
            </a:p>
          </p:txBody>
        </p:sp>
        <p:sp>
          <p:nvSpPr>
            <p:cNvPr id="31" name="Rectangle 30"/>
            <p:cNvSpPr/>
            <p:nvPr/>
          </p:nvSpPr>
          <p:spPr>
            <a:xfrm>
              <a:off x="5802040" y="2093216"/>
              <a:ext cx="1575876" cy="160259"/>
            </a:xfrm>
            <a:prstGeom prst="rect">
              <a:avLst/>
            </a:prstGeom>
            <a:solidFill>
              <a:srgbClr val="EEF2F7"/>
            </a:solidFill>
            <a:ln w="9348">
              <a:solidFill>
                <a:srgbClr val="5B6B7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7444690" y="2050747"/>
              <a:ext cx="99140" cy="203048"/>
            </a:xfrm>
            <a:prstGeom prst="rect">
              <a:avLst/>
            </a:prstGeom>
            <a:noFill/>
          </p:spPr>
          <p:txBody>
            <a:bodyPr wrap="none" anchor="ctr" lIns="0" rIns="0" tIns="0" bIns="0">
              <a:noAutofit/>
            </a:bodyPr>
            <a:lstStyle/>
            <a:p>
              <a:pPr algn="l"/>
              <a:r>
                <a:rPr sz="1100" b="0">
                  <a:solidFill>
                    <a:srgbClr val="16202C"/>
                  </a:solidFill>
                  <a:latin typeface="맑은 고딕"/>
                  <a:ea typeface="맑은 고딕"/>
                  <a:cs typeface="맑은 고딕"/>
                </a:rPr>
                <a:t>-</a:t>
              </a:r>
            </a:p>
          </p:txBody>
        </p:sp>
        <p:sp>
          <p:nvSpPr>
            <p:cNvPr id="33" name="TextBox 32"/>
            <p:cNvSpPr txBox="1"/>
            <p:nvPr/>
          </p:nvSpPr>
          <p:spPr>
            <a:xfrm>
              <a:off x="4306294" y="2251070"/>
              <a:ext cx="1228802" cy="203048"/>
            </a:xfrm>
            <a:prstGeom prst="rect">
              <a:avLst/>
            </a:prstGeom>
            <a:noFill/>
          </p:spPr>
          <p:txBody>
            <a:bodyPr wrap="none" anchor="ctr" lIns="0" rIns="0" tIns="0" bIns="0">
              <a:noAutofit/>
            </a:bodyPr>
            <a:lstStyle/>
            <a:p>
              <a:pPr algn="l"/>
              <a:r>
                <a:rPr sz="1100" b="0">
                  <a:solidFill>
                    <a:srgbClr val="16202C"/>
                  </a:solidFill>
                  <a:latin typeface="맑은 고딕"/>
                  <a:ea typeface="맑은 고딕"/>
                  <a:cs typeface="맑은 고딕"/>
                </a:rPr>
                <a:t>Qwen3-Coder 30B</a:t>
              </a:r>
            </a:p>
          </p:txBody>
        </p:sp>
        <p:sp>
          <p:nvSpPr>
            <p:cNvPr id="34" name="Rectangle 33"/>
            <p:cNvSpPr/>
            <p:nvPr/>
          </p:nvSpPr>
          <p:spPr>
            <a:xfrm>
              <a:off x="5802040" y="2293539"/>
              <a:ext cx="1575876" cy="160259"/>
            </a:xfrm>
            <a:prstGeom prst="rect">
              <a:avLst/>
            </a:prstGeom>
            <a:solidFill>
              <a:srgbClr val="EEF2F7"/>
            </a:solidFill>
            <a:ln w="9348">
              <a:solidFill>
                <a:srgbClr val="5B6B7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5802040" y="2293539"/>
              <a:ext cx="1268213" cy="160259"/>
            </a:xfrm>
            <a:prstGeom prst="rect">
              <a:avLst/>
            </a:prstGeom>
            <a:solidFill>
              <a:srgbClr val="9DA5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7444690" y="2251070"/>
              <a:ext cx="206133" cy="203048"/>
            </a:xfrm>
            <a:prstGeom prst="rect">
              <a:avLst/>
            </a:prstGeom>
            <a:noFill/>
          </p:spPr>
          <p:txBody>
            <a:bodyPr wrap="none" anchor="ctr" lIns="0" rIns="0" tIns="0" bIns="0">
              <a:noAutofit/>
            </a:bodyPr>
            <a:lstStyle/>
            <a:p>
              <a:pPr algn="l"/>
              <a:r>
                <a:rPr sz="1100" b="0">
                  <a:solidFill>
                    <a:srgbClr val="16202C"/>
                  </a:solidFill>
                  <a:latin typeface="맑은 고딕"/>
                  <a:ea typeface="맑은 고딕"/>
                  <a:cs typeface="맑은 고딕"/>
                </a:rPr>
                <a:t>71</a:t>
              </a:r>
            </a:p>
          </p:txBody>
        </p:sp>
        <p:sp>
          <p:nvSpPr>
            <p:cNvPr id="37" name="TextBox 36"/>
            <p:cNvSpPr txBox="1"/>
            <p:nvPr/>
          </p:nvSpPr>
          <p:spPr>
            <a:xfrm>
              <a:off x="4306294" y="2451394"/>
              <a:ext cx="1184210" cy="203048"/>
            </a:xfrm>
            <a:prstGeom prst="rect">
              <a:avLst/>
            </a:prstGeom>
            <a:noFill/>
          </p:spPr>
          <p:txBody>
            <a:bodyPr wrap="none" anchor="ctr" lIns="0" rIns="0" tIns="0" bIns="0">
              <a:noAutofit/>
            </a:bodyPr>
            <a:lstStyle/>
            <a:p>
              <a:pPr algn="l"/>
              <a:r>
                <a:rPr sz="1100" b="0">
                  <a:solidFill>
                    <a:srgbClr val="16202C"/>
                  </a:solidFill>
                  <a:latin typeface="맑은 고딕"/>
                  <a:ea typeface="맑은 고딕"/>
                  <a:cs typeface="맑은 고딕"/>
                </a:rPr>
                <a:t>A3B Instruct 2507</a:t>
              </a:r>
            </a:p>
          </p:txBody>
        </p:sp>
        <p:sp>
          <p:nvSpPr>
            <p:cNvPr id="38" name="Rectangle 37"/>
            <p:cNvSpPr/>
            <p:nvPr/>
          </p:nvSpPr>
          <p:spPr>
            <a:xfrm>
              <a:off x="5802040" y="2493862"/>
              <a:ext cx="1575876" cy="160259"/>
            </a:xfrm>
            <a:prstGeom prst="rect">
              <a:avLst/>
            </a:prstGeom>
            <a:solidFill>
              <a:srgbClr val="EEF2F7"/>
            </a:solidFill>
            <a:ln w="9348">
              <a:solidFill>
                <a:srgbClr val="5B6B7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5802040" y="2493862"/>
              <a:ext cx="1286101" cy="160259"/>
            </a:xfrm>
            <a:prstGeom prst="rect">
              <a:avLst/>
            </a:prstGeom>
            <a:solidFill>
              <a:srgbClr val="9DA5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7444690" y="2451394"/>
              <a:ext cx="206133" cy="203048"/>
            </a:xfrm>
            <a:prstGeom prst="rect">
              <a:avLst/>
            </a:prstGeom>
            <a:noFill/>
          </p:spPr>
          <p:txBody>
            <a:bodyPr wrap="none" anchor="ctr" lIns="0" rIns="0" tIns="0" bIns="0">
              <a:noAutofit/>
            </a:bodyPr>
            <a:lstStyle/>
            <a:p>
              <a:pPr algn="l"/>
              <a:r>
                <a:rPr sz="1100" b="0">
                  <a:solidFill>
                    <a:srgbClr val="16202C"/>
                  </a:solidFill>
                  <a:latin typeface="맑은 고딕"/>
                  <a:ea typeface="맑은 고딕"/>
                  <a:cs typeface="맑은 고딕"/>
                </a:rPr>
                <a:t>72</a:t>
              </a:r>
            </a:p>
          </p:txBody>
        </p:sp>
        <p:sp>
          <p:nvSpPr>
            <p:cNvPr id="41" name="TextBox 40"/>
            <p:cNvSpPr txBox="1"/>
            <p:nvPr/>
          </p:nvSpPr>
          <p:spPr>
            <a:xfrm>
              <a:off x="4306294" y="2651717"/>
              <a:ext cx="1253622" cy="203048"/>
            </a:xfrm>
            <a:prstGeom prst="rect">
              <a:avLst/>
            </a:prstGeom>
            <a:noFill/>
          </p:spPr>
          <p:txBody>
            <a:bodyPr wrap="none" anchor="ctr" lIns="0" rIns="0" tIns="0" bIns="0">
              <a:noAutofit/>
            </a:bodyPr>
            <a:lstStyle/>
            <a:p>
              <a:pPr algn="l"/>
              <a:r>
                <a:rPr sz="1100" b="0">
                  <a:solidFill>
                    <a:srgbClr val="16202C"/>
                  </a:solidFill>
                  <a:latin typeface="맑은 고딕"/>
                  <a:ea typeface="맑은 고딕"/>
                  <a:cs typeface="맑은 고딕"/>
                </a:rPr>
                <a:t>A3B Thinking 2507</a:t>
              </a:r>
            </a:p>
          </p:txBody>
        </p:sp>
        <p:sp>
          <p:nvSpPr>
            <p:cNvPr id="42" name="Rectangle 41"/>
            <p:cNvSpPr/>
            <p:nvPr/>
          </p:nvSpPr>
          <p:spPr>
            <a:xfrm>
              <a:off x="5802040" y="2694185"/>
              <a:ext cx="1575876" cy="160259"/>
            </a:xfrm>
            <a:prstGeom prst="rect">
              <a:avLst/>
            </a:prstGeom>
            <a:solidFill>
              <a:srgbClr val="EEF2F7"/>
            </a:solidFill>
            <a:ln w="9348">
              <a:solidFill>
                <a:srgbClr val="5B6B7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5802040" y="2694185"/>
              <a:ext cx="1273579" cy="160259"/>
            </a:xfrm>
            <a:prstGeom prst="rect">
              <a:avLst/>
            </a:prstGeom>
            <a:solidFill>
              <a:srgbClr val="9DA5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7444690" y="2651717"/>
              <a:ext cx="206133" cy="203048"/>
            </a:xfrm>
            <a:prstGeom prst="rect">
              <a:avLst/>
            </a:prstGeom>
            <a:noFill/>
          </p:spPr>
          <p:txBody>
            <a:bodyPr wrap="none" anchor="ctr" lIns="0" rIns="0" tIns="0" bIns="0">
              <a:noAutofit/>
            </a:bodyPr>
            <a:lstStyle/>
            <a:p>
              <a:pPr algn="l"/>
              <a:r>
                <a:rPr sz="1100" b="0">
                  <a:solidFill>
                    <a:srgbClr val="16202C"/>
                  </a:solidFill>
                  <a:latin typeface="맑은 고딕"/>
                  <a:ea typeface="맑은 고딕"/>
                  <a:cs typeface="맑은 고딕"/>
                </a:rPr>
                <a:t>71</a:t>
              </a:r>
            </a:p>
          </p:txBody>
        </p:sp>
        <p:sp>
          <p:nvSpPr>
            <p:cNvPr id="45" name="TextBox 44"/>
            <p:cNvSpPr txBox="1"/>
            <p:nvPr/>
          </p:nvSpPr>
          <p:spPr>
            <a:xfrm>
              <a:off x="8045660" y="1850424"/>
              <a:ext cx="584884" cy="203048"/>
            </a:xfrm>
            <a:prstGeom prst="rect">
              <a:avLst/>
            </a:prstGeom>
            <a:noFill/>
          </p:spPr>
          <p:txBody>
            <a:bodyPr wrap="none" anchor="ctr" lIns="0" rIns="0" tIns="0" bIns="0">
              <a:noAutofit/>
            </a:bodyPr>
            <a:lstStyle/>
            <a:p>
              <a:pPr algn="l"/>
              <a:r>
                <a:rPr sz="1100" b="0">
                  <a:solidFill>
                    <a:srgbClr val="16202C"/>
                  </a:solidFill>
                  <a:latin typeface="맑은 고딕"/>
                  <a:ea typeface="맑은 고딕"/>
                  <a:cs typeface="맑은 고딕"/>
                </a:rPr>
                <a:t>A3B 30B</a:t>
              </a:r>
            </a:p>
          </p:txBody>
        </p:sp>
        <p:sp>
          <p:nvSpPr>
            <p:cNvPr id="46" name="Rectangle 45"/>
            <p:cNvSpPr/>
            <p:nvPr/>
          </p:nvSpPr>
          <p:spPr>
            <a:xfrm>
              <a:off x="9541406" y="1892893"/>
              <a:ext cx="1575876" cy="160259"/>
            </a:xfrm>
            <a:prstGeom prst="rect">
              <a:avLst/>
            </a:prstGeom>
            <a:solidFill>
              <a:srgbClr val="EEF2F7"/>
            </a:solidFill>
            <a:ln w="9348">
              <a:solidFill>
                <a:srgbClr val="5B6B7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11184056" y="1850424"/>
              <a:ext cx="99140" cy="203048"/>
            </a:xfrm>
            <a:prstGeom prst="rect">
              <a:avLst/>
            </a:prstGeom>
            <a:noFill/>
          </p:spPr>
          <p:txBody>
            <a:bodyPr wrap="none" anchor="ctr" lIns="0" rIns="0" tIns="0" bIns="0">
              <a:noAutofit/>
            </a:bodyPr>
            <a:lstStyle/>
            <a:p>
              <a:pPr algn="l"/>
              <a:r>
                <a:rPr sz="1100" b="0">
                  <a:solidFill>
                    <a:srgbClr val="16202C"/>
                  </a:solidFill>
                  <a:latin typeface="맑은 고딕"/>
                  <a:ea typeface="맑은 고딕"/>
                  <a:cs typeface="맑은 고딕"/>
                </a:rPr>
                <a:t>-</a:t>
              </a:r>
            </a:p>
          </p:txBody>
        </p:sp>
        <p:sp>
          <p:nvSpPr>
            <p:cNvPr id="48" name="TextBox 47"/>
            <p:cNvSpPr txBox="1"/>
            <p:nvPr/>
          </p:nvSpPr>
          <p:spPr>
            <a:xfrm>
              <a:off x="8045660" y="2050747"/>
              <a:ext cx="881602" cy="203048"/>
            </a:xfrm>
            <a:prstGeom prst="rect">
              <a:avLst/>
            </a:prstGeom>
            <a:noFill/>
          </p:spPr>
          <p:txBody>
            <a:bodyPr wrap="none" anchor="ctr" lIns="0" rIns="0" tIns="0" bIns="0">
              <a:noAutofit/>
            </a:bodyPr>
            <a:lstStyle/>
            <a:p>
              <a:pPr algn="l"/>
              <a:r>
                <a:rPr sz="1100" b="0">
                  <a:solidFill>
                    <a:srgbClr val="16202C"/>
                  </a:solidFill>
                  <a:latin typeface="맑은 고딕"/>
                  <a:ea typeface="맑은 고딕"/>
                  <a:cs typeface="맑은 고딕"/>
                </a:rPr>
                <a:t>Llama 3.1 8B</a:t>
              </a:r>
            </a:p>
          </p:txBody>
        </p:sp>
        <p:sp>
          <p:nvSpPr>
            <p:cNvPr id="49" name="Rectangle 48"/>
            <p:cNvSpPr/>
            <p:nvPr/>
          </p:nvSpPr>
          <p:spPr>
            <a:xfrm>
              <a:off x="9541406" y="2093216"/>
              <a:ext cx="1575876" cy="160259"/>
            </a:xfrm>
            <a:prstGeom prst="rect">
              <a:avLst/>
            </a:prstGeom>
            <a:solidFill>
              <a:srgbClr val="EEF2F7"/>
            </a:solidFill>
            <a:ln w="9348">
              <a:solidFill>
                <a:srgbClr val="5B6B7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Rectangle 49"/>
            <p:cNvSpPr/>
            <p:nvPr/>
          </p:nvSpPr>
          <p:spPr>
            <a:xfrm>
              <a:off x="9541406" y="2093216"/>
              <a:ext cx="889001" cy="160259"/>
            </a:xfrm>
            <a:prstGeom prst="rect">
              <a:avLst/>
            </a:prstGeom>
            <a:solidFill>
              <a:srgbClr val="FFD3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11184056" y="2050747"/>
              <a:ext cx="206133" cy="203048"/>
            </a:xfrm>
            <a:prstGeom prst="rect">
              <a:avLst/>
            </a:prstGeom>
            <a:noFill/>
          </p:spPr>
          <p:txBody>
            <a:bodyPr wrap="none" anchor="ctr" lIns="0" rIns="0" tIns="0" bIns="0">
              <a:noAutofit/>
            </a:bodyPr>
            <a:lstStyle/>
            <a:p>
              <a:pPr algn="l"/>
              <a:r>
                <a:rPr sz="1100" b="0">
                  <a:solidFill>
                    <a:srgbClr val="16202C"/>
                  </a:solidFill>
                  <a:latin typeface="맑은 고딕"/>
                  <a:ea typeface="맑은 고딕"/>
                  <a:cs typeface="맑은 고딕"/>
                </a:rPr>
                <a:t>50</a:t>
              </a:r>
            </a:p>
          </p:txBody>
        </p:sp>
        <p:sp>
          <p:nvSpPr>
            <p:cNvPr id="52" name="TextBox 51"/>
            <p:cNvSpPr txBox="1"/>
            <p:nvPr/>
          </p:nvSpPr>
          <p:spPr>
            <a:xfrm>
              <a:off x="8045660" y="2251070"/>
              <a:ext cx="708844" cy="203048"/>
            </a:xfrm>
            <a:prstGeom prst="rect">
              <a:avLst/>
            </a:prstGeom>
            <a:noFill/>
          </p:spPr>
          <p:txBody>
            <a:bodyPr wrap="none" anchor="ctr" lIns="0" rIns="0" tIns="0" bIns="0">
              <a:noAutofit/>
            </a:bodyPr>
            <a:lstStyle/>
            <a:p>
              <a:pPr algn="l"/>
              <a:r>
                <a:rPr sz="1100" b="0">
                  <a:solidFill>
                    <a:srgbClr val="16202C"/>
                  </a:solidFill>
                  <a:latin typeface="맑은 고딕"/>
                  <a:ea typeface="맑은 고딕"/>
                  <a:cs typeface="맑은 고딕"/>
                </a:rPr>
                <a:t>Qwen3 8B</a:t>
              </a:r>
            </a:p>
          </p:txBody>
        </p:sp>
        <p:sp>
          <p:nvSpPr>
            <p:cNvPr id="53" name="Rectangle 52"/>
            <p:cNvSpPr/>
            <p:nvPr/>
          </p:nvSpPr>
          <p:spPr>
            <a:xfrm>
              <a:off x="9541406" y="2293539"/>
              <a:ext cx="1575876" cy="160259"/>
            </a:xfrm>
            <a:prstGeom prst="rect">
              <a:avLst/>
            </a:prstGeom>
            <a:solidFill>
              <a:srgbClr val="EEF2F7"/>
            </a:solidFill>
            <a:ln w="9348">
              <a:solidFill>
                <a:srgbClr val="5B6B7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Rectangle 53"/>
            <p:cNvSpPr/>
            <p:nvPr/>
          </p:nvSpPr>
          <p:spPr>
            <a:xfrm>
              <a:off x="9541406" y="2293539"/>
              <a:ext cx="1176988" cy="160259"/>
            </a:xfrm>
            <a:prstGeom prst="rect">
              <a:avLst/>
            </a:prstGeom>
            <a:solidFill>
              <a:srgbClr val="FFD3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11184056" y="2251070"/>
              <a:ext cx="206133" cy="203048"/>
            </a:xfrm>
            <a:prstGeom prst="rect">
              <a:avLst/>
            </a:prstGeom>
            <a:noFill/>
          </p:spPr>
          <p:txBody>
            <a:bodyPr wrap="none" anchor="ctr" lIns="0" rIns="0" tIns="0" bIns="0">
              <a:noAutofit/>
            </a:bodyPr>
            <a:lstStyle/>
            <a:p>
              <a:pPr algn="l"/>
              <a:r>
                <a:rPr sz="1100" b="0">
                  <a:solidFill>
                    <a:srgbClr val="16202C"/>
                  </a:solidFill>
                  <a:latin typeface="맑은 고딕"/>
                  <a:ea typeface="맑은 고딕"/>
                  <a:cs typeface="맑은 고딕"/>
                </a:rPr>
                <a:t>66</a:t>
              </a:r>
            </a:p>
          </p:txBody>
        </p:sp>
        <p:sp>
          <p:nvSpPr>
            <p:cNvPr id="56" name="TextBox 55"/>
            <p:cNvSpPr txBox="1"/>
            <p:nvPr/>
          </p:nvSpPr>
          <p:spPr>
            <a:xfrm>
              <a:off x="8045660" y="2451394"/>
              <a:ext cx="708844" cy="203048"/>
            </a:xfrm>
            <a:prstGeom prst="rect">
              <a:avLst/>
            </a:prstGeom>
            <a:noFill/>
          </p:spPr>
          <p:txBody>
            <a:bodyPr wrap="none" anchor="ctr" lIns="0" rIns="0" tIns="0" bIns="0">
              <a:noAutofit/>
            </a:bodyPr>
            <a:lstStyle/>
            <a:p>
              <a:pPr algn="l"/>
              <a:r>
                <a:rPr sz="1100" b="0">
                  <a:solidFill>
                    <a:srgbClr val="16202C"/>
                  </a:solidFill>
                  <a:latin typeface="맑은 고딕"/>
                  <a:ea typeface="맑은 고딕"/>
                  <a:cs typeface="맑은 고딕"/>
                </a:rPr>
                <a:t>Qwen3 4B</a:t>
              </a:r>
            </a:p>
          </p:txBody>
        </p:sp>
        <p:sp>
          <p:nvSpPr>
            <p:cNvPr id="57" name="Rectangle 56"/>
            <p:cNvSpPr/>
            <p:nvPr/>
          </p:nvSpPr>
          <p:spPr>
            <a:xfrm>
              <a:off x="9541406" y="2493862"/>
              <a:ext cx="1575876" cy="160259"/>
            </a:xfrm>
            <a:prstGeom prst="rect">
              <a:avLst/>
            </a:prstGeom>
            <a:solidFill>
              <a:srgbClr val="EEF2F7"/>
            </a:solidFill>
            <a:ln w="9348">
              <a:solidFill>
                <a:srgbClr val="5B6B7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Rectangle 57"/>
            <p:cNvSpPr/>
            <p:nvPr/>
          </p:nvSpPr>
          <p:spPr>
            <a:xfrm>
              <a:off x="9541406" y="2493862"/>
              <a:ext cx="1481073" cy="160259"/>
            </a:xfrm>
            <a:prstGeom prst="rect">
              <a:avLst/>
            </a:prstGeom>
            <a:solidFill>
              <a:srgbClr val="FFD3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11184056" y="2451394"/>
              <a:ext cx="206133" cy="203048"/>
            </a:xfrm>
            <a:prstGeom prst="rect">
              <a:avLst/>
            </a:prstGeom>
            <a:noFill/>
          </p:spPr>
          <p:txBody>
            <a:bodyPr wrap="none" anchor="ctr" lIns="0" rIns="0" tIns="0" bIns="0">
              <a:noAutofit/>
            </a:bodyPr>
            <a:lstStyle/>
            <a:p>
              <a:pPr algn="l"/>
              <a:r>
                <a:rPr sz="1100" b="0">
                  <a:solidFill>
                    <a:srgbClr val="16202C"/>
                  </a:solidFill>
                  <a:latin typeface="맑은 고딕"/>
                  <a:ea typeface="맑은 고딕"/>
                  <a:cs typeface="맑은 고딕"/>
                </a:rPr>
                <a:t>83</a:t>
              </a:r>
            </a:p>
          </p:txBody>
        </p:sp>
        <p:sp>
          <p:nvSpPr>
            <p:cNvPr id="60" name="TextBox 59"/>
            <p:cNvSpPr txBox="1"/>
            <p:nvPr/>
          </p:nvSpPr>
          <p:spPr>
            <a:xfrm>
              <a:off x="8045660" y="2651717"/>
              <a:ext cx="942460" cy="203048"/>
            </a:xfrm>
            <a:prstGeom prst="rect">
              <a:avLst/>
            </a:prstGeom>
            <a:noFill/>
          </p:spPr>
          <p:txBody>
            <a:bodyPr wrap="none" anchor="ctr" lIns="0" rIns="0" tIns="0" bIns="0">
              <a:noAutofit/>
            </a:bodyPr>
            <a:lstStyle/>
            <a:p>
              <a:pPr algn="l"/>
              <a:r>
                <a:rPr sz="1100" b="0">
                  <a:solidFill>
                    <a:srgbClr val="16202C"/>
                  </a:solidFill>
                  <a:latin typeface="맑은 고딕"/>
                  <a:ea typeface="맑은 고딕"/>
                  <a:cs typeface="맑은 고딕"/>
                </a:rPr>
                <a:t>Qwen2.5 0.5B</a:t>
              </a:r>
            </a:p>
          </p:txBody>
        </p:sp>
        <p:sp>
          <p:nvSpPr>
            <p:cNvPr id="61" name="Rectangle 60"/>
            <p:cNvSpPr/>
            <p:nvPr/>
          </p:nvSpPr>
          <p:spPr>
            <a:xfrm>
              <a:off x="9541406" y="2694185"/>
              <a:ext cx="1575876" cy="160259"/>
            </a:xfrm>
            <a:prstGeom prst="rect">
              <a:avLst/>
            </a:prstGeom>
            <a:solidFill>
              <a:srgbClr val="EEF2F7"/>
            </a:solidFill>
            <a:ln w="9348">
              <a:solidFill>
                <a:srgbClr val="5B6B7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Rectangle 61"/>
            <p:cNvSpPr/>
            <p:nvPr/>
          </p:nvSpPr>
          <p:spPr>
            <a:xfrm>
              <a:off x="9541406" y="2694185"/>
              <a:ext cx="1575876" cy="160259"/>
            </a:xfrm>
            <a:prstGeom prst="rect">
              <a:avLst/>
            </a:prstGeom>
            <a:solidFill>
              <a:srgbClr val="FFD3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TextBox 62"/>
            <p:cNvSpPr txBox="1"/>
            <p:nvPr/>
          </p:nvSpPr>
          <p:spPr>
            <a:xfrm>
              <a:off x="11184056" y="2651717"/>
              <a:ext cx="206133" cy="203048"/>
            </a:xfrm>
            <a:prstGeom prst="rect">
              <a:avLst/>
            </a:prstGeom>
            <a:noFill/>
          </p:spPr>
          <p:txBody>
            <a:bodyPr wrap="none" anchor="ctr" lIns="0" rIns="0" tIns="0" bIns="0">
              <a:noAutofit/>
            </a:bodyPr>
            <a:lstStyle/>
            <a:p>
              <a:pPr algn="l"/>
              <a:r>
                <a:rPr sz="1100" b="0">
                  <a:solidFill>
                    <a:srgbClr val="16202C"/>
                  </a:solidFill>
                  <a:latin typeface="맑은 고딕"/>
                  <a:ea typeface="맑은 고딕"/>
                  <a:cs typeface="맑은 고딕"/>
                </a:rPr>
                <a:t>88</a:t>
              </a:r>
            </a:p>
          </p:txBody>
        </p:sp>
        <p:sp>
          <p:nvSpPr>
            <p:cNvPr id="64" name="TextBox 63"/>
            <p:cNvSpPr txBox="1"/>
            <p:nvPr/>
          </p:nvSpPr>
          <p:spPr>
            <a:xfrm>
              <a:off x="566928" y="3036871"/>
              <a:ext cx="3512707" cy="222385"/>
            </a:xfrm>
            <a:prstGeom prst="rect">
              <a:avLst/>
            </a:prstGeom>
            <a:noFill/>
          </p:spPr>
          <p:txBody>
            <a:bodyPr wrap="none" anchor="ctr" lIns="0" rIns="0" tIns="0" bIns="0">
              <a:noAutofit/>
            </a:bodyPr>
            <a:lstStyle/>
            <a:p>
              <a:pPr algn="l"/>
              <a:r>
                <a:rPr sz="1210" b="1">
                  <a:solidFill>
                    <a:srgbClr val="16202C"/>
                  </a:solidFill>
                  <a:latin typeface="맑은 고딕"/>
                  <a:ea typeface="맑은 고딕"/>
                  <a:cs typeface="맑은 고딕"/>
                </a:rPr>
                <a:t>(b) 같은 질문 4개를 동시에 던졌을 때 전체 속도, tok/s</a:t>
              </a:r>
            </a:p>
          </p:txBody>
        </p:sp>
        <p:sp>
          <p:nvSpPr>
            <p:cNvPr id="65" name="TextBox 64"/>
            <p:cNvSpPr txBox="1"/>
            <p:nvPr/>
          </p:nvSpPr>
          <p:spPr>
            <a:xfrm>
              <a:off x="566928" y="3332816"/>
              <a:ext cx="884547" cy="203048"/>
            </a:xfrm>
            <a:prstGeom prst="rect">
              <a:avLst/>
            </a:prstGeom>
            <a:noFill/>
          </p:spPr>
          <p:txBody>
            <a:bodyPr wrap="none" anchor="ctr" lIns="0" rIns="0" tIns="0" bIns="0">
              <a:noAutofit/>
            </a:bodyPr>
            <a:lstStyle/>
            <a:p>
              <a:pPr algn="l"/>
              <a:r>
                <a:rPr sz="1100" b="0">
                  <a:solidFill>
                    <a:srgbClr val="16202C"/>
                  </a:solidFill>
                  <a:latin typeface="맑은 고딕"/>
                  <a:ea typeface="맑은 고딕"/>
                  <a:cs typeface="맑은 고딕"/>
                </a:rPr>
                <a:t>gpt-oss 120B</a:t>
              </a:r>
            </a:p>
          </p:txBody>
        </p:sp>
        <p:sp>
          <p:nvSpPr>
            <p:cNvPr id="66" name="Rectangle 65"/>
            <p:cNvSpPr/>
            <p:nvPr/>
          </p:nvSpPr>
          <p:spPr>
            <a:xfrm>
              <a:off x="2062674" y="3375284"/>
              <a:ext cx="1575876" cy="160259"/>
            </a:xfrm>
            <a:prstGeom prst="rect">
              <a:avLst/>
            </a:prstGeom>
            <a:solidFill>
              <a:srgbClr val="EEF2F7"/>
            </a:solidFill>
            <a:ln w="9348">
              <a:solidFill>
                <a:srgbClr val="5B6B7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TextBox 66"/>
            <p:cNvSpPr txBox="1"/>
            <p:nvPr/>
          </p:nvSpPr>
          <p:spPr>
            <a:xfrm>
              <a:off x="3705324" y="3332816"/>
              <a:ext cx="99140" cy="203048"/>
            </a:xfrm>
            <a:prstGeom prst="rect">
              <a:avLst/>
            </a:prstGeom>
            <a:noFill/>
          </p:spPr>
          <p:txBody>
            <a:bodyPr wrap="none" anchor="ctr" lIns="0" rIns="0" tIns="0" bIns="0">
              <a:noAutofit/>
            </a:bodyPr>
            <a:lstStyle/>
            <a:p>
              <a:pPr algn="l"/>
              <a:r>
                <a:rPr sz="1100" b="0">
                  <a:solidFill>
                    <a:srgbClr val="16202C"/>
                  </a:solidFill>
                  <a:latin typeface="맑은 고딕"/>
                  <a:ea typeface="맑은 고딕"/>
                  <a:cs typeface="맑은 고딕"/>
                </a:rPr>
                <a:t>-</a:t>
              </a:r>
            </a:p>
          </p:txBody>
        </p:sp>
        <p:sp>
          <p:nvSpPr>
            <p:cNvPr id="68" name="TextBox 67"/>
            <p:cNvSpPr txBox="1"/>
            <p:nvPr/>
          </p:nvSpPr>
          <p:spPr>
            <a:xfrm>
              <a:off x="566928" y="3533139"/>
              <a:ext cx="1148313" cy="203048"/>
            </a:xfrm>
            <a:prstGeom prst="rect">
              <a:avLst/>
            </a:prstGeom>
            <a:noFill/>
          </p:spPr>
          <p:txBody>
            <a:bodyPr wrap="none" anchor="ctr" lIns="0" rIns="0" tIns="0" bIns="0">
              <a:noAutofit/>
            </a:bodyPr>
            <a:lstStyle/>
            <a:p>
              <a:pPr algn="l"/>
              <a:r>
                <a:rPr sz="1100" b="0">
                  <a:solidFill>
                    <a:srgbClr val="16202C"/>
                  </a:solidFill>
                  <a:latin typeface="맑은 고딕"/>
                  <a:ea typeface="맑은 고딕"/>
                  <a:cs typeface="맑은 고딕"/>
                </a:rPr>
                <a:t>Solar-Open 100B</a:t>
              </a:r>
            </a:p>
          </p:txBody>
        </p:sp>
        <p:sp>
          <p:nvSpPr>
            <p:cNvPr id="69" name="Rectangle 68"/>
            <p:cNvSpPr/>
            <p:nvPr/>
          </p:nvSpPr>
          <p:spPr>
            <a:xfrm>
              <a:off x="2062674" y="3575607"/>
              <a:ext cx="1575876" cy="160259"/>
            </a:xfrm>
            <a:prstGeom prst="rect">
              <a:avLst/>
            </a:prstGeom>
            <a:solidFill>
              <a:srgbClr val="EEF2F7"/>
            </a:solidFill>
            <a:ln w="9348">
              <a:solidFill>
                <a:srgbClr val="5B6B7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TextBox 69"/>
            <p:cNvSpPr txBox="1"/>
            <p:nvPr/>
          </p:nvSpPr>
          <p:spPr>
            <a:xfrm>
              <a:off x="3705324" y="3533139"/>
              <a:ext cx="99140" cy="203048"/>
            </a:xfrm>
            <a:prstGeom prst="rect">
              <a:avLst/>
            </a:prstGeom>
            <a:noFill/>
          </p:spPr>
          <p:txBody>
            <a:bodyPr wrap="none" anchor="ctr" lIns="0" rIns="0" tIns="0" bIns="0">
              <a:noAutofit/>
            </a:bodyPr>
            <a:lstStyle/>
            <a:p>
              <a:pPr algn="l"/>
              <a:r>
                <a:rPr sz="1100" b="0">
                  <a:solidFill>
                    <a:srgbClr val="16202C"/>
                  </a:solidFill>
                  <a:latin typeface="맑은 고딕"/>
                  <a:ea typeface="맑은 고딕"/>
                  <a:cs typeface="맑은 고딕"/>
                </a:rPr>
                <a:t>-</a:t>
              </a:r>
            </a:p>
          </p:txBody>
        </p:sp>
        <p:sp>
          <p:nvSpPr>
            <p:cNvPr id="71" name="TextBox 70"/>
            <p:cNvSpPr txBox="1"/>
            <p:nvPr/>
          </p:nvSpPr>
          <p:spPr>
            <a:xfrm>
              <a:off x="566928" y="3733462"/>
              <a:ext cx="1077218" cy="203048"/>
            </a:xfrm>
            <a:prstGeom prst="rect">
              <a:avLst/>
            </a:prstGeom>
            <a:noFill/>
          </p:spPr>
          <p:txBody>
            <a:bodyPr wrap="none" anchor="ctr" lIns="0" rIns="0" tIns="0" bIns="0">
              <a:noAutofit/>
            </a:bodyPr>
            <a:lstStyle/>
            <a:p>
              <a:pPr algn="l"/>
              <a:r>
                <a:rPr sz="1100" b="0">
                  <a:solidFill>
                    <a:srgbClr val="16202C"/>
                  </a:solidFill>
                  <a:latin typeface="맑은 고딕"/>
                  <a:ea typeface="맑은 고딕"/>
                  <a:cs typeface="맑은 고딕"/>
                </a:rPr>
                <a:t>K-EXAONE 236B</a:t>
              </a:r>
            </a:p>
          </p:txBody>
        </p:sp>
        <p:sp>
          <p:nvSpPr>
            <p:cNvPr id="72" name="Rectangle 71"/>
            <p:cNvSpPr/>
            <p:nvPr/>
          </p:nvSpPr>
          <p:spPr>
            <a:xfrm>
              <a:off x="2062674" y="3775930"/>
              <a:ext cx="1575876" cy="160259"/>
            </a:xfrm>
            <a:prstGeom prst="rect">
              <a:avLst/>
            </a:prstGeom>
            <a:solidFill>
              <a:srgbClr val="EEF2F7"/>
            </a:solidFill>
            <a:ln w="9348">
              <a:solidFill>
                <a:srgbClr val="5B6B7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TextBox 72"/>
            <p:cNvSpPr txBox="1"/>
            <p:nvPr/>
          </p:nvSpPr>
          <p:spPr>
            <a:xfrm>
              <a:off x="3705324" y="3733462"/>
              <a:ext cx="99140" cy="203048"/>
            </a:xfrm>
            <a:prstGeom prst="rect">
              <a:avLst/>
            </a:prstGeom>
            <a:noFill/>
          </p:spPr>
          <p:txBody>
            <a:bodyPr wrap="none" anchor="ctr" lIns="0" rIns="0" tIns="0" bIns="0">
              <a:noAutofit/>
            </a:bodyPr>
            <a:lstStyle/>
            <a:p>
              <a:pPr algn="l"/>
              <a:r>
                <a:rPr sz="1100" b="0">
                  <a:solidFill>
                    <a:srgbClr val="16202C"/>
                  </a:solidFill>
                  <a:latin typeface="맑은 고딕"/>
                  <a:ea typeface="맑은 고딕"/>
                  <a:cs typeface="맑은 고딕"/>
                </a:rPr>
                <a:t>-</a:t>
              </a:r>
            </a:p>
          </p:txBody>
        </p:sp>
        <p:sp>
          <p:nvSpPr>
            <p:cNvPr id="74" name="TextBox 73"/>
            <p:cNvSpPr txBox="1"/>
            <p:nvPr/>
          </p:nvSpPr>
          <p:spPr>
            <a:xfrm>
              <a:off x="566928" y="3933785"/>
              <a:ext cx="959428" cy="203048"/>
            </a:xfrm>
            <a:prstGeom prst="rect">
              <a:avLst/>
            </a:prstGeom>
            <a:noFill/>
          </p:spPr>
          <p:txBody>
            <a:bodyPr wrap="none" anchor="ctr" lIns="0" rIns="0" tIns="0" bIns="0">
              <a:noAutofit/>
            </a:bodyPr>
            <a:lstStyle/>
            <a:p>
              <a:pPr algn="l"/>
              <a:r>
                <a:rPr sz="1100" b="0">
                  <a:solidFill>
                    <a:srgbClr val="16202C"/>
                  </a:solidFill>
                  <a:latin typeface="맑은 고딕"/>
                  <a:ea typeface="맑은 고딕"/>
                  <a:cs typeface="맑은 고딕"/>
                </a:rPr>
                <a:t>Llama 3.3 70B</a:t>
              </a:r>
            </a:p>
          </p:txBody>
        </p:sp>
        <p:sp>
          <p:nvSpPr>
            <p:cNvPr id="75" name="Rectangle 74"/>
            <p:cNvSpPr/>
            <p:nvPr/>
          </p:nvSpPr>
          <p:spPr>
            <a:xfrm>
              <a:off x="2062674" y="3976254"/>
              <a:ext cx="1575876" cy="160259"/>
            </a:xfrm>
            <a:prstGeom prst="rect">
              <a:avLst/>
            </a:prstGeom>
            <a:solidFill>
              <a:srgbClr val="EEF2F7"/>
            </a:solidFill>
            <a:ln w="9348">
              <a:solidFill>
                <a:srgbClr val="5B6B7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TextBox 75"/>
            <p:cNvSpPr txBox="1"/>
            <p:nvPr/>
          </p:nvSpPr>
          <p:spPr>
            <a:xfrm>
              <a:off x="3705324" y="3933785"/>
              <a:ext cx="99140" cy="203048"/>
            </a:xfrm>
            <a:prstGeom prst="rect">
              <a:avLst/>
            </a:prstGeom>
            <a:noFill/>
          </p:spPr>
          <p:txBody>
            <a:bodyPr wrap="none" anchor="ctr" lIns="0" rIns="0" tIns="0" bIns="0">
              <a:noAutofit/>
            </a:bodyPr>
            <a:lstStyle/>
            <a:p>
              <a:pPr algn="l"/>
              <a:r>
                <a:rPr sz="1100" b="0">
                  <a:solidFill>
                    <a:srgbClr val="16202C"/>
                  </a:solidFill>
                  <a:latin typeface="맑은 고딕"/>
                  <a:ea typeface="맑은 고딕"/>
                  <a:cs typeface="맑은 고딕"/>
                </a:rPr>
                <a:t>-</a:t>
              </a:r>
            </a:p>
          </p:txBody>
        </p:sp>
        <p:sp>
          <p:nvSpPr>
            <p:cNvPr id="77" name="TextBox 76"/>
            <p:cNvSpPr txBox="1"/>
            <p:nvPr/>
          </p:nvSpPr>
          <p:spPr>
            <a:xfrm>
              <a:off x="566928" y="4134108"/>
              <a:ext cx="786669" cy="203048"/>
            </a:xfrm>
            <a:prstGeom prst="rect">
              <a:avLst/>
            </a:prstGeom>
            <a:noFill/>
          </p:spPr>
          <p:txBody>
            <a:bodyPr wrap="none" anchor="ctr" lIns="0" rIns="0" tIns="0" bIns="0">
              <a:noAutofit/>
            </a:bodyPr>
            <a:lstStyle/>
            <a:p>
              <a:pPr algn="l"/>
              <a:r>
                <a:rPr sz="1100" b="0">
                  <a:solidFill>
                    <a:srgbClr val="16202C"/>
                  </a:solidFill>
                  <a:latin typeface="맑은 고딕"/>
                  <a:ea typeface="맑은 고딕"/>
                  <a:cs typeface="맑은 고딕"/>
                </a:rPr>
                <a:t>Qwen3 32B</a:t>
              </a:r>
            </a:p>
          </p:txBody>
        </p:sp>
        <p:sp>
          <p:nvSpPr>
            <p:cNvPr id="78" name="Rectangle 77"/>
            <p:cNvSpPr/>
            <p:nvPr/>
          </p:nvSpPr>
          <p:spPr>
            <a:xfrm>
              <a:off x="2062674" y="4176577"/>
              <a:ext cx="1575876" cy="160259"/>
            </a:xfrm>
            <a:prstGeom prst="rect">
              <a:avLst/>
            </a:prstGeom>
            <a:solidFill>
              <a:srgbClr val="EEF2F7"/>
            </a:solidFill>
            <a:ln w="9348">
              <a:solidFill>
                <a:srgbClr val="5B6B7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 name="Rectangle 78"/>
            <p:cNvSpPr/>
            <p:nvPr/>
          </p:nvSpPr>
          <p:spPr>
            <a:xfrm>
              <a:off x="2062674" y="4176577"/>
              <a:ext cx="963404" cy="160259"/>
            </a:xfrm>
            <a:prstGeom prst="rect">
              <a:avLst/>
            </a:prstGeom>
            <a:solidFill>
              <a:srgbClr val="9DA5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 name="TextBox 79"/>
            <p:cNvSpPr txBox="1"/>
            <p:nvPr/>
          </p:nvSpPr>
          <p:spPr>
            <a:xfrm>
              <a:off x="3705324" y="4134108"/>
              <a:ext cx="283958" cy="203048"/>
            </a:xfrm>
            <a:prstGeom prst="rect">
              <a:avLst/>
            </a:prstGeom>
            <a:noFill/>
          </p:spPr>
          <p:txBody>
            <a:bodyPr wrap="none" anchor="ctr" lIns="0" rIns="0" tIns="0" bIns="0">
              <a:noAutofit/>
            </a:bodyPr>
            <a:lstStyle/>
            <a:p>
              <a:pPr algn="l"/>
              <a:r>
                <a:rPr sz="1100" b="0">
                  <a:solidFill>
                    <a:srgbClr val="16202C"/>
                  </a:solidFill>
                  <a:latin typeface="맑은 고딕"/>
                  <a:ea typeface="맑은 고딕"/>
                  <a:cs typeface="맑은 고딕"/>
                </a:rPr>
                <a:t>189</a:t>
              </a:r>
            </a:p>
          </p:txBody>
        </p:sp>
        <p:sp>
          <p:nvSpPr>
            <p:cNvPr id="81" name="TextBox 80"/>
            <p:cNvSpPr txBox="1"/>
            <p:nvPr/>
          </p:nvSpPr>
          <p:spPr>
            <a:xfrm>
              <a:off x="4306294" y="3332816"/>
              <a:ext cx="1090820" cy="203048"/>
            </a:xfrm>
            <a:prstGeom prst="rect">
              <a:avLst/>
            </a:prstGeom>
            <a:noFill/>
          </p:spPr>
          <p:txBody>
            <a:bodyPr wrap="none" anchor="ctr" lIns="0" rIns="0" tIns="0" bIns="0">
              <a:noAutofit/>
            </a:bodyPr>
            <a:lstStyle/>
            <a:p>
              <a:pPr algn="l"/>
              <a:r>
                <a:rPr sz="1100" b="0">
                  <a:solidFill>
                    <a:srgbClr val="16202C"/>
                  </a:solidFill>
                  <a:latin typeface="맑은 고딕"/>
                  <a:ea typeface="맑은 고딕"/>
                  <a:cs typeface="맑은 고딕"/>
                </a:rPr>
                <a:t>EXAONE 4.0 32B</a:t>
              </a:r>
            </a:p>
          </p:txBody>
        </p:sp>
        <p:sp>
          <p:nvSpPr>
            <p:cNvPr id="82" name="Rectangle 81"/>
            <p:cNvSpPr/>
            <p:nvPr/>
          </p:nvSpPr>
          <p:spPr>
            <a:xfrm>
              <a:off x="5802040" y="3375284"/>
              <a:ext cx="1575876" cy="160259"/>
            </a:xfrm>
            <a:prstGeom prst="rect">
              <a:avLst/>
            </a:prstGeom>
            <a:solidFill>
              <a:srgbClr val="EEF2F7"/>
            </a:solidFill>
            <a:ln w="9348">
              <a:solidFill>
                <a:srgbClr val="5B6B7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 name="Rectangle 82"/>
            <p:cNvSpPr/>
            <p:nvPr/>
          </p:nvSpPr>
          <p:spPr>
            <a:xfrm>
              <a:off x="5802040" y="3375284"/>
              <a:ext cx="576203" cy="160259"/>
            </a:xfrm>
            <a:prstGeom prst="rect">
              <a:avLst/>
            </a:prstGeom>
            <a:solidFill>
              <a:srgbClr val="9DA5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 name="TextBox 83"/>
            <p:cNvSpPr txBox="1"/>
            <p:nvPr/>
          </p:nvSpPr>
          <p:spPr>
            <a:xfrm>
              <a:off x="7444690" y="3332816"/>
              <a:ext cx="283958" cy="203048"/>
            </a:xfrm>
            <a:prstGeom prst="rect">
              <a:avLst/>
            </a:prstGeom>
            <a:noFill/>
          </p:spPr>
          <p:txBody>
            <a:bodyPr wrap="none" anchor="ctr" lIns="0" rIns="0" tIns="0" bIns="0">
              <a:noAutofit/>
            </a:bodyPr>
            <a:lstStyle/>
            <a:p>
              <a:pPr algn="l"/>
              <a:r>
                <a:rPr sz="1100" b="0">
                  <a:solidFill>
                    <a:srgbClr val="16202C"/>
                  </a:solidFill>
                  <a:latin typeface="맑은 고딕"/>
                  <a:ea typeface="맑은 고딕"/>
                  <a:cs typeface="맑은 고딕"/>
                </a:rPr>
                <a:t>113</a:t>
              </a:r>
            </a:p>
          </p:txBody>
        </p:sp>
        <p:sp>
          <p:nvSpPr>
            <p:cNvPr id="85" name="TextBox 84"/>
            <p:cNvSpPr txBox="1"/>
            <p:nvPr/>
          </p:nvSpPr>
          <p:spPr>
            <a:xfrm>
              <a:off x="4306294" y="3533139"/>
              <a:ext cx="989156" cy="203048"/>
            </a:xfrm>
            <a:prstGeom prst="rect">
              <a:avLst/>
            </a:prstGeom>
            <a:noFill/>
          </p:spPr>
          <p:txBody>
            <a:bodyPr wrap="none" anchor="ctr" lIns="0" rIns="0" tIns="0" bIns="0">
              <a:noAutofit/>
            </a:bodyPr>
            <a:lstStyle/>
            <a:p>
              <a:pPr algn="l"/>
              <a:r>
                <a:rPr sz="1100" b="0">
                  <a:solidFill>
                    <a:srgbClr val="16202C"/>
                  </a:solidFill>
                  <a:latin typeface="맑은 고딕"/>
                  <a:ea typeface="맑은 고딕"/>
                  <a:cs typeface="맑은 고딕"/>
                </a:rPr>
                <a:t>Qwen3-VL 32B</a:t>
              </a:r>
            </a:p>
          </p:txBody>
        </p:sp>
        <p:sp>
          <p:nvSpPr>
            <p:cNvPr id="86" name="Rectangle 85"/>
            <p:cNvSpPr/>
            <p:nvPr/>
          </p:nvSpPr>
          <p:spPr>
            <a:xfrm>
              <a:off x="5802040" y="3575607"/>
              <a:ext cx="1575876" cy="160259"/>
            </a:xfrm>
            <a:prstGeom prst="rect">
              <a:avLst/>
            </a:prstGeom>
            <a:solidFill>
              <a:srgbClr val="EEF2F7"/>
            </a:solidFill>
            <a:ln w="9348">
              <a:solidFill>
                <a:srgbClr val="5B6B7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 name="TextBox 86"/>
            <p:cNvSpPr txBox="1"/>
            <p:nvPr/>
          </p:nvSpPr>
          <p:spPr>
            <a:xfrm>
              <a:off x="7444690" y="3533139"/>
              <a:ext cx="99140" cy="203048"/>
            </a:xfrm>
            <a:prstGeom prst="rect">
              <a:avLst/>
            </a:prstGeom>
            <a:noFill/>
          </p:spPr>
          <p:txBody>
            <a:bodyPr wrap="none" anchor="ctr" lIns="0" rIns="0" tIns="0" bIns="0">
              <a:noAutofit/>
            </a:bodyPr>
            <a:lstStyle/>
            <a:p>
              <a:pPr algn="l"/>
              <a:r>
                <a:rPr sz="1100" b="0">
                  <a:solidFill>
                    <a:srgbClr val="16202C"/>
                  </a:solidFill>
                  <a:latin typeface="맑은 고딕"/>
                  <a:ea typeface="맑은 고딕"/>
                  <a:cs typeface="맑은 고딕"/>
                </a:rPr>
                <a:t>-</a:t>
              </a:r>
            </a:p>
          </p:txBody>
        </p:sp>
        <p:sp>
          <p:nvSpPr>
            <p:cNvPr id="88" name="TextBox 87"/>
            <p:cNvSpPr txBox="1"/>
            <p:nvPr/>
          </p:nvSpPr>
          <p:spPr>
            <a:xfrm>
              <a:off x="4306294" y="3733462"/>
              <a:ext cx="1228802" cy="203048"/>
            </a:xfrm>
            <a:prstGeom prst="rect">
              <a:avLst/>
            </a:prstGeom>
            <a:noFill/>
          </p:spPr>
          <p:txBody>
            <a:bodyPr wrap="none" anchor="ctr" lIns="0" rIns="0" tIns="0" bIns="0">
              <a:noAutofit/>
            </a:bodyPr>
            <a:lstStyle/>
            <a:p>
              <a:pPr algn="l"/>
              <a:r>
                <a:rPr sz="1100" b="0">
                  <a:solidFill>
                    <a:srgbClr val="16202C"/>
                  </a:solidFill>
                  <a:latin typeface="맑은 고딕"/>
                  <a:ea typeface="맑은 고딕"/>
                  <a:cs typeface="맑은 고딕"/>
                </a:rPr>
                <a:t>Qwen3-Coder 30B</a:t>
              </a:r>
            </a:p>
          </p:txBody>
        </p:sp>
        <p:sp>
          <p:nvSpPr>
            <p:cNvPr id="89" name="Rectangle 88"/>
            <p:cNvSpPr/>
            <p:nvPr/>
          </p:nvSpPr>
          <p:spPr>
            <a:xfrm>
              <a:off x="5802040" y="3775930"/>
              <a:ext cx="1575876" cy="160259"/>
            </a:xfrm>
            <a:prstGeom prst="rect">
              <a:avLst/>
            </a:prstGeom>
            <a:solidFill>
              <a:srgbClr val="EEF2F7"/>
            </a:solidFill>
            <a:ln w="9348">
              <a:solidFill>
                <a:srgbClr val="5B6B7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 name="Rectangle 89"/>
            <p:cNvSpPr/>
            <p:nvPr/>
          </p:nvSpPr>
          <p:spPr>
            <a:xfrm>
              <a:off x="5802040" y="3775930"/>
              <a:ext cx="710038" cy="160259"/>
            </a:xfrm>
            <a:prstGeom prst="rect">
              <a:avLst/>
            </a:prstGeom>
            <a:solidFill>
              <a:srgbClr val="9DA5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 name="TextBox 90"/>
            <p:cNvSpPr txBox="1"/>
            <p:nvPr/>
          </p:nvSpPr>
          <p:spPr>
            <a:xfrm>
              <a:off x="7444690" y="3733462"/>
              <a:ext cx="283958" cy="203048"/>
            </a:xfrm>
            <a:prstGeom prst="rect">
              <a:avLst/>
            </a:prstGeom>
            <a:noFill/>
          </p:spPr>
          <p:txBody>
            <a:bodyPr wrap="none" anchor="ctr" lIns="0" rIns="0" tIns="0" bIns="0">
              <a:noAutofit/>
            </a:bodyPr>
            <a:lstStyle/>
            <a:p>
              <a:pPr algn="l"/>
              <a:r>
                <a:rPr sz="1100" b="0">
                  <a:solidFill>
                    <a:srgbClr val="16202C"/>
                  </a:solidFill>
                  <a:latin typeface="맑은 고딕"/>
                  <a:ea typeface="맑은 고딕"/>
                  <a:cs typeface="맑은 고딕"/>
                </a:rPr>
                <a:t>139</a:t>
              </a:r>
            </a:p>
          </p:txBody>
        </p:sp>
        <p:sp>
          <p:nvSpPr>
            <p:cNvPr id="92" name="TextBox 91"/>
            <p:cNvSpPr txBox="1"/>
            <p:nvPr/>
          </p:nvSpPr>
          <p:spPr>
            <a:xfrm>
              <a:off x="4306294" y="3933785"/>
              <a:ext cx="1184210" cy="203048"/>
            </a:xfrm>
            <a:prstGeom prst="rect">
              <a:avLst/>
            </a:prstGeom>
            <a:noFill/>
          </p:spPr>
          <p:txBody>
            <a:bodyPr wrap="none" anchor="ctr" lIns="0" rIns="0" tIns="0" bIns="0">
              <a:noAutofit/>
            </a:bodyPr>
            <a:lstStyle/>
            <a:p>
              <a:pPr algn="l"/>
              <a:r>
                <a:rPr sz="1100" b="0">
                  <a:solidFill>
                    <a:srgbClr val="16202C"/>
                  </a:solidFill>
                  <a:latin typeface="맑은 고딕"/>
                  <a:ea typeface="맑은 고딕"/>
                  <a:cs typeface="맑은 고딕"/>
                </a:rPr>
                <a:t>A3B Instruct 2507</a:t>
              </a:r>
            </a:p>
          </p:txBody>
        </p:sp>
        <p:sp>
          <p:nvSpPr>
            <p:cNvPr id="93" name="Rectangle 92"/>
            <p:cNvSpPr/>
            <p:nvPr/>
          </p:nvSpPr>
          <p:spPr>
            <a:xfrm>
              <a:off x="5802040" y="3976254"/>
              <a:ext cx="1575876" cy="160259"/>
            </a:xfrm>
            <a:prstGeom prst="rect">
              <a:avLst/>
            </a:prstGeom>
            <a:solidFill>
              <a:srgbClr val="EEF2F7"/>
            </a:solidFill>
            <a:ln w="9348">
              <a:solidFill>
                <a:srgbClr val="5B6B7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 name="Rectangle 93"/>
            <p:cNvSpPr/>
            <p:nvPr/>
          </p:nvSpPr>
          <p:spPr>
            <a:xfrm>
              <a:off x="5802040" y="3976254"/>
              <a:ext cx="727917" cy="160259"/>
            </a:xfrm>
            <a:prstGeom prst="rect">
              <a:avLst/>
            </a:prstGeom>
            <a:solidFill>
              <a:srgbClr val="9DA5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 name="TextBox 94"/>
            <p:cNvSpPr txBox="1"/>
            <p:nvPr/>
          </p:nvSpPr>
          <p:spPr>
            <a:xfrm>
              <a:off x="7444690" y="3933785"/>
              <a:ext cx="283958" cy="203048"/>
            </a:xfrm>
            <a:prstGeom prst="rect">
              <a:avLst/>
            </a:prstGeom>
            <a:noFill/>
          </p:spPr>
          <p:txBody>
            <a:bodyPr wrap="none" anchor="ctr" lIns="0" rIns="0" tIns="0" bIns="0">
              <a:noAutofit/>
            </a:bodyPr>
            <a:lstStyle/>
            <a:p>
              <a:pPr algn="l"/>
              <a:r>
                <a:rPr sz="1100" b="0">
                  <a:solidFill>
                    <a:srgbClr val="16202C"/>
                  </a:solidFill>
                  <a:latin typeface="맑은 고딕"/>
                  <a:ea typeface="맑은 고딕"/>
                  <a:cs typeface="맑은 고딕"/>
                </a:rPr>
                <a:t>142</a:t>
              </a:r>
            </a:p>
          </p:txBody>
        </p:sp>
        <p:sp>
          <p:nvSpPr>
            <p:cNvPr id="96" name="TextBox 95"/>
            <p:cNvSpPr txBox="1"/>
            <p:nvPr/>
          </p:nvSpPr>
          <p:spPr>
            <a:xfrm>
              <a:off x="4306294" y="4134108"/>
              <a:ext cx="1253622" cy="203048"/>
            </a:xfrm>
            <a:prstGeom prst="rect">
              <a:avLst/>
            </a:prstGeom>
            <a:noFill/>
          </p:spPr>
          <p:txBody>
            <a:bodyPr wrap="none" anchor="ctr" lIns="0" rIns="0" tIns="0" bIns="0">
              <a:noAutofit/>
            </a:bodyPr>
            <a:lstStyle/>
            <a:p>
              <a:pPr algn="l"/>
              <a:r>
                <a:rPr sz="1100" b="0">
                  <a:solidFill>
                    <a:srgbClr val="16202C"/>
                  </a:solidFill>
                  <a:latin typeface="맑은 고딕"/>
                  <a:ea typeface="맑은 고딕"/>
                  <a:cs typeface="맑은 고딕"/>
                </a:rPr>
                <a:t>A3B Thinking 2507</a:t>
              </a:r>
            </a:p>
          </p:txBody>
        </p:sp>
        <p:sp>
          <p:nvSpPr>
            <p:cNvPr id="97" name="Rectangle 96"/>
            <p:cNvSpPr/>
            <p:nvPr/>
          </p:nvSpPr>
          <p:spPr>
            <a:xfrm>
              <a:off x="5802040" y="4176577"/>
              <a:ext cx="1575876" cy="160259"/>
            </a:xfrm>
            <a:prstGeom prst="rect">
              <a:avLst/>
            </a:prstGeom>
            <a:solidFill>
              <a:srgbClr val="EEF2F7"/>
            </a:solidFill>
            <a:ln w="9348">
              <a:solidFill>
                <a:srgbClr val="5B6B7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 name="Rectangle 97"/>
            <p:cNvSpPr/>
            <p:nvPr/>
          </p:nvSpPr>
          <p:spPr>
            <a:xfrm>
              <a:off x="5802040" y="4176577"/>
              <a:ext cx="724852" cy="160259"/>
            </a:xfrm>
            <a:prstGeom prst="rect">
              <a:avLst/>
            </a:prstGeom>
            <a:solidFill>
              <a:srgbClr val="9DA5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 name="TextBox 98"/>
            <p:cNvSpPr txBox="1"/>
            <p:nvPr/>
          </p:nvSpPr>
          <p:spPr>
            <a:xfrm>
              <a:off x="7444690" y="4134108"/>
              <a:ext cx="283958" cy="203048"/>
            </a:xfrm>
            <a:prstGeom prst="rect">
              <a:avLst/>
            </a:prstGeom>
            <a:noFill/>
          </p:spPr>
          <p:txBody>
            <a:bodyPr wrap="none" anchor="ctr" lIns="0" rIns="0" tIns="0" bIns="0">
              <a:noAutofit/>
            </a:bodyPr>
            <a:lstStyle/>
            <a:p>
              <a:pPr algn="l"/>
              <a:r>
                <a:rPr sz="1100" b="0">
                  <a:solidFill>
                    <a:srgbClr val="16202C"/>
                  </a:solidFill>
                  <a:latin typeface="맑은 고딕"/>
                  <a:ea typeface="맑은 고딕"/>
                  <a:cs typeface="맑은 고딕"/>
                </a:rPr>
                <a:t>142</a:t>
              </a:r>
            </a:p>
          </p:txBody>
        </p:sp>
        <p:sp>
          <p:nvSpPr>
            <p:cNvPr id="100" name="TextBox 99"/>
            <p:cNvSpPr txBox="1"/>
            <p:nvPr/>
          </p:nvSpPr>
          <p:spPr>
            <a:xfrm>
              <a:off x="8045660" y="3332816"/>
              <a:ext cx="584884" cy="203048"/>
            </a:xfrm>
            <a:prstGeom prst="rect">
              <a:avLst/>
            </a:prstGeom>
            <a:noFill/>
          </p:spPr>
          <p:txBody>
            <a:bodyPr wrap="none" anchor="ctr" lIns="0" rIns="0" tIns="0" bIns="0">
              <a:noAutofit/>
            </a:bodyPr>
            <a:lstStyle/>
            <a:p>
              <a:pPr algn="l"/>
              <a:r>
                <a:rPr sz="1100" b="0">
                  <a:solidFill>
                    <a:srgbClr val="16202C"/>
                  </a:solidFill>
                  <a:latin typeface="맑은 고딕"/>
                  <a:ea typeface="맑은 고딕"/>
                  <a:cs typeface="맑은 고딕"/>
                </a:rPr>
                <a:t>A3B 30B</a:t>
              </a:r>
            </a:p>
          </p:txBody>
        </p:sp>
        <p:sp>
          <p:nvSpPr>
            <p:cNvPr id="101" name="Rectangle 100"/>
            <p:cNvSpPr/>
            <p:nvPr/>
          </p:nvSpPr>
          <p:spPr>
            <a:xfrm>
              <a:off x="9541406" y="3375284"/>
              <a:ext cx="1575876" cy="160259"/>
            </a:xfrm>
            <a:prstGeom prst="rect">
              <a:avLst/>
            </a:prstGeom>
            <a:solidFill>
              <a:srgbClr val="EEF2F7"/>
            </a:solidFill>
            <a:ln w="9348">
              <a:solidFill>
                <a:srgbClr val="5B6B7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 name="TextBox 101"/>
            <p:cNvSpPr txBox="1"/>
            <p:nvPr/>
          </p:nvSpPr>
          <p:spPr>
            <a:xfrm>
              <a:off x="11184056" y="3332816"/>
              <a:ext cx="99140" cy="203048"/>
            </a:xfrm>
            <a:prstGeom prst="rect">
              <a:avLst/>
            </a:prstGeom>
            <a:noFill/>
          </p:spPr>
          <p:txBody>
            <a:bodyPr wrap="none" anchor="ctr" lIns="0" rIns="0" tIns="0" bIns="0">
              <a:noAutofit/>
            </a:bodyPr>
            <a:lstStyle/>
            <a:p>
              <a:pPr algn="l"/>
              <a:r>
                <a:rPr sz="1100" b="0">
                  <a:solidFill>
                    <a:srgbClr val="16202C"/>
                  </a:solidFill>
                  <a:latin typeface="맑은 고딕"/>
                  <a:ea typeface="맑은 고딕"/>
                  <a:cs typeface="맑은 고딕"/>
                </a:rPr>
                <a:t>-</a:t>
              </a:r>
            </a:p>
          </p:txBody>
        </p:sp>
        <p:sp>
          <p:nvSpPr>
            <p:cNvPr id="103" name="TextBox 102"/>
            <p:cNvSpPr txBox="1"/>
            <p:nvPr/>
          </p:nvSpPr>
          <p:spPr>
            <a:xfrm>
              <a:off x="8045660" y="3533139"/>
              <a:ext cx="881602" cy="203048"/>
            </a:xfrm>
            <a:prstGeom prst="rect">
              <a:avLst/>
            </a:prstGeom>
            <a:noFill/>
          </p:spPr>
          <p:txBody>
            <a:bodyPr wrap="none" anchor="ctr" lIns="0" rIns="0" tIns="0" bIns="0">
              <a:noAutofit/>
            </a:bodyPr>
            <a:lstStyle/>
            <a:p>
              <a:pPr algn="l"/>
              <a:r>
                <a:rPr sz="1100" b="0">
                  <a:solidFill>
                    <a:srgbClr val="16202C"/>
                  </a:solidFill>
                  <a:latin typeface="맑은 고딕"/>
                  <a:ea typeface="맑은 고딕"/>
                  <a:cs typeface="맑은 고딕"/>
                </a:rPr>
                <a:t>Llama 3.1 8B</a:t>
              </a:r>
            </a:p>
          </p:txBody>
        </p:sp>
        <p:sp>
          <p:nvSpPr>
            <p:cNvPr id="104" name="Rectangle 103"/>
            <p:cNvSpPr/>
            <p:nvPr/>
          </p:nvSpPr>
          <p:spPr>
            <a:xfrm>
              <a:off x="9541406" y="3575607"/>
              <a:ext cx="1575876" cy="160259"/>
            </a:xfrm>
            <a:prstGeom prst="rect">
              <a:avLst/>
            </a:prstGeom>
            <a:solidFill>
              <a:srgbClr val="EEF2F7"/>
            </a:solidFill>
            <a:ln w="9348">
              <a:solidFill>
                <a:srgbClr val="5B6B7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5" name="Rectangle 104"/>
            <p:cNvSpPr/>
            <p:nvPr/>
          </p:nvSpPr>
          <p:spPr>
            <a:xfrm>
              <a:off x="9541406" y="3575607"/>
              <a:ext cx="998140" cy="160259"/>
            </a:xfrm>
            <a:prstGeom prst="rect">
              <a:avLst/>
            </a:prstGeom>
            <a:solidFill>
              <a:srgbClr val="FFD3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6" name="TextBox 105"/>
            <p:cNvSpPr txBox="1"/>
            <p:nvPr/>
          </p:nvSpPr>
          <p:spPr>
            <a:xfrm>
              <a:off x="11184056" y="3533139"/>
              <a:ext cx="283958" cy="203048"/>
            </a:xfrm>
            <a:prstGeom prst="rect">
              <a:avLst/>
            </a:prstGeom>
            <a:noFill/>
          </p:spPr>
          <p:txBody>
            <a:bodyPr wrap="none" anchor="ctr" lIns="0" rIns="0" tIns="0" bIns="0">
              <a:noAutofit/>
            </a:bodyPr>
            <a:lstStyle/>
            <a:p>
              <a:pPr algn="l"/>
              <a:r>
                <a:rPr sz="1100" b="0">
                  <a:solidFill>
                    <a:srgbClr val="16202C"/>
                  </a:solidFill>
                  <a:latin typeface="맑은 고딕"/>
                  <a:ea typeface="맑은 고딕"/>
                  <a:cs typeface="맑은 고딕"/>
                </a:rPr>
                <a:t>195</a:t>
              </a:r>
            </a:p>
          </p:txBody>
        </p:sp>
        <p:sp>
          <p:nvSpPr>
            <p:cNvPr id="107" name="TextBox 106"/>
            <p:cNvSpPr txBox="1"/>
            <p:nvPr/>
          </p:nvSpPr>
          <p:spPr>
            <a:xfrm>
              <a:off x="8045660" y="3733462"/>
              <a:ext cx="708844" cy="203048"/>
            </a:xfrm>
            <a:prstGeom prst="rect">
              <a:avLst/>
            </a:prstGeom>
            <a:noFill/>
          </p:spPr>
          <p:txBody>
            <a:bodyPr wrap="none" anchor="ctr" lIns="0" rIns="0" tIns="0" bIns="0">
              <a:noAutofit/>
            </a:bodyPr>
            <a:lstStyle/>
            <a:p>
              <a:pPr algn="l"/>
              <a:r>
                <a:rPr sz="1100" b="0">
                  <a:solidFill>
                    <a:srgbClr val="16202C"/>
                  </a:solidFill>
                  <a:latin typeface="맑은 고딕"/>
                  <a:ea typeface="맑은 고딕"/>
                  <a:cs typeface="맑은 고딕"/>
                </a:rPr>
                <a:t>Qwen3 8B</a:t>
              </a:r>
            </a:p>
          </p:txBody>
        </p:sp>
        <p:sp>
          <p:nvSpPr>
            <p:cNvPr id="108" name="Rectangle 107"/>
            <p:cNvSpPr/>
            <p:nvPr/>
          </p:nvSpPr>
          <p:spPr>
            <a:xfrm>
              <a:off x="9541406" y="3775930"/>
              <a:ext cx="1575876" cy="160259"/>
            </a:xfrm>
            <a:prstGeom prst="rect">
              <a:avLst/>
            </a:prstGeom>
            <a:solidFill>
              <a:srgbClr val="EEF2F7"/>
            </a:solidFill>
            <a:ln w="9348">
              <a:solidFill>
                <a:srgbClr val="5B6B7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9" name="Rectangle 108"/>
            <p:cNvSpPr/>
            <p:nvPr/>
          </p:nvSpPr>
          <p:spPr>
            <a:xfrm>
              <a:off x="9541406" y="3775930"/>
              <a:ext cx="1267341" cy="160259"/>
            </a:xfrm>
            <a:prstGeom prst="rect">
              <a:avLst/>
            </a:prstGeom>
            <a:solidFill>
              <a:srgbClr val="FFD3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0" name="TextBox 109"/>
            <p:cNvSpPr txBox="1"/>
            <p:nvPr/>
          </p:nvSpPr>
          <p:spPr>
            <a:xfrm>
              <a:off x="11184056" y="3733462"/>
              <a:ext cx="283958" cy="203048"/>
            </a:xfrm>
            <a:prstGeom prst="rect">
              <a:avLst/>
            </a:prstGeom>
            <a:noFill/>
          </p:spPr>
          <p:txBody>
            <a:bodyPr wrap="none" anchor="ctr" lIns="0" rIns="0" tIns="0" bIns="0">
              <a:noAutofit/>
            </a:bodyPr>
            <a:lstStyle/>
            <a:p>
              <a:pPr algn="l"/>
              <a:r>
                <a:rPr sz="1100" b="0">
                  <a:solidFill>
                    <a:srgbClr val="16202C"/>
                  </a:solidFill>
                  <a:latin typeface="맑은 고딕"/>
                  <a:ea typeface="맑은 고딕"/>
                  <a:cs typeface="맑은 고딕"/>
                </a:rPr>
                <a:t>248</a:t>
              </a:r>
            </a:p>
          </p:txBody>
        </p:sp>
        <p:sp>
          <p:nvSpPr>
            <p:cNvPr id="111" name="TextBox 110"/>
            <p:cNvSpPr txBox="1"/>
            <p:nvPr/>
          </p:nvSpPr>
          <p:spPr>
            <a:xfrm>
              <a:off x="8045660" y="3933785"/>
              <a:ext cx="708844" cy="203048"/>
            </a:xfrm>
            <a:prstGeom prst="rect">
              <a:avLst/>
            </a:prstGeom>
            <a:noFill/>
          </p:spPr>
          <p:txBody>
            <a:bodyPr wrap="none" anchor="ctr" lIns="0" rIns="0" tIns="0" bIns="0">
              <a:noAutofit/>
            </a:bodyPr>
            <a:lstStyle/>
            <a:p>
              <a:pPr algn="l"/>
              <a:r>
                <a:rPr sz="1100" b="0">
                  <a:solidFill>
                    <a:srgbClr val="16202C"/>
                  </a:solidFill>
                  <a:latin typeface="맑은 고딕"/>
                  <a:ea typeface="맑은 고딕"/>
                  <a:cs typeface="맑은 고딕"/>
                </a:rPr>
                <a:t>Qwen3 4B</a:t>
              </a:r>
            </a:p>
          </p:txBody>
        </p:sp>
        <p:sp>
          <p:nvSpPr>
            <p:cNvPr id="112" name="Rectangle 111"/>
            <p:cNvSpPr/>
            <p:nvPr/>
          </p:nvSpPr>
          <p:spPr>
            <a:xfrm>
              <a:off x="9541406" y="3976254"/>
              <a:ext cx="1575876" cy="160259"/>
            </a:xfrm>
            <a:prstGeom prst="rect">
              <a:avLst/>
            </a:prstGeom>
            <a:solidFill>
              <a:srgbClr val="EEF2F7"/>
            </a:solidFill>
            <a:ln w="9348">
              <a:solidFill>
                <a:srgbClr val="5B6B7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3" name="Rectangle 112"/>
            <p:cNvSpPr/>
            <p:nvPr/>
          </p:nvSpPr>
          <p:spPr>
            <a:xfrm>
              <a:off x="9541406" y="3976254"/>
              <a:ext cx="1515599" cy="160259"/>
            </a:xfrm>
            <a:prstGeom prst="rect">
              <a:avLst/>
            </a:prstGeom>
            <a:solidFill>
              <a:srgbClr val="FFD3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4" name="TextBox 113"/>
            <p:cNvSpPr txBox="1"/>
            <p:nvPr/>
          </p:nvSpPr>
          <p:spPr>
            <a:xfrm>
              <a:off x="11184056" y="3933785"/>
              <a:ext cx="283958" cy="203048"/>
            </a:xfrm>
            <a:prstGeom prst="rect">
              <a:avLst/>
            </a:prstGeom>
            <a:noFill/>
          </p:spPr>
          <p:txBody>
            <a:bodyPr wrap="none" anchor="ctr" lIns="0" rIns="0" tIns="0" bIns="0">
              <a:noAutofit/>
            </a:bodyPr>
            <a:lstStyle/>
            <a:p>
              <a:pPr algn="l"/>
              <a:r>
                <a:rPr sz="1100" b="0">
                  <a:solidFill>
                    <a:srgbClr val="16202C"/>
                  </a:solidFill>
                  <a:latin typeface="맑은 고딕"/>
                  <a:ea typeface="맑은 고딕"/>
                  <a:cs typeface="맑은 고딕"/>
                </a:rPr>
                <a:t>297</a:t>
              </a:r>
            </a:p>
          </p:txBody>
        </p:sp>
        <p:sp>
          <p:nvSpPr>
            <p:cNvPr id="115" name="TextBox 114"/>
            <p:cNvSpPr txBox="1"/>
            <p:nvPr/>
          </p:nvSpPr>
          <p:spPr>
            <a:xfrm>
              <a:off x="8045660" y="4134108"/>
              <a:ext cx="942460" cy="203048"/>
            </a:xfrm>
            <a:prstGeom prst="rect">
              <a:avLst/>
            </a:prstGeom>
            <a:noFill/>
          </p:spPr>
          <p:txBody>
            <a:bodyPr wrap="none" anchor="ctr" lIns="0" rIns="0" tIns="0" bIns="0">
              <a:noAutofit/>
            </a:bodyPr>
            <a:lstStyle/>
            <a:p>
              <a:pPr algn="l"/>
              <a:r>
                <a:rPr sz="1100" b="0">
                  <a:solidFill>
                    <a:srgbClr val="16202C"/>
                  </a:solidFill>
                  <a:latin typeface="맑은 고딕"/>
                  <a:ea typeface="맑은 고딕"/>
                  <a:cs typeface="맑은 고딕"/>
                </a:rPr>
                <a:t>Qwen2.5 0.5B</a:t>
              </a:r>
            </a:p>
          </p:txBody>
        </p:sp>
        <p:sp>
          <p:nvSpPr>
            <p:cNvPr id="116" name="Rectangle 115"/>
            <p:cNvSpPr/>
            <p:nvPr/>
          </p:nvSpPr>
          <p:spPr>
            <a:xfrm>
              <a:off x="9541406" y="4176577"/>
              <a:ext cx="1575876" cy="160259"/>
            </a:xfrm>
            <a:prstGeom prst="rect">
              <a:avLst/>
            </a:prstGeom>
            <a:solidFill>
              <a:srgbClr val="EEF2F7"/>
            </a:solidFill>
            <a:ln w="9348">
              <a:solidFill>
                <a:srgbClr val="5B6B7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7" name="Rectangle 116"/>
            <p:cNvSpPr/>
            <p:nvPr/>
          </p:nvSpPr>
          <p:spPr>
            <a:xfrm>
              <a:off x="9541406" y="4176577"/>
              <a:ext cx="1575876" cy="160259"/>
            </a:xfrm>
            <a:prstGeom prst="rect">
              <a:avLst/>
            </a:prstGeom>
            <a:solidFill>
              <a:srgbClr val="FFD3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8" name="TextBox 117"/>
            <p:cNvSpPr txBox="1"/>
            <p:nvPr/>
          </p:nvSpPr>
          <p:spPr>
            <a:xfrm>
              <a:off x="11184056" y="4134108"/>
              <a:ext cx="283958" cy="203048"/>
            </a:xfrm>
            <a:prstGeom prst="rect">
              <a:avLst/>
            </a:prstGeom>
            <a:noFill/>
          </p:spPr>
          <p:txBody>
            <a:bodyPr wrap="none" anchor="ctr" lIns="0" rIns="0" tIns="0" bIns="0">
              <a:noAutofit/>
            </a:bodyPr>
            <a:lstStyle/>
            <a:p>
              <a:pPr algn="l"/>
              <a:r>
                <a:rPr sz="1100" b="0">
                  <a:solidFill>
                    <a:srgbClr val="16202C"/>
                  </a:solidFill>
                  <a:latin typeface="맑은 고딕"/>
                  <a:ea typeface="맑은 고딕"/>
                  <a:cs typeface="맑은 고딕"/>
                </a:rPr>
                <a:t>308</a:t>
              </a:r>
            </a:p>
          </p:txBody>
        </p:sp>
        <p:sp>
          <p:nvSpPr>
            <p:cNvPr id="119" name="TextBox 118"/>
            <p:cNvSpPr txBox="1"/>
            <p:nvPr/>
          </p:nvSpPr>
          <p:spPr>
            <a:xfrm>
              <a:off x="566928" y="4420170"/>
              <a:ext cx="4342178" cy="212716"/>
            </a:xfrm>
            <a:prstGeom prst="rect">
              <a:avLst/>
            </a:prstGeom>
            <a:noFill/>
          </p:spPr>
          <p:txBody>
            <a:bodyPr wrap="none" anchor="ctr" lIns="0" rIns="0" tIns="0" bIns="0">
              <a:noAutofit/>
            </a:bodyPr>
            <a:lstStyle/>
            <a:p>
              <a:pPr algn="l"/>
              <a:r>
                <a:rPr sz="1160" b="0">
                  <a:solidFill>
                    <a:srgbClr val="16202C"/>
                  </a:solidFill>
                  <a:latin typeface="맑은 고딕"/>
                  <a:ea typeface="맑은 고딕"/>
                  <a:cs typeface="맑은 고딕"/>
                </a:rPr>
                <a:t>노란 막대는 카드 한 장짜리다, 작은 모델이 동시 처리에서 오히려 앞선다</a:t>
              </a:r>
            </a:p>
          </p:txBody>
        </p:sp>
        <p:sp>
          <p:nvSpPr>
            <p:cNvPr id="120" name="TextBox 119"/>
            <p:cNvSpPr txBox="1"/>
            <p:nvPr/>
          </p:nvSpPr>
          <p:spPr>
            <a:xfrm>
              <a:off x="9330245" y="4427916"/>
              <a:ext cx="2294522" cy="203048"/>
            </a:xfrm>
            <a:prstGeom prst="rect">
              <a:avLst/>
            </a:prstGeom>
            <a:noFill/>
          </p:spPr>
          <p:txBody>
            <a:bodyPr wrap="none" anchor="ctr" lIns="0" rIns="0" tIns="0" bIns="0">
              <a:noAutofit/>
            </a:bodyPr>
            <a:lstStyle/>
            <a:p>
              <a:pPr algn="r"/>
              <a:r>
                <a:rPr sz="1100" b="0">
                  <a:solidFill>
                    <a:srgbClr val="5B6B7B"/>
                  </a:solidFill>
                  <a:latin typeface="맑은 고딕"/>
                  <a:ea typeface="맑은 고딕"/>
                  <a:cs typeface="맑은 고딕"/>
                </a:rPr>
                <a:t>동시 4요청 합계 토큰 ÷ 전부 끝난 시간</a:t>
              </a:r>
            </a:p>
          </p:txBody>
        </p:sp>
      </p:grpSp>
      <p:sp>
        <p:nvSpPr>
          <p:cNvPr id="121" name="TextBox 120"/>
          <p:cNvSpPr txBox="1"/>
          <p:nvPr/>
        </p:nvSpPr>
        <p:spPr>
          <a:xfrm>
            <a:off x="566928" y="4870630"/>
            <a:ext cx="11057839" cy="1402154"/>
          </a:xfrm>
          <a:prstGeom prst="rect">
            <a:avLst/>
          </a:prstGeom>
          <a:noFill/>
        </p:spPr>
        <p:txBody>
          <a:bodyPr wrap="square" anchor="t" lIns="0" rIns="0" tIns="0" bIns="0">
            <a:spAutoFit/>
          </a:bodyPr>
          <a:lstStyle/>
          <a:p>
            <a:pPr algn="l">
              <a:lnSpc>
                <a:spcPct val="118000"/>
              </a:lnSpc>
              <a:spcBef>
                <a:spcPts val="200"/>
              </a:spcBef>
              <a:spcAft>
                <a:spcPts val="200"/>
              </a:spcAft>
            </a:pPr>
            <a:r>
              <a:rPr sz="1200" b="0" i="0">
                <a:solidFill>
                  <a:srgbClr val="16202C"/>
                </a:solidFill>
                <a:latin typeface="Segoe UI"/>
                <a:ea typeface="맑은 고딕"/>
                <a:cs typeface="맑은 고딕"/>
              </a:rPr>
              <a:t>▪  요청 하나만 보면 큰 모델과 작은 모델의 차이가 크지 않다. 카드를 넉 장 쓰는 30B 가 71 tok/s, 한 장 쓰는 4B 가 83 tok/s 다</a:t>
            </a:r>
          </a:p>
          <a:p>
            <a:pPr algn="l">
              <a:lnSpc>
                <a:spcPct val="118000"/>
              </a:lnSpc>
              <a:spcBef>
                <a:spcPts val="600"/>
              </a:spcBef>
              <a:spcAft>
                <a:spcPts val="200"/>
              </a:spcAft>
            </a:pPr>
            <a:r>
              <a:rPr sz="1200" b="0" i="0">
                <a:solidFill>
                  <a:srgbClr val="16202C"/>
                </a:solidFill>
                <a:latin typeface="Segoe UI"/>
                <a:ea typeface="맑은 고딕"/>
                <a:cs typeface="맑은 고딕"/>
              </a:rPr>
              <a:t>▪  동시에 여러 요청이 들어오면 갈린다. 카드 한 장짜리 작은 모델이 배치를 더 잘 채워 총처리량이 두 배 가까이 나온다</a:t>
            </a:r>
          </a:p>
          <a:p>
            <a:pPr algn="l">
              <a:lnSpc>
                <a:spcPct val="118000"/>
              </a:lnSpc>
              <a:spcBef>
                <a:spcPts val="600"/>
              </a:spcBef>
              <a:spcAft>
                <a:spcPts val="200"/>
              </a:spcAft>
            </a:pPr>
            <a:r>
              <a:rPr sz="1200" b="0" i="0">
                <a:solidFill>
                  <a:srgbClr val="16202C"/>
                </a:solidFill>
                <a:latin typeface="Segoe UI"/>
                <a:ea typeface="맑은 고딕"/>
                <a:cs typeface="맑은 고딕"/>
              </a:rPr>
              <a:t>▪  사람이 여럿 붙는 서비스라면 이 두 번째 숫자가 중요하다. 혼자 쓰는 도구라면 첫 번째 숫자와 앞 장의 응답 시간을 본다</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46304" cy="6858000"/>
          </a:xfrm>
          <a:prstGeom prst="rect">
            <a:avLst/>
          </a:prstGeom>
          <a:solidFill>
            <a:srgbClr val="0B5FC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3" name="TextBox 2"/>
          <p:cNvSpPr txBox="1"/>
          <p:nvPr/>
        </p:nvSpPr>
        <p:spPr>
          <a:xfrm>
            <a:off x="566928" y="310896"/>
            <a:ext cx="11057839" cy="475488"/>
          </a:xfrm>
          <a:prstGeom prst="rect">
            <a:avLst/>
          </a:prstGeom>
          <a:noFill/>
        </p:spPr>
        <p:txBody>
          <a:bodyPr wrap="square" anchor="t" lIns="0" rIns="0" tIns="0" bIns="0">
            <a:spAutoFit/>
          </a:bodyPr>
          <a:lstStyle/>
          <a:p>
            <a:pPr algn="l">
              <a:lnSpc>
                <a:spcPct val="118000"/>
              </a:lnSpc>
              <a:spcBef>
                <a:spcPts val="0"/>
              </a:spcBef>
              <a:spcAft>
                <a:spcPts val="0"/>
              </a:spcAft>
            </a:pPr>
            <a:r>
              <a:rPr sz="2400" b="1" i="0">
                <a:solidFill>
                  <a:srgbClr val="16202C"/>
                </a:solidFill>
                <a:latin typeface="Segoe UI"/>
                <a:ea typeface="맑은 고딕"/>
                <a:cs typeface="맑은 고딕"/>
              </a:rPr>
              <a:t>모델 적재 시간</a:t>
            </a:r>
          </a:p>
        </p:txBody>
      </p:sp>
      <p:cxnSp>
        <p:nvCxnSpPr>
          <p:cNvPr id="4" name="Connector 3"/>
          <p:cNvCxnSpPr/>
          <p:nvPr/>
        </p:nvCxnSpPr>
        <p:spPr>
          <a:xfrm>
            <a:off x="566928" y="822960"/>
            <a:ext cx="11057839" cy="0"/>
          </a:xfrm>
          <a:prstGeom prst="line">
            <a:avLst/>
          </a:prstGeom>
          <a:ln w="15875">
            <a:solidFill>
              <a:srgbClr val="D6DEE7"/>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566928" y="6455664"/>
            <a:ext cx="9686239" cy="219456"/>
          </a:xfrm>
          <a:prstGeom prst="rect">
            <a:avLst/>
          </a:prstGeom>
          <a:noFill/>
        </p:spPr>
        <p:txBody>
          <a:bodyPr wrap="square" anchor="t" lIns="0" rIns="0" tIns="0" bIns="0">
            <a:spAutoFit/>
          </a:bodyPr>
          <a:lstStyle/>
          <a:p>
            <a:pPr algn="l">
              <a:lnSpc>
                <a:spcPct val="118000"/>
              </a:lnSpc>
              <a:spcBef>
                <a:spcPts val="0"/>
              </a:spcBef>
              <a:spcAft>
                <a:spcPts val="0"/>
              </a:spcAft>
            </a:pPr>
            <a:r>
              <a:rPr sz="950" b="0" i="0">
                <a:solidFill>
                  <a:srgbClr val="5B6B7B"/>
                </a:solidFill>
                <a:latin typeface="Segoe UI"/>
                <a:ea typeface="맑은 고딕"/>
                <a:cs typeface="맑은 고딕"/>
              </a:rPr>
              <a:t>RNGD 4장 서버, 2026-08-29 실측</a:t>
            </a:r>
          </a:p>
        </p:txBody>
      </p:sp>
      <p:sp>
        <p:nvSpPr>
          <p:cNvPr id="6" name="TextBox 5"/>
          <p:cNvSpPr txBox="1"/>
          <p:nvPr/>
        </p:nvSpPr>
        <p:spPr>
          <a:xfrm>
            <a:off x="10527487" y="6455664"/>
            <a:ext cx="1097280" cy="219456"/>
          </a:xfrm>
          <a:prstGeom prst="rect">
            <a:avLst/>
          </a:prstGeom>
          <a:noFill/>
        </p:spPr>
        <p:txBody>
          <a:bodyPr wrap="square" anchor="t" lIns="0" rIns="0" tIns="0" bIns="0">
            <a:spAutoFit/>
          </a:bodyPr>
          <a:lstStyle/>
          <a:p>
            <a:pPr algn="r">
              <a:lnSpc>
                <a:spcPct val="118000"/>
              </a:lnSpc>
              <a:spcBef>
                <a:spcPts val="0"/>
              </a:spcBef>
              <a:spcAft>
                <a:spcPts val="0"/>
              </a:spcAft>
            </a:pPr>
            <a:r>
              <a:rPr sz="950" b="0" i="0">
                <a:solidFill>
                  <a:srgbClr val="5B6B7B"/>
                </a:solidFill>
                <a:latin typeface="Segoe UI"/>
                <a:ea typeface="맑은 고딕"/>
                <a:cs typeface="맑은 고딕"/>
              </a:rPr>
              <a:t>7</a:t>
            </a:r>
          </a:p>
        </p:txBody>
      </p:sp>
      <p:sp>
        <p:nvSpPr>
          <p:cNvPr id="7" name="TextBox 6"/>
          <p:cNvSpPr txBox="1"/>
          <p:nvPr/>
        </p:nvSpPr>
        <p:spPr>
          <a:xfrm>
            <a:off x="566928" y="1115568"/>
            <a:ext cx="11057839" cy="274320"/>
          </a:xfrm>
          <a:prstGeom prst="rect">
            <a:avLst/>
          </a:prstGeom>
          <a:noFill/>
        </p:spPr>
        <p:txBody>
          <a:bodyPr wrap="square" anchor="t" lIns="0" rIns="0" tIns="0" bIns="0">
            <a:spAutoFit/>
          </a:bodyPr>
          <a:lstStyle/>
          <a:p>
            <a:pPr algn="l">
              <a:lnSpc>
                <a:spcPct val="118000"/>
              </a:lnSpc>
              <a:spcBef>
                <a:spcPts val="0"/>
              </a:spcBef>
              <a:spcAft>
                <a:spcPts val="0"/>
              </a:spcAft>
            </a:pPr>
            <a:r>
              <a:rPr sz="1400" b="1" i="0">
                <a:solidFill>
                  <a:srgbClr val="16202C"/>
                </a:solidFill>
                <a:latin typeface="Segoe UI"/>
                <a:ea typeface="맑은 고딕"/>
                <a:cs typeface="맑은 고딕"/>
              </a:rPr>
              <a:t>그림 5: 모델을 카드에 올리는 데 걸린 시간, serve 로그 기준</a:t>
            </a:r>
          </a:p>
        </p:txBody>
      </p:sp>
      <p:grpSp>
        <p:nvGrpSpPr>
          <p:cNvPr id="8" name="도해 loading"/>
          <p:cNvGrpSpPr/>
          <p:nvPr/>
        </p:nvGrpSpPr>
        <p:grpSpPr>
          <a:xfrm>
            <a:off x="566928" y="1554480"/>
            <a:ext cx="11057839" cy="2048158"/>
            <a:chOff x="566928" y="1554480"/>
            <a:chExt cx="11057839" cy="2048158"/>
          </a:xfrm>
        </p:grpSpPr>
        <p:sp>
          <p:nvSpPr>
            <p:cNvPr id="9" name="TextBox 8"/>
            <p:cNvSpPr txBox="1"/>
            <p:nvPr/>
          </p:nvSpPr>
          <p:spPr>
            <a:xfrm>
              <a:off x="566928" y="1554480"/>
              <a:ext cx="1975053" cy="222385"/>
            </a:xfrm>
            <a:prstGeom prst="rect">
              <a:avLst/>
            </a:prstGeom>
            <a:noFill/>
          </p:spPr>
          <p:txBody>
            <a:bodyPr wrap="none" anchor="ctr" lIns="0" rIns="0" tIns="0" bIns="0">
              <a:noAutofit/>
            </a:bodyPr>
            <a:lstStyle/>
            <a:p>
              <a:pPr algn="l"/>
              <a:r>
                <a:rPr sz="1210" b="1">
                  <a:solidFill>
                    <a:srgbClr val="16202C"/>
                  </a:solidFill>
                  <a:latin typeface="맑은 고딕"/>
                  <a:ea typeface="맑은 고딕"/>
                  <a:cs typeface="맑은 고딕"/>
                </a:rPr>
                <a:t>모델을 올리는 데 걸린 시간, 초</a:t>
              </a:r>
            </a:p>
          </p:txBody>
        </p:sp>
        <p:sp>
          <p:nvSpPr>
            <p:cNvPr id="10" name="TextBox 9"/>
            <p:cNvSpPr txBox="1"/>
            <p:nvPr/>
          </p:nvSpPr>
          <p:spPr>
            <a:xfrm>
              <a:off x="566928" y="1903844"/>
              <a:ext cx="884547" cy="203048"/>
            </a:xfrm>
            <a:prstGeom prst="rect">
              <a:avLst/>
            </a:prstGeom>
            <a:noFill/>
          </p:spPr>
          <p:txBody>
            <a:bodyPr wrap="none" anchor="ctr" lIns="0" rIns="0" tIns="0" bIns="0">
              <a:noAutofit/>
            </a:bodyPr>
            <a:lstStyle/>
            <a:p>
              <a:pPr algn="l"/>
              <a:r>
                <a:rPr sz="1100" b="0">
                  <a:solidFill>
                    <a:srgbClr val="16202C"/>
                  </a:solidFill>
                  <a:latin typeface="맑은 고딕"/>
                  <a:ea typeface="맑은 고딕"/>
                  <a:cs typeface="맑은 고딕"/>
                </a:rPr>
                <a:t>gpt-oss 120B</a:t>
              </a:r>
            </a:p>
          </p:txBody>
        </p:sp>
        <p:sp>
          <p:nvSpPr>
            <p:cNvPr id="11" name="Rectangle 10"/>
            <p:cNvSpPr/>
            <p:nvPr/>
          </p:nvSpPr>
          <p:spPr>
            <a:xfrm>
              <a:off x="2062674" y="1919602"/>
              <a:ext cx="1575876" cy="186968"/>
            </a:xfrm>
            <a:prstGeom prst="rect">
              <a:avLst/>
            </a:prstGeom>
            <a:solidFill>
              <a:srgbClr val="EEF2F7"/>
            </a:solidFill>
            <a:ln w="9348">
              <a:solidFill>
                <a:srgbClr val="5B6B7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705324" y="1903844"/>
              <a:ext cx="99140" cy="203048"/>
            </a:xfrm>
            <a:prstGeom prst="rect">
              <a:avLst/>
            </a:prstGeom>
            <a:noFill/>
          </p:spPr>
          <p:txBody>
            <a:bodyPr wrap="none" anchor="ctr" lIns="0" rIns="0" tIns="0" bIns="0">
              <a:noAutofit/>
            </a:bodyPr>
            <a:lstStyle/>
            <a:p>
              <a:pPr algn="l"/>
              <a:r>
                <a:rPr sz="1100" b="0">
                  <a:solidFill>
                    <a:srgbClr val="16202C"/>
                  </a:solidFill>
                  <a:latin typeface="맑은 고딕"/>
                  <a:ea typeface="맑은 고딕"/>
                  <a:cs typeface="맑은 고딕"/>
                </a:rPr>
                <a:t>-</a:t>
              </a:r>
            </a:p>
          </p:txBody>
        </p:sp>
        <p:sp>
          <p:nvSpPr>
            <p:cNvPr id="13" name="TextBox 12"/>
            <p:cNvSpPr txBox="1"/>
            <p:nvPr/>
          </p:nvSpPr>
          <p:spPr>
            <a:xfrm>
              <a:off x="566928" y="2130877"/>
              <a:ext cx="1148313" cy="203048"/>
            </a:xfrm>
            <a:prstGeom prst="rect">
              <a:avLst/>
            </a:prstGeom>
            <a:noFill/>
          </p:spPr>
          <p:txBody>
            <a:bodyPr wrap="none" anchor="ctr" lIns="0" rIns="0" tIns="0" bIns="0">
              <a:noAutofit/>
            </a:bodyPr>
            <a:lstStyle/>
            <a:p>
              <a:pPr algn="l"/>
              <a:r>
                <a:rPr sz="1100" b="0">
                  <a:solidFill>
                    <a:srgbClr val="16202C"/>
                  </a:solidFill>
                  <a:latin typeface="맑은 고딕"/>
                  <a:ea typeface="맑은 고딕"/>
                  <a:cs typeface="맑은 고딕"/>
                </a:rPr>
                <a:t>Solar-Open 100B</a:t>
              </a:r>
            </a:p>
          </p:txBody>
        </p:sp>
        <p:sp>
          <p:nvSpPr>
            <p:cNvPr id="14" name="Rectangle 13"/>
            <p:cNvSpPr/>
            <p:nvPr/>
          </p:nvSpPr>
          <p:spPr>
            <a:xfrm>
              <a:off x="2062674" y="2146635"/>
              <a:ext cx="1575876" cy="186968"/>
            </a:xfrm>
            <a:prstGeom prst="rect">
              <a:avLst/>
            </a:prstGeom>
            <a:solidFill>
              <a:srgbClr val="EEF2F7"/>
            </a:solidFill>
            <a:ln w="9348">
              <a:solidFill>
                <a:srgbClr val="5B6B7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705324" y="2130877"/>
              <a:ext cx="99140" cy="203048"/>
            </a:xfrm>
            <a:prstGeom prst="rect">
              <a:avLst/>
            </a:prstGeom>
            <a:noFill/>
          </p:spPr>
          <p:txBody>
            <a:bodyPr wrap="none" anchor="ctr" lIns="0" rIns="0" tIns="0" bIns="0">
              <a:noAutofit/>
            </a:bodyPr>
            <a:lstStyle/>
            <a:p>
              <a:pPr algn="l"/>
              <a:r>
                <a:rPr sz="1100" b="0">
                  <a:solidFill>
                    <a:srgbClr val="16202C"/>
                  </a:solidFill>
                  <a:latin typeface="맑은 고딕"/>
                  <a:ea typeface="맑은 고딕"/>
                  <a:cs typeface="맑은 고딕"/>
                </a:rPr>
                <a:t>-</a:t>
              </a:r>
            </a:p>
          </p:txBody>
        </p:sp>
        <p:sp>
          <p:nvSpPr>
            <p:cNvPr id="16" name="TextBox 15"/>
            <p:cNvSpPr txBox="1"/>
            <p:nvPr/>
          </p:nvSpPr>
          <p:spPr>
            <a:xfrm>
              <a:off x="566928" y="2357909"/>
              <a:ext cx="1077218" cy="203048"/>
            </a:xfrm>
            <a:prstGeom prst="rect">
              <a:avLst/>
            </a:prstGeom>
            <a:noFill/>
          </p:spPr>
          <p:txBody>
            <a:bodyPr wrap="none" anchor="ctr" lIns="0" rIns="0" tIns="0" bIns="0">
              <a:noAutofit/>
            </a:bodyPr>
            <a:lstStyle/>
            <a:p>
              <a:pPr algn="l"/>
              <a:r>
                <a:rPr sz="1100" b="0">
                  <a:solidFill>
                    <a:srgbClr val="16202C"/>
                  </a:solidFill>
                  <a:latin typeface="맑은 고딕"/>
                  <a:ea typeface="맑은 고딕"/>
                  <a:cs typeface="맑은 고딕"/>
                </a:rPr>
                <a:t>K-EXAONE 236B</a:t>
              </a:r>
            </a:p>
          </p:txBody>
        </p:sp>
        <p:sp>
          <p:nvSpPr>
            <p:cNvPr id="17" name="Rectangle 16"/>
            <p:cNvSpPr/>
            <p:nvPr/>
          </p:nvSpPr>
          <p:spPr>
            <a:xfrm>
              <a:off x="2062674" y="2373668"/>
              <a:ext cx="1575876" cy="186968"/>
            </a:xfrm>
            <a:prstGeom prst="rect">
              <a:avLst/>
            </a:prstGeom>
            <a:solidFill>
              <a:srgbClr val="EEF2F7"/>
            </a:solidFill>
            <a:ln w="9348">
              <a:solidFill>
                <a:srgbClr val="5B6B7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705324" y="2357909"/>
              <a:ext cx="99140" cy="203048"/>
            </a:xfrm>
            <a:prstGeom prst="rect">
              <a:avLst/>
            </a:prstGeom>
            <a:noFill/>
          </p:spPr>
          <p:txBody>
            <a:bodyPr wrap="none" anchor="ctr" lIns="0" rIns="0" tIns="0" bIns="0">
              <a:noAutofit/>
            </a:bodyPr>
            <a:lstStyle/>
            <a:p>
              <a:pPr algn="l"/>
              <a:r>
                <a:rPr sz="1100" b="0">
                  <a:solidFill>
                    <a:srgbClr val="16202C"/>
                  </a:solidFill>
                  <a:latin typeface="맑은 고딕"/>
                  <a:ea typeface="맑은 고딕"/>
                  <a:cs typeface="맑은 고딕"/>
                </a:rPr>
                <a:t>-</a:t>
              </a:r>
            </a:p>
          </p:txBody>
        </p:sp>
        <p:sp>
          <p:nvSpPr>
            <p:cNvPr id="19" name="TextBox 18"/>
            <p:cNvSpPr txBox="1"/>
            <p:nvPr/>
          </p:nvSpPr>
          <p:spPr>
            <a:xfrm>
              <a:off x="566928" y="2584942"/>
              <a:ext cx="959428" cy="203048"/>
            </a:xfrm>
            <a:prstGeom prst="rect">
              <a:avLst/>
            </a:prstGeom>
            <a:noFill/>
          </p:spPr>
          <p:txBody>
            <a:bodyPr wrap="none" anchor="ctr" lIns="0" rIns="0" tIns="0" bIns="0">
              <a:noAutofit/>
            </a:bodyPr>
            <a:lstStyle/>
            <a:p>
              <a:pPr algn="l"/>
              <a:r>
                <a:rPr sz="1100" b="0">
                  <a:solidFill>
                    <a:srgbClr val="16202C"/>
                  </a:solidFill>
                  <a:latin typeface="맑은 고딕"/>
                  <a:ea typeface="맑은 고딕"/>
                  <a:cs typeface="맑은 고딕"/>
                </a:rPr>
                <a:t>Llama 3.3 70B</a:t>
              </a:r>
            </a:p>
          </p:txBody>
        </p:sp>
        <p:sp>
          <p:nvSpPr>
            <p:cNvPr id="20" name="Rectangle 19"/>
            <p:cNvSpPr/>
            <p:nvPr/>
          </p:nvSpPr>
          <p:spPr>
            <a:xfrm>
              <a:off x="2062674" y="2600701"/>
              <a:ext cx="1575876" cy="186968"/>
            </a:xfrm>
            <a:prstGeom prst="rect">
              <a:avLst/>
            </a:prstGeom>
            <a:solidFill>
              <a:srgbClr val="EEF2F7"/>
            </a:solidFill>
            <a:ln w="9348">
              <a:solidFill>
                <a:srgbClr val="5B6B7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3705324" y="2584942"/>
              <a:ext cx="99140" cy="203048"/>
            </a:xfrm>
            <a:prstGeom prst="rect">
              <a:avLst/>
            </a:prstGeom>
            <a:noFill/>
          </p:spPr>
          <p:txBody>
            <a:bodyPr wrap="none" anchor="ctr" lIns="0" rIns="0" tIns="0" bIns="0">
              <a:noAutofit/>
            </a:bodyPr>
            <a:lstStyle/>
            <a:p>
              <a:pPr algn="l"/>
              <a:r>
                <a:rPr sz="1100" b="0">
                  <a:solidFill>
                    <a:srgbClr val="16202C"/>
                  </a:solidFill>
                  <a:latin typeface="맑은 고딕"/>
                  <a:ea typeface="맑은 고딕"/>
                  <a:cs typeface="맑은 고딕"/>
                </a:rPr>
                <a:t>-</a:t>
              </a:r>
            </a:p>
          </p:txBody>
        </p:sp>
        <p:sp>
          <p:nvSpPr>
            <p:cNvPr id="22" name="TextBox 21"/>
            <p:cNvSpPr txBox="1"/>
            <p:nvPr/>
          </p:nvSpPr>
          <p:spPr>
            <a:xfrm>
              <a:off x="566928" y="2811975"/>
              <a:ext cx="786669" cy="203048"/>
            </a:xfrm>
            <a:prstGeom prst="rect">
              <a:avLst/>
            </a:prstGeom>
            <a:noFill/>
          </p:spPr>
          <p:txBody>
            <a:bodyPr wrap="none" anchor="ctr" lIns="0" rIns="0" tIns="0" bIns="0">
              <a:noAutofit/>
            </a:bodyPr>
            <a:lstStyle/>
            <a:p>
              <a:pPr algn="l"/>
              <a:r>
                <a:rPr sz="1100" b="0">
                  <a:solidFill>
                    <a:srgbClr val="16202C"/>
                  </a:solidFill>
                  <a:latin typeface="맑은 고딕"/>
                  <a:ea typeface="맑은 고딕"/>
                  <a:cs typeface="맑은 고딕"/>
                </a:rPr>
                <a:t>Qwen3 32B</a:t>
              </a:r>
            </a:p>
          </p:txBody>
        </p:sp>
        <p:sp>
          <p:nvSpPr>
            <p:cNvPr id="23" name="Rectangle 22"/>
            <p:cNvSpPr/>
            <p:nvPr/>
          </p:nvSpPr>
          <p:spPr>
            <a:xfrm>
              <a:off x="2062674" y="2827734"/>
              <a:ext cx="1575876" cy="186968"/>
            </a:xfrm>
            <a:prstGeom prst="rect">
              <a:avLst/>
            </a:prstGeom>
            <a:solidFill>
              <a:srgbClr val="EEF2F7"/>
            </a:solidFill>
            <a:ln w="9348">
              <a:solidFill>
                <a:srgbClr val="5B6B7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2062674" y="2827734"/>
              <a:ext cx="354656" cy="186968"/>
            </a:xfrm>
            <a:prstGeom prst="rect">
              <a:avLst/>
            </a:prstGeom>
            <a:solidFill>
              <a:srgbClr val="9DA5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3705324" y="2811975"/>
              <a:ext cx="349584" cy="203048"/>
            </a:xfrm>
            <a:prstGeom prst="rect">
              <a:avLst/>
            </a:prstGeom>
            <a:noFill/>
          </p:spPr>
          <p:txBody>
            <a:bodyPr wrap="none" anchor="ctr" lIns="0" rIns="0" tIns="0" bIns="0">
              <a:noAutofit/>
            </a:bodyPr>
            <a:lstStyle/>
            <a:p>
              <a:pPr algn="l"/>
              <a:r>
                <a:rPr sz="1100" b="0">
                  <a:solidFill>
                    <a:srgbClr val="16202C"/>
                  </a:solidFill>
                  <a:latin typeface="맑은 고딕"/>
                  <a:ea typeface="맑은 고딕"/>
                  <a:cs typeface="맑은 고딕"/>
                </a:rPr>
                <a:t>211s</a:t>
              </a:r>
            </a:p>
          </p:txBody>
        </p:sp>
        <p:sp>
          <p:nvSpPr>
            <p:cNvPr id="26" name="TextBox 25"/>
            <p:cNvSpPr txBox="1"/>
            <p:nvPr/>
          </p:nvSpPr>
          <p:spPr>
            <a:xfrm>
              <a:off x="4306294" y="1903844"/>
              <a:ext cx="1090820" cy="203048"/>
            </a:xfrm>
            <a:prstGeom prst="rect">
              <a:avLst/>
            </a:prstGeom>
            <a:noFill/>
          </p:spPr>
          <p:txBody>
            <a:bodyPr wrap="none" anchor="ctr" lIns="0" rIns="0" tIns="0" bIns="0">
              <a:noAutofit/>
            </a:bodyPr>
            <a:lstStyle/>
            <a:p>
              <a:pPr algn="l"/>
              <a:r>
                <a:rPr sz="1100" b="0">
                  <a:solidFill>
                    <a:srgbClr val="16202C"/>
                  </a:solidFill>
                  <a:latin typeface="맑은 고딕"/>
                  <a:ea typeface="맑은 고딕"/>
                  <a:cs typeface="맑은 고딕"/>
                </a:rPr>
                <a:t>EXAONE 4.0 32B</a:t>
              </a:r>
            </a:p>
          </p:txBody>
        </p:sp>
        <p:sp>
          <p:nvSpPr>
            <p:cNvPr id="27" name="Rectangle 26"/>
            <p:cNvSpPr/>
            <p:nvPr/>
          </p:nvSpPr>
          <p:spPr>
            <a:xfrm>
              <a:off x="5802040" y="1919602"/>
              <a:ext cx="1575876" cy="186968"/>
            </a:xfrm>
            <a:prstGeom prst="rect">
              <a:avLst/>
            </a:prstGeom>
            <a:solidFill>
              <a:srgbClr val="EEF2F7"/>
            </a:solidFill>
            <a:ln w="9348">
              <a:solidFill>
                <a:srgbClr val="5B6B7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5802040" y="1919602"/>
              <a:ext cx="111387" cy="186968"/>
            </a:xfrm>
            <a:prstGeom prst="rect">
              <a:avLst/>
            </a:prstGeom>
            <a:solidFill>
              <a:srgbClr val="9DA5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444690" y="1903844"/>
              <a:ext cx="271758" cy="203048"/>
            </a:xfrm>
            <a:prstGeom prst="rect">
              <a:avLst/>
            </a:prstGeom>
            <a:noFill/>
          </p:spPr>
          <p:txBody>
            <a:bodyPr wrap="none" anchor="ctr" lIns="0" rIns="0" tIns="0" bIns="0">
              <a:noAutofit/>
            </a:bodyPr>
            <a:lstStyle/>
            <a:p>
              <a:pPr algn="l"/>
              <a:r>
                <a:rPr sz="1100" b="0">
                  <a:solidFill>
                    <a:srgbClr val="16202C"/>
                  </a:solidFill>
                  <a:latin typeface="맑은 고딕"/>
                  <a:ea typeface="맑은 고딕"/>
                  <a:cs typeface="맑은 고딕"/>
                </a:rPr>
                <a:t>66s</a:t>
              </a:r>
            </a:p>
          </p:txBody>
        </p:sp>
        <p:sp>
          <p:nvSpPr>
            <p:cNvPr id="30" name="TextBox 29"/>
            <p:cNvSpPr txBox="1"/>
            <p:nvPr/>
          </p:nvSpPr>
          <p:spPr>
            <a:xfrm>
              <a:off x="4306294" y="2130877"/>
              <a:ext cx="989156" cy="203048"/>
            </a:xfrm>
            <a:prstGeom prst="rect">
              <a:avLst/>
            </a:prstGeom>
            <a:noFill/>
          </p:spPr>
          <p:txBody>
            <a:bodyPr wrap="none" anchor="ctr" lIns="0" rIns="0" tIns="0" bIns="0">
              <a:noAutofit/>
            </a:bodyPr>
            <a:lstStyle/>
            <a:p>
              <a:pPr algn="l"/>
              <a:r>
                <a:rPr sz="1100" b="0">
                  <a:solidFill>
                    <a:srgbClr val="16202C"/>
                  </a:solidFill>
                  <a:latin typeface="맑은 고딕"/>
                  <a:ea typeface="맑은 고딕"/>
                  <a:cs typeface="맑은 고딕"/>
                </a:rPr>
                <a:t>Qwen3-VL 32B</a:t>
              </a:r>
            </a:p>
          </p:txBody>
        </p:sp>
        <p:sp>
          <p:nvSpPr>
            <p:cNvPr id="31" name="Rectangle 30"/>
            <p:cNvSpPr/>
            <p:nvPr/>
          </p:nvSpPr>
          <p:spPr>
            <a:xfrm>
              <a:off x="5802040" y="2146635"/>
              <a:ext cx="1575876" cy="186968"/>
            </a:xfrm>
            <a:prstGeom prst="rect">
              <a:avLst/>
            </a:prstGeom>
            <a:solidFill>
              <a:srgbClr val="EEF2F7"/>
            </a:solidFill>
            <a:ln w="9348">
              <a:solidFill>
                <a:srgbClr val="5B6B7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7444690" y="2130877"/>
              <a:ext cx="99140" cy="203048"/>
            </a:xfrm>
            <a:prstGeom prst="rect">
              <a:avLst/>
            </a:prstGeom>
            <a:noFill/>
          </p:spPr>
          <p:txBody>
            <a:bodyPr wrap="none" anchor="ctr" lIns="0" rIns="0" tIns="0" bIns="0">
              <a:noAutofit/>
            </a:bodyPr>
            <a:lstStyle/>
            <a:p>
              <a:pPr algn="l"/>
              <a:r>
                <a:rPr sz="1100" b="0">
                  <a:solidFill>
                    <a:srgbClr val="16202C"/>
                  </a:solidFill>
                  <a:latin typeface="맑은 고딕"/>
                  <a:ea typeface="맑은 고딕"/>
                  <a:cs typeface="맑은 고딕"/>
                </a:rPr>
                <a:t>-</a:t>
              </a:r>
            </a:p>
          </p:txBody>
        </p:sp>
        <p:sp>
          <p:nvSpPr>
            <p:cNvPr id="33" name="TextBox 32"/>
            <p:cNvSpPr txBox="1"/>
            <p:nvPr/>
          </p:nvSpPr>
          <p:spPr>
            <a:xfrm>
              <a:off x="4306294" y="2357909"/>
              <a:ext cx="1228802" cy="203048"/>
            </a:xfrm>
            <a:prstGeom prst="rect">
              <a:avLst/>
            </a:prstGeom>
            <a:noFill/>
          </p:spPr>
          <p:txBody>
            <a:bodyPr wrap="none" anchor="ctr" lIns="0" rIns="0" tIns="0" bIns="0">
              <a:noAutofit/>
            </a:bodyPr>
            <a:lstStyle/>
            <a:p>
              <a:pPr algn="l"/>
              <a:r>
                <a:rPr sz="1100" b="0">
                  <a:solidFill>
                    <a:srgbClr val="16202C"/>
                  </a:solidFill>
                  <a:latin typeface="맑은 고딕"/>
                  <a:ea typeface="맑은 고딕"/>
                  <a:cs typeface="맑은 고딕"/>
                </a:rPr>
                <a:t>Qwen3-Coder 30B</a:t>
              </a:r>
            </a:p>
          </p:txBody>
        </p:sp>
        <p:sp>
          <p:nvSpPr>
            <p:cNvPr id="34" name="Rectangle 33"/>
            <p:cNvSpPr/>
            <p:nvPr/>
          </p:nvSpPr>
          <p:spPr>
            <a:xfrm>
              <a:off x="5802040" y="2373668"/>
              <a:ext cx="1575876" cy="186968"/>
            </a:xfrm>
            <a:prstGeom prst="rect">
              <a:avLst/>
            </a:prstGeom>
            <a:solidFill>
              <a:srgbClr val="EEF2F7"/>
            </a:solidFill>
            <a:ln w="9348">
              <a:solidFill>
                <a:srgbClr val="5B6B7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5802040" y="2373668"/>
              <a:ext cx="1575876" cy="186968"/>
            </a:xfrm>
            <a:prstGeom prst="rect">
              <a:avLst/>
            </a:prstGeom>
            <a:solidFill>
              <a:srgbClr val="9DA5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7444690" y="2357909"/>
              <a:ext cx="349584" cy="203048"/>
            </a:xfrm>
            <a:prstGeom prst="rect">
              <a:avLst/>
            </a:prstGeom>
            <a:noFill/>
          </p:spPr>
          <p:txBody>
            <a:bodyPr wrap="none" anchor="ctr" lIns="0" rIns="0" tIns="0" bIns="0">
              <a:noAutofit/>
            </a:bodyPr>
            <a:lstStyle/>
            <a:p>
              <a:pPr algn="l"/>
              <a:r>
                <a:rPr sz="1100" b="0">
                  <a:solidFill>
                    <a:srgbClr val="16202C"/>
                  </a:solidFill>
                  <a:latin typeface="맑은 고딕"/>
                  <a:ea typeface="맑은 고딕"/>
                  <a:cs typeface="맑은 고딕"/>
                </a:rPr>
                <a:t>938s</a:t>
              </a:r>
            </a:p>
          </p:txBody>
        </p:sp>
        <p:sp>
          <p:nvSpPr>
            <p:cNvPr id="37" name="TextBox 36"/>
            <p:cNvSpPr txBox="1"/>
            <p:nvPr/>
          </p:nvSpPr>
          <p:spPr>
            <a:xfrm>
              <a:off x="4306294" y="2584942"/>
              <a:ext cx="1184210" cy="203048"/>
            </a:xfrm>
            <a:prstGeom prst="rect">
              <a:avLst/>
            </a:prstGeom>
            <a:noFill/>
          </p:spPr>
          <p:txBody>
            <a:bodyPr wrap="none" anchor="ctr" lIns="0" rIns="0" tIns="0" bIns="0">
              <a:noAutofit/>
            </a:bodyPr>
            <a:lstStyle/>
            <a:p>
              <a:pPr algn="l"/>
              <a:r>
                <a:rPr sz="1100" b="0">
                  <a:solidFill>
                    <a:srgbClr val="16202C"/>
                  </a:solidFill>
                  <a:latin typeface="맑은 고딕"/>
                  <a:ea typeface="맑은 고딕"/>
                  <a:cs typeface="맑은 고딕"/>
                </a:rPr>
                <a:t>A3B Instruct 2507</a:t>
              </a:r>
            </a:p>
          </p:txBody>
        </p:sp>
        <p:sp>
          <p:nvSpPr>
            <p:cNvPr id="38" name="Rectangle 37"/>
            <p:cNvSpPr/>
            <p:nvPr/>
          </p:nvSpPr>
          <p:spPr>
            <a:xfrm>
              <a:off x="5802040" y="2600701"/>
              <a:ext cx="1575876" cy="186968"/>
            </a:xfrm>
            <a:prstGeom prst="rect">
              <a:avLst/>
            </a:prstGeom>
            <a:solidFill>
              <a:srgbClr val="EEF2F7"/>
            </a:solidFill>
            <a:ln w="9348">
              <a:solidFill>
                <a:srgbClr val="5B6B7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5802040" y="2600701"/>
              <a:ext cx="457306" cy="186968"/>
            </a:xfrm>
            <a:prstGeom prst="rect">
              <a:avLst/>
            </a:prstGeom>
            <a:solidFill>
              <a:srgbClr val="9DA5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7444690" y="2584942"/>
              <a:ext cx="349584" cy="203048"/>
            </a:xfrm>
            <a:prstGeom prst="rect">
              <a:avLst/>
            </a:prstGeom>
            <a:noFill/>
          </p:spPr>
          <p:txBody>
            <a:bodyPr wrap="none" anchor="ctr" lIns="0" rIns="0" tIns="0" bIns="0">
              <a:noAutofit/>
            </a:bodyPr>
            <a:lstStyle/>
            <a:p>
              <a:pPr algn="l"/>
              <a:r>
                <a:rPr sz="1100" b="0">
                  <a:solidFill>
                    <a:srgbClr val="16202C"/>
                  </a:solidFill>
                  <a:latin typeface="맑은 고딕"/>
                  <a:ea typeface="맑은 고딕"/>
                  <a:cs typeface="맑은 고딕"/>
                </a:rPr>
                <a:t>272s</a:t>
              </a:r>
            </a:p>
          </p:txBody>
        </p:sp>
        <p:sp>
          <p:nvSpPr>
            <p:cNvPr id="41" name="TextBox 40"/>
            <p:cNvSpPr txBox="1"/>
            <p:nvPr/>
          </p:nvSpPr>
          <p:spPr>
            <a:xfrm>
              <a:off x="4306294" y="2811975"/>
              <a:ext cx="1253622" cy="203048"/>
            </a:xfrm>
            <a:prstGeom prst="rect">
              <a:avLst/>
            </a:prstGeom>
            <a:noFill/>
          </p:spPr>
          <p:txBody>
            <a:bodyPr wrap="none" anchor="ctr" lIns="0" rIns="0" tIns="0" bIns="0">
              <a:noAutofit/>
            </a:bodyPr>
            <a:lstStyle/>
            <a:p>
              <a:pPr algn="l"/>
              <a:r>
                <a:rPr sz="1100" b="0">
                  <a:solidFill>
                    <a:srgbClr val="16202C"/>
                  </a:solidFill>
                  <a:latin typeface="맑은 고딕"/>
                  <a:ea typeface="맑은 고딕"/>
                  <a:cs typeface="맑은 고딕"/>
                </a:rPr>
                <a:t>A3B Thinking 2507</a:t>
              </a:r>
            </a:p>
          </p:txBody>
        </p:sp>
        <p:sp>
          <p:nvSpPr>
            <p:cNvPr id="42" name="Rectangle 41"/>
            <p:cNvSpPr/>
            <p:nvPr/>
          </p:nvSpPr>
          <p:spPr>
            <a:xfrm>
              <a:off x="5802040" y="2827734"/>
              <a:ext cx="1575876" cy="186968"/>
            </a:xfrm>
            <a:prstGeom prst="rect">
              <a:avLst/>
            </a:prstGeom>
            <a:solidFill>
              <a:srgbClr val="EEF2F7"/>
            </a:solidFill>
            <a:ln w="9348">
              <a:solidFill>
                <a:srgbClr val="5B6B7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5802040" y="2827734"/>
              <a:ext cx="72746" cy="186968"/>
            </a:xfrm>
            <a:prstGeom prst="rect">
              <a:avLst/>
            </a:prstGeom>
            <a:solidFill>
              <a:srgbClr val="9DA5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7444690" y="2811975"/>
              <a:ext cx="271758" cy="203048"/>
            </a:xfrm>
            <a:prstGeom prst="rect">
              <a:avLst/>
            </a:prstGeom>
            <a:noFill/>
          </p:spPr>
          <p:txBody>
            <a:bodyPr wrap="none" anchor="ctr" lIns="0" rIns="0" tIns="0" bIns="0">
              <a:noAutofit/>
            </a:bodyPr>
            <a:lstStyle/>
            <a:p>
              <a:pPr algn="l"/>
              <a:r>
                <a:rPr sz="1100" b="0">
                  <a:solidFill>
                    <a:srgbClr val="16202C"/>
                  </a:solidFill>
                  <a:latin typeface="맑은 고딕"/>
                  <a:ea typeface="맑은 고딕"/>
                  <a:cs typeface="맑은 고딕"/>
                </a:rPr>
                <a:t>43s</a:t>
              </a:r>
            </a:p>
          </p:txBody>
        </p:sp>
        <p:sp>
          <p:nvSpPr>
            <p:cNvPr id="45" name="TextBox 44"/>
            <p:cNvSpPr txBox="1"/>
            <p:nvPr/>
          </p:nvSpPr>
          <p:spPr>
            <a:xfrm>
              <a:off x="8045660" y="1903844"/>
              <a:ext cx="584884" cy="203048"/>
            </a:xfrm>
            <a:prstGeom prst="rect">
              <a:avLst/>
            </a:prstGeom>
            <a:noFill/>
          </p:spPr>
          <p:txBody>
            <a:bodyPr wrap="none" anchor="ctr" lIns="0" rIns="0" tIns="0" bIns="0">
              <a:noAutofit/>
            </a:bodyPr>
            <a:lstStyle/>
            <a:p>
              <a:pPr algn="l"/>
              <a:r>
                <a:rPr sz="1100" b="0">
                  <a:solidFill>
                    <a:srgbClr val="16202C"/>
                  </a:solidFill>
                  <a:latin typeface="맑은 고딕"/>
                  <a:ea typeface="맑은 고딕"/>
                  <a:cs typeface="맑은 고딕"/>
                </a:rPr>
                <a:t>A3B 30B</a:t>
              </a:r>
            </a:p>
          </p:txBody>
        </p:sp>
        <p:sp>
          <p:nvSpPr>
            <p:cNvPr id="46" name="Rectangle 45"/>
            <p:cNvSpPr/>
            <p:nvPr/>
          </p:nvSpPr>
          <p:spPr>
            <a:xfrm>
              <a:off x="9541406" y="1919602"/>
              <a:ext cx="1575876" cy="186968"/>
            </a:xfrm>
            <a:prstGeom prst="rect">
              <a:avLst/>
            </a:prstGeom>
            <a:solidFill>
              <a:srgbClr val="EEF2F7"/>
            </a:solidFill>
            <a:ln w="9348">
              <a:solidFill>
                <a:srgbClr val="5B6B7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11184056" y="1903844"/>
              <a:ext cx="99140" cy="203048"/>
            </a:xfrm>
            <a:prstGeom prst="rect">
              <a:avLst/>
            </a:prstGeom>
            <a:noFill/>
          </p:spPr>
          <p:txBody>
            <a:bodyPr wrap="none" anchor="ctr" lIns="0" rIns="0" tIns="0" bIns="0">
              <a:noAutofit/>
            </a:bodyPr>
            <a:lstStyle/>
            <a:p>
              <a:pPr algn="l"/>
              <a:r>
                <a:rPr sz="1100" b="0">
                  <a:solidFill>
                    <a:srgbClr val="16202C"/>
                  </a:solidFill>
                  <a:latin typeface="맑은 고딕"/>
                  <a:ea typeface="맑은 고딕"/>
                  <a:cs typeface="맑은 고딕"/>
                </a:rPr>
                <a:t>-</a:t>
              </a:r>
            </a:p>
          </p:txBody>
        </p:sp>
        <p:sp>
          <p:nvSpPr>
            <p:cNvPr id="48" name="TextBox 47"/>
            <p:cNvSpPr txBox="1"/>
            <p:nvPr/>
          </p:nvSpPr>
          <p:spPr>
            <a:xfrm>
              <a:off x="8045660" y="2130877"/>
              <a:ext cx="881602" cy="203048"/>
            </a:xfrm>
            <a:prstGeom prst="rect">
              <a:avLst/>
            </a:prstGeom>
            <a:noFill/>
          </p:spPr>
          <p:txBody>
            <a:bodyPr wrap="none" anchor="ctr" lIns="0" rIns="0" tIns="0" bIns="0">
              <a:noAutofit/>
            </a:bodyPr>
            <a:lstStyle/>
            <a:p>
              <a:pPr algn="l"/>
              <a:r>
                <a:rPr sz="1100" b="0">
                  <a:solidFill>
                    <a:srgbClr val="16202C"/>
                  </a:solidFill>
                  <a:latin typeface="맑은 고딕"/>
                  <a:ea typeface="맑은 고딕"/>
                  <a:cs typeface="맑은 고딕"/>
                </a:rPr>
                <a:t>Llama 3.1 8B</a:t>
              </a:r>
            </a:p>
          </p:txBody>
        </p:sp>
        <p:sp>
          <p:nvSpPr>
            <p:cNvPr id="49" name="Rectangle 48"/>
            <p:cNvSpPr/>
            <p:nvPr/>
          </p:nvSpPr>
          <p:spPr>
            <a:xfrm>
              <a:off x="9541406" y="2146635"/>
              <a:ext cx="1575876" cy="186968"/>
            </a:xfrm>
            <a:prstGeom prst="rect">
              <a:avLst/>
            </a:prstGeom>
            <a:solidFill>
              <a:srgbClr val="EEF2F7"/>
            </a:solidFill>
            <a:ln w="9348">
              <a:solidFill>
                <a:srgbClr val="5B6B7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Rectangle 49"/>
            <p:cNvSpPr/>
            <p:nvPr/>
          </p:nvSpPr>
          <p:spPr>
            <a:xfrm>
              <a:off x="9541406" y="2146635"/>
              <a:ext cx="26710" cy="186968"/>
            </a:xfrm>
            <a:prstGeom prst="rect">
              <a:avLst/>
            </a:prstGeom>
            <a:solidFill>
              <a:srgbClr val="FFD3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11184056" y="2130877"/>
              <a:ext cx="271758" cy="203048"/>
            </a:xfrm>
            <a:prstGeom prst="rect">
              <a:avLst/>
            </a:prstGeom>
            <a:noFill/>
          </p:spPr>
          <p:txBody>
            <a:bodyPr wrap="none" anchor="ctr" lIns="0" rIns="0" tIns="0" bIns="0">
              <a:noAutofit/>
            </a:bodyPr>
            <a:lstStyle/>
            <a:p>
              <a:pPr algn="l"/>
              <a:r>
                <a:rPr sz="1100" b="0">
                  <a:solidFill>
                    <a:srgbClr val="16202C"/>
                  </a:solidFill>
                  <a:latin typeface="맑은 고딕"/>
                  <a:ea typeface="맑은 고딕"/>
                  <a:cs typeface="맑은 고딕"/>
                </a:rPr>
                <a:t>10s</a:t>
              </a:r>
            </a:p>
          </p:txBody>
        </p:sp>
        <p:sp>
          <p:nvSpPr>
            <p:cNvPr id="52" name="TextBox 51"/>
            <p:cNvSpPr txBox="1"/>
            <p:nvPr/>
          </p:nvSpPr>
          <p:spPr>
            <a:xfrm>
              <a:off x="8045660" y="2357909"/>
              <a:ext cx="708844" cy="203048"/>
            </a:xfrm>
            <a:prstGeom prst="rect">
              <a:avLst/>
            </a:prstGeom>
            <a:noFill/>
          </p:spPr>
          <p:txBody>
            <a:bodyPr wrap="none" anchor="ctr" lIns="0" rIns="0" tIns="0" bIns="0">
              <a:noAutofit/>
            </a:bodyPr>
            <a:lstStyle/>
            <a:p>
              <a:pPr algn="l"/>
              <a:r>
                <a:rPr sz="1100" b="0">
                  <a:solidFill>
                    <a:srgbClr val="16202C"/>
                  </a:solidFill>
                  <a:latin typeface="맑은 고딕"/>
                  <a:ea typeface="맑은 고딕"/>
                  <a:cs typeface="맑은 고딕"/>
                </a:rPr>
                <a:t>Qwen3 8B</a:t>
              </a:r>
            </a:p>
          </p:txBody>
        </p:sp>
        <p:sp>
          <p:nvSpPr>
            <p:cNvPr id="53" name="Rectangle 52"/>
            <p:cNvSpPr/>
            <p:nvPr/>
          </p:nvSpPr>
          <p:spPr>
            <a:xfrm>
              <a:off x="9541406" y="2373668"/>
              <a:ext cx="1575876" cy="186968"/>
            </a:xfrm>
            <a:prstGeom prst="rect">
              <a:avLst/>
            </a:prstGeom>
            <a:solidFill>
              <a:srgbClr val="EEF2F7"/>
            </a:solidFill>
            <a:ln w="9348">
              <a:solidFill>
                <a:srgbClr val="5B6B7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Rectangle 53"/>
            <p:cNvSpPr/>
            <p:nvPr/>
          </p:nvSpPr>
          <p:spPr>
            <a:xfrm>
              <a:off x="9541406" y="2373668"/>
              <a:ext cx="26710" cy="186968"/>
            </a:xfrm>
            <a:prstGeom prst="rect">
              <a:avLst/>
            </a:prstGeom>
            <a:solidFill>
              <a:srgbClr val="FFD3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11184056" y="2357909"/>
              <a:ext cx="271758" cy="203048"/>
            </a:xfrm>
            <a:prstGeom prst="rect">
              <a:avLst/>
            </a:prstGeom>
            <a:noFill/>
          </p:spPr>
          <p:txBody>
            <a:bodyPr wrap="none" anchor="ctr" lIns="0" rIns="0" tIns="0" bIns="0">
              <a:noAutofit/>
            </a:bodyPr>
            <a:lstStyle/>
            <a:p>
              <a:pPr algn="l"/>
              <a:r>
                <a:rPr sz="1100" b="0">
                  <a:solidFill>
                    <a:srgbClr val="16202C"/>
                  </a:solidFill>
                  <a:latin typeface="맑은 고딕"/>
                  <a:ea typeface="맑은 고딕"/>
                  <a:cs typeface="맑은 고딕"/>
                </a:rPr>
                <a:t>13s</a:t>
              </a:r>
            </a:p>
          </p:txBody>
        </p:sp>
        <p:sp>
          <p:nvSpPr>
            <p:cNvPr id="56" name="TextBox 55"/>
            <p:cNvSpPr txBox="1"/>
            <p:nvPr/>
          </p:nvSpPr>
          <p:spPr>
            <a:xfrm>
              <a:off x="8045660" y="2584942"/>
              <a:ext cx="708844" cy="203048"/>
            </a:xfrm>
            <a:prstGeom prst="rect">
              <a:avLst/>
            </a:prstGeom>
            <a:noFill/>
          </p:spPr>
          <p:txBody>
            <a:bodyPr wrap="none" anchor="ctr" lIns="0" rIns="0" tIns="0" bIns="0">
              <a:noAutofit/>
            </a:bodyPr>
            <a:lstStyle/>
            <a:p>
              <a:pPr algn="l"/>
              <a:r>
                <a:rPr sz="1100" b="0">
                  <a:solidFill>
                    <a:srgbClr val="16202C"/>
                  </a:solidFill>
                  <a:latin typeface="맑은 고딕"/>
                  <a:ea typeface="맑은 고딕"/>
                  <a:cs typeface="맑은 고딕"/>
                </a:rPr>
                <a:t>Qwen3 4B</a:t>
              </a:r>
            </a:p>
          </p:txBody>
        </p:sp>
        <p:sp>
          <p:nvSpPr>
            <p:cNvPr id="57" name="Rectangle 56"/>
            <p:cNvSpPr/>
            <p:nvPr/>
          </p:nvSpPr>
          <p:spPr>
            <a:xfrm>
              <a:off x="9541406" y="2600701"/>
              <a:ext cx="1575876" cy="186968"/>
            </a:xfrm>
            <a:prstGeom prst="rect">
              <a:avLst/>
            </a:prstGeom>
            <a:solidFill>
              <a:srgbClr val="EEF2F7"/>
            </a:solidFill>
            <a:ln w="9348">
              <a:solidFill>
                <a:srgbClr val="5B6B7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Rectangle 57"/>
            <p:cNvSpPr/>
            <p:nvPr/>
          </p:nvSpPr>
          <p:spPr>
            <a:xfrm>
              <a:off x="9541406" y="2600701"/>
              <a:ext cx="26710" cy="186968"/>
            </a:xfrm>
            <a:prstGeom prst="rect">
              <a:avLst/>
            </a:prstGeom>
            <a:solidFill>
              <a:srgbClr val="FFD3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11184056" y="2584942"/>
              <a:ext cx="193933" cy="203048"/>
            </a:xfrm>
            <a:prstGeom prst="rect">
              <a:avLst/>
            </a:prstGeom>
            <a:noFill/>
          </p:spPr>
          <p:txBody>
            <a:bodyPr wrap="none" anchor="ctr" lIns="0" rIns="0" tIns="0" bIns="0">
              <a:noAutofit/>
            </a:bodyPr>
            <a:lstStyle/>
            <a:p>
              <a:pPr algn="l"/>
              <a:r>
                <a:rPr sz="1100" b="0">
                  <a:solidFill>
                    <a:srgbClr val="16202C"/>
                  </a:solidFill>
                  <a:latin typeface="맑은 고딕"/>
                  <a:ea typeface="맑은 고딕"/>
                  <a:cs typeface="맑은 고딕"/>
                </a:rPr>
                <a:t>9s</a:t>
              </a:r>
            </a:p>
          </p:txBody>
        </p:sp>
        <p:sp>
          <p:nvSpPr>
            <p:cNvPr id="60" name="TextBox 59"/>
            <p:cNvSpPr txBox="1"/>
            <p:nvPr/>
          </p:nvSpPr>
          <p:spPr>
            <a:xfrm>
              <a:off x="8045660" y="2811975"/>
              <a:ext cx="942460" cy="203048"/>
            </a:xfrm>
            <a:prstGeom prst="rect">
              <a:avLst/>
            </a:prstGeom>
            <a:noFill/>
          </p:spPr>
          <p:txBody>
            <a:bodyPr wrap="none" anchor="ctr" lIns="0" rIns="0" tIns="0" bIns="0">
              <a:noAutofit/>
            </a:bodyPr>
            <a:lstStyle/>
            <a:p>
              <a:pPr algn="l"/>
              <a:r>
                <a:rPr sz="1100" b="0">
                  <a:solidFill>
                    <a:srgbClr val="16202C"/>
                  </a:solidFill>
                  <a:latin typeface="맑은 고딕"/>
                  <a:ea typeface="맑은 고딕"/>
                  <a:cs typeface="맑은 고딕"/>
                </a:rPr>
                <a:t>Qwen2.5 0.5B</a:t>
              </a:r>
            </a:p>
          </p:txBody>
        </p:sp>
        <p:sp>
          <p:nvSpPr>
            <p:cNvPr id="61" name="Rectangle 60"/>
            <p:cNvSpPr/>
            <p:nvPr/>
          </p:nvSpPr>
          <p:spPr>
            <a:xfrm>
              <a:off x="9541406" y="2827734"/>
              <a:ext cx="1575876" cy="186968"/>
            </a:xfrm>
            <a:prstGeom prst="rect">
              <a:avLst/>
            </a:prstGeom>
            <a:solidFill>
              <a:srgbClr val="EEF2F7"/>
            </a:solidFill>
            <a:ln w="9348">
              <a:solidFill>
                <a:srgbClr val="5B6B7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Rectangle 61"/>
            <p:cNvSpPr/>
            <p:nvPr/>
          </p:nvSpPr>
          <p:spPr>
            <a:xfrm>
              <a:off x="9541406" y="2827734"/>
              <a:ext cx="26710" cy="186968"/>
            </a:xfrm>
            <a:prstGeom prst="rect">
              <a:avLst/>
            </a:prstGeom>
            <a:solidFill>
              <a:srgbClr val="FFD3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TextBox 62"/>
            <p:cNvSpPr txBox="1"/>
            <p:nvPr/>
          </p:nvSpPr>
          <p:spPr>
            <a:xfrm>
              <a:off x="11184056" y="2811975"/>
              <a:ext cx="193933" cy="203048"/>
            </a:xfrm>
            <a:prstGeom prst="rect">
              <a:avLst/>
            </a:prstGeom>
            <a:noFill/>
          </p:spPr>
          <p:txBody>
            <a:bodyPr wrap="none" anchor="ctr" lIns="0" rIns="0" tIns="0" bIns="0">
              <a:noAutofit/>
            </a:bodyPr>
            <a:lstStyle/>
            <a:p>
              <a:pPr algn="l"/>
              <a:r>
                <a:rPr sz="1100" b="0">
                  <a:solidFill>
                    <a:srgbClr val="16202C"/>
                  </a:solidFill>
                  <a:latin typeface="맑은 고딕"/>
                  <a:ea typeface="맑은 고딕"/>
                  <a:cs typeface="맑은 고딕"/>
                </a:rPr>
                <a:t>3s</a:t>
              </a:r>
            </a:p>
          </p:txBody>
        </p:sp>
        <p:sp>
          <p:nvSpPr>
            <p:cNvPr id="64" name="TextBox 63"/>
            <p:cNvSpPr txBox="1"/>
            <p:nvPr/>
          </p:nvSpPr>
          <p:spPr>
            <a:xfrm>
              <a:off x="566928" y="3124747"/>
              <a:ext cx="5050842" cy="212716"/>
            </a:xfrm>
            <a:prstGeom prst="rect">
              <a:avLst/>
            </a:prstGeom>
            <a:noFill/>
          </p:spPr>
          <p:txBody>
            <a:bodyPr wrap="none" anchor="ctr" lIns="0" rIns="0" tIns="0" bIns="0">
              <a:noAutofit/>
            </a:bodyPr>
            <a:lstStyle/>
            <a:p>
              <a:pPr algn="l"/>
              <a:r>
                <a:rPr sz="1160" b="0">
                  <a:solidFill>
                    <a:srgbClr val="16202C"/>
                  </a:solidFill>
                  <a:latin typeface="맑은 고딕"/>
                  <a:ea typeface="맑은 고딕"/>
                  <a:cs typeface="맑은 고딕"/>
                </a:rPr>
                <a:t>라우터는 안 쓰는 모델을 내리고 새로 올린다, 그래서 모델을 바꾸면 이만큼 기다린다</a:t>
              </a:r>
            </a:p>
          </p:txBody>
        </p:sp>
        <p:sp>
          <p:nvSpPr>
            <p:cNvPr id="65" name="TextBox 64"/>
            <p:cNvSpPr txBox="1"/>
            <p:nvPr/>
          </p:nvSpPr>
          <p:spPr>
            <a:xfrm>
              <a:off x="566928" y="3399590"/>
              <a:ext cx="3589791" cy="203048"/>
            </a:xfrm>
            <a:prstGeom prst="rect">
              <a:avLst/>
            </a:prstGeom>
            <a:noFill/>
          </p:spPr>
          <p:txBody>
            <a:bodyPr wrap="none" anchor="ctr" lIns="0" rIns="0" tIns="0" bIns="0">
              <a:noAutofit/>
            </a:bodyPr>
            <a:lstStyle/>
            <a:p>
              <a:pPr algn="l"/>
              <a:r>
                <a:rPr sz="1100" b="0">
                  <a:solidFill>
                    <a:srgbClr val="5B6B7B"/>
                  </a:solidFill>
                  <a:latin typeface="맑은 고딕"/>
                  <a:ea typeface="맑은 고딕"/>
                  <a:cs typeface="맑은 고딕"/>
                </a:rPr>
                <a:t>카드 한 장짜리는 십 초 안팎이라 갈아 끼우는 부담이 거의 없다</a:t>
              </a:r>
            </a:p>
          </p:txBody>
        </p:sp>
        <p:sp>
          <p:nvSpPr>
            <p:cNvPr id="66" name="TextBox 65"/>
            <p:cNvSpPr txBox="1"/>
            <p:nvPr/>
          </p:nvSpPr>
          <p:spPr>
            <a:xfrm>
              <a:off x="8822486" y="3399590"/>
              <a:ext cx="2802281" cy="203048"/>
            </a:xfrm>
            <a:prstGeom prst="rect">
              <a:avLst/>
            </a:prstGeom>
            <a:noFill/>
          </p:spPr>
          <p:txBody>
            <a:bodyPr wrap="none" anchor="ctr" lIns="0" rIns="0" tIns="0" bIns="0">
              <a:noAutofit/>
            </a:bodyPr>
            <a:lstStyle/>
            <a:p>
              <a:pPr algn="r"/>
              <a:r>
                <a:rPr sz="1100" b="0">
                  <a:solidFill>
                    <a:srgbClr val="5B6B7B"/>
                  </a:solidFill>
                  <a:latin typeface="맑은 고딕"/>
                  <a:ea typeface="맑은 고딕"/>
                  <a:cs typeface="맑은 고딕"/>
                </a:rPr>
                <a:t>serve 로그의 Loading LLM 부터 기동 완료까지</a:t>
              </a:r>
            </a:p>
          </p:txBody>
        </p:sp>
      </p:grpSp>
      <p:sp>
        <p:nvSpPr>
          <p:cNvPr id="67" name="TextBox 66"/>
          <p:cNvSpPr txBox="1"/>
          <p:nvPr/>
        </p:nvSpPr>
        <p:spPr>
          <a:xfrm>
            <a:off x="566928" y="3840382"/>
            <a:ext cx="11057839" cy="2432402"/>
          </a:xfrm>
          <a:prstGeom prst="rect">
            <a:avLst/>
          </a:prstGeom>
          <a:noFill/>
        </p:spPr>
        <p:txBody>
          <a:bodyPr wrap="square" anchor="t" lIns="0" rIns="0" tIns="0" bIns="0">
            <a:spAutoFit/>
          </a:bodyPr>
          <a:lstStyle/>
          <a:p>
            <a:pPr algn="l">
              <a:lnSpc>
                <a:spcPct val="118000"/>
              </a:lnSpc>
              <a:spcBef>
                <a:spcPts val="200"/>
              </a:spcBef>
              <a:spcAft>
                <a:spcPts val="200"/>
              </a:spcAft>
            </a:pPr>
            <a:r>
              <a:rPr sz="1200" b="0" i="0">
                <a:solidFill>
                  <a:srgbClr val="16202C"/>
                </a:solidFill>
                <a:latin typeface="Segoe UI"/>
                <a:ea typeface="맑은 고딕"/>
                <a:cs typeface="맑은 고딕"/>
              </a:rPr>
              <a:t>▪  카드 넉 장을 쓰는 모델은 쓰던 것을 내리고 새로 올려야 해서, 모델을 바꾸면 수십 초에서 수 분을 기다린다</a:t>
            </a:r>
          </a:p>
          <a:p>
            <a:pPr algn="l">
              <a:lnSpc>
                <a:spcPct val="118000"/>
              </a:lnSpc>
              <a:spcBef>
                <a:spcPts val="600"/>
              </a:spcBef>
              <a:spcAft>
                <a:spcPts val="200"/>
              </a:spcAft>
            </a:pPr>
            <a:r>
              <a:rPr sz="1200" b="0" i="0">
                <a:solidFill>
                  <a:srgbClr val="16202C"/>
                </a:solidFill>
                <a:latin typeface="Segoe UI"/>
                <a:ea typeface="맑은 고딕"/>
                <a:cs typeface="맑은 고딕"/>
              </a:rPr>
              <a:t>▪  카드 한 장짜리는 십 초 안팎이라 갈아 끼우는 부담이 거의 없고, 넷까지 동시에 떠 있을 수 있어 기다림 자체가 잘 안 생긴다</a:t>
            </a:r>
          </a:p>
          <a:p>
            <a:pPr algn="l">
              <a:lnSpc>
                <a:spcPct val="118000"/>
              </a:lnSpc>
              <a:spcBef>
                <a:spcPts val="600"/>
              </a:spcBef>
              <a:spcAft>
                <a:spcPts val="200"/>
              </a:spcAft>
            </a:pPr>
            <a:r>
              <a:rPr sz="1200" b="0" i="0">
                <a:solidFill>
                  <a:srgbClr val="16202C"/>
                </a:solidFill>
                <a:latin typeface="Segoe UI"/>
                <a:ea typeface="맑은 고딕"/>
                <a:cs typeface="맑은 고딕"/>
              </a:rPr>
              <a:t>▪  한 번 올라간 모델은 계속 떠 있다. 자주 쓰는 모델이 정해져 있다면 이 시간은 하루에 몇 번만 치르는 비용이다</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46304" cy="6858000"/>
          </a:xfrm>
          <a:prstGeom prst="rect">
            <a:avLst/>
          </a:prstGeom>
          <a:solidFill>
            <a:srgbClr val="0B5FC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3" name="TextBox 2"/>
          <p:cNvSpPr txBox="1"/>
          <p:nvPr/>
        </p:nvSpPr>
        <p:spPr>
          <a:xfrm>
            <a:off x="566928" y="384048"/>
            <a:ext cx="11057839" cy="713232"/>
          </a:xfrm>
          <a:prstGeom prst="rect">
            <a:avLst/>
          </a:prstGeom>
          <a:noFill/>
        </p:spPr>
        <p:txBody>
          <a:bodyPr wrap="square" anchor="t" lIns="0" rIns="0" tIns="0" bIns="0">
            <a:spAutoFit/>
          </a:bodyPr>
          <a:lstStyle/>
          <a:p>
            <a:pPr algn="l">
              <a:lnSpc>
                <a:spcPct val="118000"/>
              </a:lnSpc>
              <a:spcBef>
                <a:spcPts val="0"/>
              </a:spcBef>
              <a:spcAft>
                <a:spcPts val="0"/>
              </a:spcAft>
            </a:pPr>
            <a:r>
              <a:rPr sz="3000" b="1" i="0">
                <a:solidFill>
                  <a:srgbClr val="16202C"/>
                </a:solidFill>
                <a:latin typeface="Segoe UI"/>
                <a:ea typeface="맑은 고딕"/>
                <a:cs typeface="맑은 고딕"/>
              </a:rPr>
              <a:t>성능 요약</a:t>
            </a:r>
          </a:p>
        </p:txBody>
      </p:sp>
      <p:sp>
        <p:nvSpPr>
          <p:cNvPr id="4" name="TextBox 3"/>
          <p:cNvSpPr txBox="1"/>
          <p:nvPr/>
        </p:nvSpPr>
        <p:spPr>
          <a:xfrm>
            <a:off x="566928" y="1042416"/>
            <a:ext cx="11057839" cy="274320"/>
          </a:xfrm>
          <a:prstGeom prst="rect">
            <a:avLst/>
          </a:prstGeom>
          <a:noFill/>
        </p:spPr>
        <p:txBody>
          <a:bodyPr wrap="square" anchor="t" lIns="0" rIns="0" tIns="0" bIns="0">
            <a:spAutoFit/>
          </a:bodyPr>
          <a:lstStyle/>
          <a:p>
            <a:pPr algn="l">
              <a:lnSpc>
                <a:spcPct val="118000"/>
              </a:lnSpc>
              <a:spcBef>
                <a:spcPts val="0"/>
              </a:spcBef>
              <a:spcAft>
                <a:spcPts val="0"/>
              </a:spcAft>
            </a:pPr>
            <a:r>
              <a:rPr sz="1400" b="0" i="0">
                <a:solidFill>
                  <a:srgbClr val="5B6B7B"/>
                </a:solidFill>
                <a:latin typeface="Segoe UI"/>
                <a:ea typeface="맑은 고딕"/>
                <a:cs typeface="맑은 고딕"/>
              </a:rPr>
              <a:t>같은 프롬프트 4종, temperature 0, max_tokens 1024. 별표는 사고하는 모델</a:t>
            </a:r>
          </a:p>
        </p:txBody>
      </p:sp>
      <p:cxnSp>
        <p:nvCxnSpPr>
          <p:cNvPr id="5" name="Connector 4"/>
          <p:cNvCxnSpPr/>
          <p:nvPr/>
        </p:nvCxnSpPr>
        <p:spPr>
          <a:xfrm>
            <a:off x="566928" y="1408176"/>
            <a:ext cx="11057839" cy="0"/>
          </a:xfrm>
          <a:prstGeom prst="line">
            <a:avLst/>
          </a:prstGeom>
          <a:ln w="15875">
            <a:solidFill>
              <a:srgbClr val="D6DEE7"/>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566928" y="6455664"/>
            <a:ext cx="9686239" cy="219456"/>
          </a:xfrm>
          <a:prstGeom prst="rect">
            <a:avLst/>
          </a:prstGeom>
          <a:noFill/>
        </p:spPr>
        <p:txBody>
          <a:bodyPr wrap="square" anchor="t" lIns="0" rIns="0" tIns="0" bIns="0">
            <a:spAutoFit/>
          </a:bodyPr>
          <a:lstStyle/>
          <a:p>
            <a:pPr algn="l">
              <a:lnSpc>
                <a:spcPct val="118000"/>
              </a:lnSpc>
              <a:spcBef>
                <a:spcPts val="0"/>
              </a:spcBef>
              <a:spcAft>
                <a:spcPts val="0"/>
              </a:spcAft>
            </a:pPr>
            <a:r>
              <a:rPr sz="950" b="0" i="0">
                <a:solidFill>
                  <a:srgbClr val="5B6B7B"/>
                </a:solidFill>
                <a:latin typeface="Segoe UI"/>
                <a:ea typeface="맑은 고딕"/>
                <a:cs typeface="맑은 고딕"/>
              </a:rPr>
              <a:t>RNGD 4장 서버, 2026-08-29 실측</a:t>
            </a:r>
          </a:p>
        </p:txBody>
      </p:sp>
      <p:sp>
        <p:nvSpPr>
          <p:cNvPr id="7" name="TextBox 6"/>
          <p:cNvSpPr txBox="1"/>
          <p:nvPr/>
        </p:nvSpPr>
        <p:spPr>
          <a:xfrm>
            <a:off x="10527487" y="6455664"/>
            <a:ext cx="1097280" cy="219456"/>
          </a:xfrm>
          <a:prstGeom prst="rect">
            <a:avLst/>
          </a:prstGeom>
          <a:noFill/>
        </p:spPr>
        <p:txBody>
          <a:bodyPr wrap="square" anchor="t" lIns="0" rIns="0" tIns="0" bIns="0">
            <a:spAutoFit/>
          </a:bodyPr>
          <a:lstStyle/>
          <a:p>
            <a:pPr algn="r">
              <a:lnSpc>
                <a:spcPct val="118000"/>
              </a:lnSpc>
              <a:spcBef>
                <a:spcPts val="0"/>
              </a:spcBef>
              <a:spcAft>
                <a:spcPts val="0"/>
              </a:spcAft>
            </a:pPr>
            <a:r>
              <a:rPr sz="950" b="0" i="0">
                <a:solidFill>
                  <a:srgbClr val="5B6B7B"/>
                </a:solidFill>
                <a:latin typeface="Segoe UI"/>
                <a:ea typeface="맑은 고딕"/>
                <a:cs typeface="맑은 고딕"/>
              </a:rPr>
              <a:t>8</a:t>
            </a:r>
          </a:p>
        </p:txBody>
      </p:sp>
      <p:graphicFrame>
        <p:nvGraphicFramePr>
          <p:cNvPr id="8" name="Table 7"/>
          <p:cNvGraphicFramePr>
            <a:graphicFrameLocks noGrp="1"/>
          </p:cNvGraphicFramePr>
          <p:nvPr/>
        </p:nvGraphicFramePr>
        <p:xfrm>
          <a:off x="566928" y="1627632"/>
          <a:ext cx="11057838" cy="4645152"/>
        </p:xfrm>
        <a:graphic>
          <a:graphicData uri="http://schemas.openxmlformats.org/drawingml/2006/table">
            <a:tbl>
              <a:tblPr firstRow="1" bandRow="1">
                <a:tableStyleId>{5C22544A-7EE6-4342-B048-85BDC9FD1C3A}</a:tableStyleId>
              </a:tblPr>
              <a:tblGrid>
                <a:gridCol w="2885974"/>
                <a:gridCol w="1032875"/>
                <a:gridCol w="1032875"/>
                <a:gridCol w="1032875"/>
                <a:gridCol w="1032875"/>
                <a:gridCol w="1032875"/>
                <a:gridCol w="1032875"/>
                <a:gridCol w="1974614"/>
              </a:tblGrid>
              <a:tr h="290322">
                <a:tc>
                  <a:txBody>
                    <a:bodyPr wrap="square"/>
                    <a:lstStyle/>
                    <a:p>
                      <a:r>
                        <a:rPr sz="1000" b="1" i="0">
                          <a:solidFill>
                            <a:srgbClr val="FFFFFF"/>
                          </a:solidFill>
                          <a:latin typeface="Segoe UI"/>
                          <a:ea typeface="맑은 고딕"/>
                          <a:cs typeface="맑은 고딕"/>
                        </a:rPr>
                        <a:t>모델</a:t>
                      </a:r>
                    </a:p>
                  </a:txBody>
                  <a:tcPr marL="73152" marR="73152" marT="27432" marB="27432">
                    <a:solidFill>
                      <a:srgbClr val="0B5FC0"/>
                    </a:solidFill>
                  </a:tcPr>
                </a:tc>
                <a:tc>
                  <a:txBody>
                    <a:bodyPr wrap="square"/>
                    <a:lstStyle/>
                    <a:p>
                      <a:r>
                        <a:rPr sz="1000" b="1" i="0">
                          <a:solidFill>
                            <a:srgbClr val="FFFFFF"/>
                          </a:solidFill>
                          <a:latin typeface="Segoe UI"/>
                          <a:ea typeface="맑은 고딕"/>
                          <a:cs typeface="맑은 고딕"/>
                        </a:rPr>
                        <a:t>카드</a:t>
                      </a:r>
                    </a:p>
                  </a:txBody>
                  <a:tcPr marL="73152" marR="73152" marT="27432" marB="27432">
                    <a:solidFill>
                      <a:srgbClr val="0B5FC0"/>
                    </a:solidFill>
                  </a:tcPr>
                </a:tc>
                <a:tc>
                  <a:txBody>
                    <a:bodyPr wrap="square"/>
                    <a:lstStyle/>
                    <a:p>
                      <a:r>
                        <a:rPr sz="1000" b="1" i="0">
                          <a:solidFill>
                            <a:srgbClr val="FFFFFF"/>
                          </a:solidFill>
                          <a:latin typeface="Segoe UI"/>
                          <a:ea typeface="맑은 고딕"/>
                          <a:cs typeface="맑은 고딕"/>
                        </a:rPr>
                        <a:t>적재</a:t>
                      </a:r>
                    </a:p>
                  </a:txBody>
                  <a:tcPr marL="73152" marR="73152" marT="27432" marB="27432">
                    <a:solidFill>
                      <a:srgbClr val="0B5FC0"/>
                    </a:solidFill>
                  </a:tcPr>
                </a:tc>
                <a:tc>
                  <a:txBody>
                    <a:bodyPr wrap="square"/>
                    <a:lstStyle/>
                    <a:p>
                      <a:r>
                        <a:rPr sz="1000" b="1" i="0">
                          <a:solidFill>
                            <a:srgbClr val="FFFFFF"/>
                          </a:solidFill>
                          <a:latin typeface="Segoe UI"/>
                          <a:ea typeface="맑은 고딕"/>
                          <a:cs typeface="맑은 고딕"/>
                        </a:rPr>
                        <a:t>TTFT</a:t>
                      </a:r>
                    </a:p>
                  </a:txBody>
                  <a:tcPr marL="73152" marR="73152" marT="27432" marB="27432">
                    <a:solidFill>
                      <a:srgbClr val="0B5FC0"/>
                    </a:solidFill>
                  </a:tcPr>
                </a:tc>
                <a:tc>
                  <a:txBody>
                    <a:bodyPr wrap="square"/>
                    <a:lstStyle/>
                    <a:p>
                      <a:r>
                        <a:rPr sz="1000" b="1" i="0">
                          <a:solidFill>
                            <a:srgbClr val="FFFFFF"/>
                          </a:solidFill>
                          <a:latin typeface="Segoe UI"/>
                          <a:ea typeface="맑은 고딕"/>
                          <a:cs typeface="맑은 고딕"/>
                        </a:rPr>
                        <a:t>tok/s</a:t>
                      </a:r>
                    </a:p>
                  </a:txBody>
                  <a:tcPr marL="73152" marR="73152" marT="27432" marB="27432">
                    <a:solidFill>
                      <a:srgbClr val="0B5FC0"/>
                    </a:solidFill>
                  </a:tcPr>
                </a:tc>
                <a:tc>
                  <a:txBody>
                    <a:bodyPr wrap="square"/>
                    <a:lstStyle/>
                    <a:p>
                      <a:r>
                        <a:rPr sz="1000" b="1" i="0">
                          <a:solidFill>
                            <a:srgbClr val="FFFFFF"/>
                          </a:solidFill>
                          <a:latin typeface="Segoe UI"/>
                          <a:ea typeface="맑은 고딕"/>
                          <a:cs typeface="맑은 고딕"/>
                        </a:rPr>
                        <a:t>동시4</a:t>
                      </a:r>
                    </a:p>
                  </a:txBody>
                  <a:tcPr marL="73152" marR="73152" marT="27432" marB="27432">
                    <a:solidFill>
                      <a:srgbClr val="0B5FC0"/>
                    </a:solidFill>
                  </a:tcPr>
                </a:tc>
                <a:tc>
                  <a:txBody>
                    <a:bodyPr wrap="square"/>
                    <a:lstStyle/>
                    <a:p>
                      <a:r>
                        <a:rPr sz="1000" b="1" i="0">
                          <a:solidFill>
                            <a:srgbClr val="FFFFFF"/>
                          </a:solidFill>
                          <a:latin typeface="Segoe UI"/>
                          <a:ea typeface="맑은 고딕"/>
                          <a:cs typeface="맑은 고딕"/>
                        </a:rPr>
                        <a:t>첫응답</a:t>
                      </a:r>
                    </a:p>
                  </a:txBody>
                  <a:tcPr marL="73152" marR="73152" marT="27432" marB="27432">
                    <a:solidFill>
                      <a:srgbClr val="0B5FC0"/>
                    </a:solidFill>
                  </a:tcPr>
                </a:tc>
                <a:tc>
                  <a:txBody>
                    <a:bodyPr wrap="square"/>
                    <a:lstStyle/>
                    <a:p>
                      <a:r>
                        <a:rPr sz="1000" b="1" i="0">
                          <a:solidFill>
                            <a:srgbClr val="FFFFFF"/>
                          </a:solidFill>
                          <a:latin typeface="Segoe UI"/>
                          <a:ea typeface="맑은 고딕"/>
                          <a:cs typeface="맑은 고딕"/>
                        </a:rPr>
                        <a:t>답변</a:t>
                      </a:r>
                    </a:p>
                  </a:txBody>
                  <a:tcPr marL="73152" marR="73152" marT="27432" marB="27432">
                    <a:solidFill>
                      <a:srgbClr val="0B5FC0"/>
                    </a:solidFill>
                  </a:tcPr>
                </a:tc>
              </a:tr>
              <a:tr h="290322">
                <a:tc>
                  <a:txBody>
                    <a:bodyPr wrap="square"/>
                    <a:lstStyle/>
                    <a:p>
                      <a:r>
                        <a:rPr sz="1000" b="0" i="0">
                          <a:solidFill>
                            <a:srgbClr val="16202C"/>
                          </a:solidFill>
                          <a:latin typeface="Segoe UI"/>
                          <a:ea typeface="맑은 고딕"/>
                          <a:cs typeface="맑은 고딕"/>
                        </a:rPr>
                        <a:t>gpt-oss 120B</a:t>
                      </a:r>
                    </a:p>
                  </a:txBody>
                  <a:tcPr marL="73152" marR="73152" marT="27432" marB="27432">
                    <a:solidFill>
                      <a:srgbClr val="FFFFFF"/>
                    </a:solidFill>
                  </a:tcPr>
                </a:tc>
                <a:tc>
                  <a:txBody>
                    <a:bodyPr wrap="square"/>
                    <a:lstStyle/>
                    <a:p>
                      <a:r>
                        <a:rPr sz="1000" b="0" i="0">
                          <a:solidFill>
                            <a:srgbClr val="16202C"/>
                          </a:solidFill>
                          <a:latin typeface="Segoe UI"/>
                          <a:ea typeface="맑은 고딕"/>
                          <a:cs typeface="맑은 고딕"/>
                        </a:rPr>
                        <a:t>4</a:t>
                      </a:r>
                    </a:p>
                  </a:txBody>
                  <a:tcPr marL="73152" marR="73152" marT="27432" marB="27432">
                    <a:solidFill>
                      <a:srgbClr val="FFFFFF"/>
                    </a:solidFill>
                  </a:tcPr>
                </a:tc>
                <a:tc>
                  <a:txBody>
                    <a:bodyPr wrap="square"/>
                    <a:lstStyle/>
                    <a:p>
                      <a:r>
                        <a:rPr sz="1000" b="0" i="0">
                          <a:solidFill>
                            <a:srgbClr val="16202C"/>
                          </a:solidFill>
                          <a:latin typeface="Segoe UI"/>
                          <a:ea typeface="맑은 고딕"/>
                          <a:cs typeface="맑은 고딕"/>
                        </a:rPr>
                        <a:t>1491s</a:t>
                      </a:r>
                    </a:p>
                  </a:txBody>
                  <a:tcPr marL="73152" marR="73152" marT="27432" marB="27432">
                    <a:solidFill>
                      <a:srgbClr val="FFFFFF"/>
                    </a:solidFill>
                  </a:tcPr>
                </a:tc>
                <a:tc>
                  <a:txBody>
                    <a:bodyPr wrap="square"/>
                    <a:lstStyle/>
                    <a:p>
                      <a:r>
                        <a:rPr sz="1000" b="0" i="0">
                          <a:solidFill>
                            <a:srgbClr val="16202C"/>
                          </a:solidFill>
                          <a:latin typeface="Segoe UI"/>
                          <a:ea typeface="맑은 고딕"/>
                          <a:cs typeface="맑은 고딕"/>
                        </a:rPr>
                        <a:t>4.88</a:t>
                      </a:r>
                    </a:p>
                  </a:txBody>
                  <a:tcPr marL="73152" marR="73152" marT="27432" marB="27432">
                    <a:solidFill>
                      <a:srgbClr val="FFFFFF"/>
                    </a:solidFill>
                  </a:tcPr>
                </a:tc>
                <a:tc>
                  <a:txBody>
                    <a:bodyPr wrap="square"/>
                    <a:lstStyle/>
                    <a:p>
                      <a:r>
                        <a:rPr sz="1000" b="0" i="0">
                          <a:solidFill>
                            <a:srgbClr val="16202C"/>
                          </a:solidFill>
                          <a:latin typeface="Segoe UI"/>
                          <a:ea typeface="맑은 고딕"/>
                          <a:cs typeface="맑은 고딕"/>
                        </a:rPr>
                        <a:t>2</a:t>
                      </a:r>
                    </a:p>
                  </a:txBody>
                  <a:tcPr marL="73152" marR="73152" marT="27432" marB="27432">
                    <a:solidFill>
                      <a:srgbClr val="FFFFFF"/>
                    </a:solidFill>
                  </a:tcPr>
                </a:tc>
                <a:tc>
                  <a:txBody>
                    <a:bodyPr wrap="square"/>
                    <a:lstStyle/>
                    <a:p>
                      <a:r>
                        <a:rPr sz="1000" b="0" i="0">
                          <a:solidFill>
                            <a:srgbClr val="16202C"/>
                          </a:solidFill>
                          <a:latin typeface="Segoe UI"/>
                          <a:ea typeface="맑은 고딕"/>
                          <a:cs typeface="맑은 고딕"/>
                        </a:rPr>
                        <a:t>40</a:t>
                      </a:r>
                    </a:p>
                  </a:txBody>
                  <a:tcPr marL="73152" marR="73152" marT="27432" marB="27432">
                    <a:solidFill>
                      <a:srgbClr val="FFFFFF"/>
                    </a:solidFill>
                  </a:tcPr>
                </a:tc>
                <a:tc>
                  <a:txBody>
                    <a:bodyPr wrap="square"/>
                    <a:lstStyle/>
                    <a:p>
                      <a:r>
                        <a:rPr sz="1000" b="0" i="0">
                          <a:solidFill>
                            <a:srgbClr val="16202C"/>
                          </a:solidFill>
                          <a:latin typeface="Segoe UI"/>
                          <a:ea typeface="맑은 고딕"/>
                          <a:cs typeface="맑은 고딕"/>
                        </a:rPr>
                        <a:t>207.5s</a:t>
                      </a:r>
                    </a:p>
                  </a:txBody>
                  <a:tcPr marL="73152" marR="73152" marT="27432" marB="27432">
                    <a:solidFill>
                      <a:srgbClr val="FFFFFF"/>
                    </a:solidFill>
                  </a:tcPr>
                </a:tc>
                <a:tc>
                  <a:txBody>
                    <a:bodyPr wrap="square"/>
                    <a:lstStyle/>
                    <a:p>
                      <a:r>
                        <a:rPr sz="1000" b="0" i="0">
                          <a:solidFill>
                            <a:srgbClr val="16202C"/>
                          </a:solidFill>
                          <a:latin typeface="Segoe UI"/>
                          <a:ea typeface="맑은 고딕"/>
                          <a:cs typeface="맑은 고딕"/>
                        </a:rPr>
                        <a:t>정상</a:t>
                      </a:r>
                    </a:p>
                  </a:txBody>
                  <a:tcPr marL="73152" marR="73152" marT="27432" marB="27432">
                    <a:solidFill>
                      <a:srgbClr val="FFFFFF"/>
                    </a:solidFill>
                  </a:tcPr>
                </a:tc>
              </a:tr>
              <a:tr h="290322">
                <a:tc>
                  <a:txBody>
                    <a:bodyPr wrap="square"/>
                    <a:lstStyle/>
                    <a:p>
                      <a:r>
                        <a:rPr sz="1000" b="0" i="0">
                          <a:solidFill>
                            <a:srgbClr val="16202C"/>
                          </a:solidFill>
                          <a:latin typeface="Segoe UI"/>
                          <a:ea typeface="맑은 고딕"/>
                          <a:cs typeface="맑은 고딕"/>
                        </a:rPr>
                        <a:t>Solar-Open 100B *</a:t>
                      </a:r>
                    </a:p>
                  </a:txBody>
                  <a:tcPr marL="73152" marR="73152" marT="27432" marB="27432">
                    <a:solidFill>
                      <a:srgbClr val="F6F9FC"/>
                    </a:solidFill>
                  </a:tcPr>
                </a:tc>
                <a:tc>
                  <a:txBody>
                    <a:bodyPr wrap="square"/>
                    <a:lstStyle/>
                    <a:p>
                      <a:r>
                        <a:rPr sz="1000" b="0" i="0">
                          <a:solidFill>
                            <a:srgbClr val="16202C"/>
                          </a:solidFill>
                          <a:latin typeface="Segoe UI"/>
                          <a:ea typeface="맑은 고딕"/>
                          <a:cs typeface="맑은 고딕"/>
                        </a:rPr>
                        <a:t>4</a:t>
                      </a:r>
                    </a:p>
                  </a:txBody>
                  <a:tcPr marL="73152" marR="73152" marT="27432" marB="27432">
                    <a:solidFill>
                      <a:srgbClr val="F6F9FC"/>
                    </a:solidFill>
                  </a:tcPr>
                </a:tc>
                <a:tc>
                  <a:txBody>
                    <a:bodyPr wrap="square"/>
                    <a:lstStyle/>
                    <a:p>
                      <a:r>
                        <a:rPr sz="1000" b="0" i="0">
                          <a:solidFill>
                            <a:srgbClr val="16202C"/>
                          </a:solidFill>
                          <a:latin typeface="Segoe UI"/>
                          <a:ea typeface="맑은 고딕"/>
                          <a:cs typeface="맑은 고딕"/>
                        </a:rPr>
                        <a:t>278s</a:t>
                      </a:r>
                    </a:p>
                  </a:txBody>
                  <a:tcPr marL="73152" marR="73152" marT="27432" marB="27432">
                    <a:solidFill>
                      <a:srgbClr val="F6F9FC"/>
                    </a:solidFill>
                  </a:tcPr>
                </a:tc>
                <a:tc>
                  <a:txBody>
                    <a:bodyPr wrap="square"/>
                    <a:lstStyle/>
                    <a:p>
                      <a:r>
                        <a:rPr sz="1000" b="0" i="0">
                          <a:solidFill>
                            <a:srgbClr val="16202C"/>
                          </a:solidFill>
                          <a:latin typeface="Segoe UI"/>
                          <a:ea typeface="맑은 고딕"/>
                          <a:cs typeface="맑은 고딕"/>
                        </a:rPr>
                        <a:t>0.31</a:t>
                      </a:r>
                    </a:p>
                  </a:txBody>
                  <a:tcPr marL="73152" marR="73152" marT="27432" marB="27432">
                    <a:solidFill>
                      <a:srgbClr val="F6F9FC"/>
                    </a:solidFill>
                  </a:tcPr>
                </a:tc>
                <a:tc>
                  <a:txBody>
                    <a:bodyPr wrap="square"/>
                    <a:lstStyle/>
                    <a:p>
                      <a:r>
                        <a:rPr sz="1000" b="0" i="0">
                          <a:solidFill>
                            <a:srgbClr val="16202C"/>
                          </a:solidFill>
                          <a:latin typeface="Segoe UI"/>
                          <a:ea typeface="맑은 고딕"/>
                          <a:cs typeface="맑은 고딕"/>
                        </a:rPr>
                        <a:t>59</a:t>
                      </a:r>
                    </a:p>
                  </a:txBody>
                  <a:tcPr marL="73152" marR="73152" marT="27432" marB="27432">
                    <a:solidFill>
                      <a:srgbClr val="F6F9FC"/>
                    </a:solidFill>
                  </a:tcPr>
                </a:tc>
                <a:tc>
                  <a:txBody>
                    <a:bodyPr wrap="square"/>
                    <a:lstStyle/>
                    <a:p>
                      <a:r>
                        <a:rPr sz="1000" b="0" i="0">
                          <a:solidFill>
                            <a:srgbClr val="16202C"/>
                          </a:solidFill>
                          <a:latin typeface="Segoe UI"/>
                          <a:ea typeface="맑은 고딕"/>
                          <a:cs typeface="맑은 고딕"/>
                        </a:rPr>
                        <a:t>113</a:t>
                      </a:r>
                    </a:p>
                  </a:txBody>
                  <a:tcPr marL="73152" marR="73152" marT="27432" marB="27432">
                    <a:solidFill>
                      <a:srgbClr val="F6F9FC"/>
                    </a:solidFill>
                  </a:tcPr>
                </a:tc>
                <a:tc>
                  <a:txBody>
                    <a:bodyPr wrap="square"/>
                    <a:lstStyle/>
                    <a:p>
                      <a:r>
                        <a:rPr sz="1000" b="0" i="0">
                          <a:solidFill>
                            <a:srgbClr val="16202C"/>
                          </a:solidFill>
                          <a:latin typeface="Segoe UI"/>
                          <a:ea typeface="맑은 고딕"/>
                          <a:cs typeface="맑은 고딕"/>
                        </a:rPr>
                        <a:t>3.6s</a:t>
                      </a:r>
                    </a:p>
                  </a:txBody>
                  <a:tcPr marL="73152" marR="73152" marT="27432" marB="27432">
                    <a:solidFill>
                      <a:srgbClr val="F6F9FC"/>
                    </a:solidFill>
                  </a:tcPr>
                </a:tc>
                <a:tc>
                  <a:txBody>
                    <a:bodyPr wrap="square"/>
                    <a:lstStyle/>
                    <a:p>
                      <a:r>
                        <a:rPr sz="1000" b="0" i="0">
                          <a:solidFill>
                            <a:srgbClr val="16202C"/>
                          </a:solidFill>
                          <a:latin typeface="Segoe UI"/>
                          <a:ea typeface="맑은 고딕"/>
                          <a:cs typeface="맑은 고딕"/>
                        </a:rPr>
                        <a:t>정상</a:t>
                      </a:r>
                    </a:p>
                  </a:txBody>
                  <a:tcPr marL="73152" marR="73152" marT="27432" marB="27432">
                    <a:solidFill>
                      <a:srgbClr val="F6F9FC"/>
                    </a:solidFill>
                  </a:tcPr>
                </a:tc>
              </a:tr>
              <a:tr h="290322">
                <a:tc>
                  <a:txBody>
                    <a:bodyPr wrap="square"/>
                    <a:lstStyle/>
                    <a:p>
                      <a:r>
                        <a:rPr sz="1000" b="0" i="0">
                          <a:solidFill>
                            <a:srgbClr val="16202C"/>
                          </a:solidFill>
                          <a:latin typeface="Segoe UI"/>
                          <a:ea typeface="맑은 고딕"/>
                          <a:cs typeface="맑은 고딕"/>
                        </a:rPr>
                        <a:t>K-EXAONE 236B *</a:t>
                      </a:r>
                    </a:p>
                  </a:txBody>
                  <a:tcPr marL="73152" marR="73152" marT="27432" marB="27432">
                    <a:solidFill>
                      <a:srgbClr val="FFFFFF"/>
                    </a:solidFill>
                  </a:tcPr>
                </a:tc>
                <a:tc>
                  <a:txBody>
                    <a:bodyPr wrap="square"/>
                    <a:lstStyle/>
                    <a:p>
                      <a:r>
                        <a:rPr sz="1000" b="0" i="0">
                          <a:solidFill>
                            <a:srgbClr val="16202C"/>
                          </a:solidFill>
                          <a:latin typeface="Segoe UI"/>
                          <a:ea typeface="맑은 고딕"/>
                          <a:cs typeface="맑은 고딕"/>
                        </a:rPr>
                        <a:t>4</a:t>
                      </a:r>
                    </a:p>
                  </a:txBody>
                  <a:tcPr marL="73152" marR="73152" marT="27432" marB="27432">
                    <a:solidFill>
                      <a:srgbClr val="FFFFFF"/>
                    </a:solidFill>
                  </a:tcPr>
                </a:tc>
                <a:tc>
                  <a:txBody>
                    <a:bodyPr wrap="square"/>
                    <a:lstStyle/>
                    <a:p>
                      <a:r>
                        <a:rPr sz="1000" b="0" i="0">
                          <a:solidFill>
                            <a:srgbClr val="16202C"/>
                          </a:solidFill>
                          <a:latin typeface="Segoe UI"/>
                          <a:ea typeface="맑은 고딕"/>
                          <a:cs typeface="맑은 고딕"/>
                        </a:rPr>
                        <a:t>2306s</a:t>
                      </a:r>
                    </a:p>
                  </a:txBody>
                  <a:tcPr marL="73152" marR="73152" marT="27432" marB="27432">
                    <a:solidFill>
                      <a:srgbClr val="FFFFFF"/>
                    </a:solidFill>
                  </a:tcPr>
                </a:tc>
                <a:tc>
                  <a:txBody>
                    <a:bodyPr wrap="square"/>
                    <a:lstStyle/>
                    <a:p>
                      <a:r>
                        <a:rPr sz="1000" b="0" i="0">
                          <a:solidFill>
                            <a:srgbClr val="16202C"/>
                          </a:solidFill>
                          <a:latin typeface="Segoe UI"/>
                          <a:ea typeface="맑은 고딕"/>
                          <a:cs typeface="맑은 고딕"/>
                        </a:rPr>
                        <a:t>0.45</a:t>
                      </a:r>
                    </a:p>
                  </a:txBody>
                  <a:tcPr marL="73152" marR="73152" marT="27432" marB="27432">
                    <a:solidFill>
                      <a:srgbClr val="FFFFFF"/>
                    </a:solidFill>
                  </a:tcPr>
                </a:tc>
                <a:tc>
                  <a:txBody>
                    <a:bodyPr wrap="square"/>
                    <a:lstStyle/>
                    <a:p>
                      <a:r>
                        <a:rPr sz="1000" b="0" i="0">
                          <a:solidFill>
                            <a:srgbClr val="16202C"/>
                          </a:solidFill>
                          <a:latin typeface="Segoe UI"/>
                          <a:ea typeface="맑은 고딕"/>
                          <a:cs typeface="맑은 고딕"/>
                        </a:rPr>
                        <a:t>43</a:t>
                      </a:r>
                    </a:p>
                  </a:txBody>
                  <a:tcPr marL="73152" marR="73152" marT="27432" marB="27432">
                    <a:solidFill>
                      <a:srgbClr val="FFFFFF"/>
                    </a:solidFill>
                  </a:tcPr>
                </a:tc>
                <a:tc>
                  <a:txBody>
                    <a:bodyPr wrap="square"/>
                    <a:lstStyle/>
                    <a:p>
                      <a:r>
                        <a:rPr sz="1000" b="0" i="0">
                          <a:solidFill>
                            <a:srgbClr val="16202C"/>
                          </a:solidFill>
                          <a:latin typeface="Segoe UI"/>
                          <a:ea typeface="맑은 고딕"/>
                          <a:cs typeface="맑은 고딕"/>
                        </a:rPr>
                        <a:t>112</a:t>
                      </a:r>
                    </a:p>
                  </a:txBody>
                  <a:tcPr marL="73152" marR="73152" marT="27432" marB="27432">
                    <a:solidFill>
                      <a:srgbClr val="FFFFFF"/>
                    </a:solidFill>
                  </a:tcPr>
                </a:tc>
                <a:tc>
                  <a:txBody>
                    <a:bodyPr wrap="square"/>
                    <a:lstStyle/>
                    <a:p>
                      <a:r>
                        <a:rPr sz="1000" b="0" i="0">
                          <a:solidFill>
                            <a:srgbClr val="16202C"/>
                          </a:solidFill>
                          <a:latin typeface="Segoe UI"/>
                          <a:ea typeface="맑은 고딕"/>
                          <a:cs typeface="맑은 고딕"/>
                        </a:rPr>
                        <a:t>23.4s</a:t>
                      </a:r>
                    </a:p>
                  </a:txBody>
                  <a:tcPr marL="73152" marR="73152" marT="27432" marB="27432">
                    <a:solidFill>
                      <a:srgbClr val="FFFFFF"/>
                    </a:solidFill>
                  </a:tcPr>
                </a:tc>
                <a:tc>
                  <a:txBody>
                    <a:bodyPr wrap="square"/>
                    <a:lstStyle/>
                    <a:p>
                      <a:r>
                        <a:rPr sz="1000" b="0" i="0">
                          <a:solidFill>
                            <a:srgbClr val="16202C"/>
                          </a:solidFill>
                          <a:latin typeface="Segoe UI"/>
                          <a:ea typeface="맑은 고딕"/>
                          <a:cs typeface="맑은 고딕"/>
                        </a:rPr>
                        <a:t>정상</a:t>
                      </a:r>
                    </a:p>
                  </a:txBody>
                  <a:tcPr marL="73152" marR="73152" marT="27432" marB="27432">
                    <a:solidFill>
                      <a:srgbClr val="FFFFFF"/>
                    </a:solidFill>
                  </a:tcPr>
                </a:tc>
              </a:tr>
              <a:tr h="290322">
                <a:tc>
                  <a:txBody>
                    <a:bodyPr wrap="square"/>
                    <a:lstStyle/>
                    <a:p>
                      <a:r>
                        <a:rPr sz="1000" b="0" i="0">
                          <a:solidFill>
                            <a:srgbClr val="16202C"/>
                          </a:solidFill>
                          <a:latin typeface="Segoe UI"/>
                          <a:ea typeface="맑은 고딕"/>
                          <a:cs typeface="맑은 고딕"/>
                        </a:rPr>
                        <a:t>Llama 3.3 70B</a:t>
                      </a:r>
                    </a:p>
                  </a:txBody>
                  <a:tcPr marL="73152" marR="73152" marT="27432" marB="27432">
                    <a:solidFill>
                      <a:srgbClr val="F6F9FC"/>
                    </a:solidFill>
                  </a:tcPr>
                </a:tc>
                <a:tc>
                  <a:txBody>
                    <a:bodyPr wrap="square"/>
                    <a:lstStyle/>
                    <a:p>
                      <a:r>
                        <a:rPr sz="1000" b="0" i="0">
                          <a:solidFill>
                            <a:srgbClr val="16202C"/>
                          </a:solidFill>
                          <a:latin typeface="Segoe UI"/>
                          <a:ea typeface="맑은 고딕"/>
                          <a:cs typeface="맑은 고딕"/>
                        </a:rPr>
                        <a:t>4</a:t>
                      </a:r>
                    </a:p>
                  </a:txBody>
                  <a:tcPr marL="73152" marR="73152" marT="27432" marB="27432">
                    <a:solidFill>
                      <a:srgbClr val="F6F9FC"/>
                    </a:solidFill>
                  </a:tcPr>
                </a:tc>
                <a:tc>
                  <a:txBody>
                    <a:bodyPr wrap="square"/>
                    <a:lstStyle/>
                    <a:p>
                      <a:r>
                        <a:rPr sz="1000" b="0" i="0">
                          <a:solidFill>
                            <a:srgbClr val="16202C"/>
                          </a:solidFill>
                          <a:latin typeface="Segoe UI"/>
                          <a:ea typeface="맑은 고딕"/>
                          <a:cs typeface="맑은 고딕"/>
                        </a:rPr>
                        <a:t>174s</a:t>
                      </a:r>
                    </a:p>
                  </a:txBody>
                  <a:tcPr marL="73152" marR="73152" marT="27432" marB="27432">
                    <a:solidFill>
                      <a:srgbClr val="F6F9FC"/>
                    </a:solidFill>
                  </a:tcPr>
                </a:tc>
                <a:tc>
                  <a:txBody>
                    <a:bodyPr wrap="square"/>
                    <a:lstStyle/>
                    <a:p>
                      <a:r>
                        <a:rPr sz="1000" b="0" i="0">
                          <a:solidFill>
                            <a:srgbClr val="16202C"/>
                          </a:solidFill>
                          <a:latin typeface="Segoe UI"/>
                          <a:ea typeface="맑은 고딕"/>
                          <a:cs typeface="맑은 고딕"/>
                        </a:rPr>
                        <a:t>0.20</a:t>
                      </a:r>
                    </a:p>
                  </a:txBody>
                  <a:tcPr marL="73152" marR="73152" marT="27432" marB="27432">
                    <a:solidFill>
                      <a:srgbClr val="F6F9FC"/>
                    </a:solidFill>
                  </a:tcPr>
                </a:tc>
                <a:tc>
                  <a:txBody>
                    <a:bodyPr wrap="square"/>
                    <a:lstStyle/>
                    <a:p>
                      <a:r>
                        <a:rPr sz="1000" b="0" i="0">
                          <a:solidFill>
                            <a:srgbClr val="16202C"/>
                          </a:solidFill>
                          <a:latin typeface="Segoe UI"/>
                          <a:ea typeface="맑은 고딕"/>
                          <a:cs typeface="맑은 고딕"/>
                        </a:rPr>
                        <a:t>26</a:t>
                      </a:r>
                    </a:p>
                  </a:txBody>
                  <a:tcPr marL="73152" marR="73152" marT="27432" marB="27432">
                    <a:solidFill>
                      <a:srgbClr val="F6F9FC"/>
                    </a:solidFill>
                  </a:tcPr>
                </a:tc>
                <a:tc>
                  <a:txBody>
                    <a:bodyPr wrap="square"/>
                    <a:lstStyle/>
                    <a:p>
                      <a:r>
                        <a:rPr sz="1000" b="0" i="0">
                          <a:solidFill>
                            <a:srgbClr val="16202C"/>
                          </a:solidFill>
                          <a:latin typeface="Segoe UI"/>
                          <a:ea typeface="맑은 고딕"/>
                          <a:cs typeface="맑은 고딕"/>
                        </a:rPr>
                        <a:t>66</a:t>
                      </a:r>
                    </a:p>
                  </a:txBody>
                  <a:tcPr marL="73152" marR="73152" marT="27432" marB="27432">
                    <a:solidFill>
                      <a:srgbClr val="F6F9FC"/>
                    </a:solidFill>
                  </a:tcPr>
                </a:tc>
                <a:tc>
                  <a:txBody>
                    <a:bodyPr wrap="square"/>
                    <a:lstStyle/>
                    <a:p>
                      <a:r>
                        <a:rPr sz="1000" b="0" i="0">
                          <a:solidFill>
                            <a:srgbClr val="16202C"/>
                          </a:solidFill>
                          <a:latin typeface="Segoe UI"/>
                          <a:ea typeface="맑은 고딕"/>
                          <a:cs typeface="맑은 고딕"/>
                        </a:rPr>
                        <a:t>2.7s</a:t>
                      </a:r>
                    </a:p>
                  </a:txBody>
                  <a:tcPr marL="73152" marR="73152" marT="27432" marB="27432">
                    <a:solidFill>
                      <a:srgbClr val="F6F9FC"/>
                    </a:solidFill>
                  </a:tcPr>
                </a:tc>
                <a:tc>
                  <a:txBody>
                    <a:bodyPr wrap="square"/>
                    <a:lstStyle/>
                    <a:p>
                      <a:r>
                        <a:rPr sz="1000" b="0" i="0">
                          <a:solidFill>
                            <a:srgbClr val="16202C"/>
                          </a:solidFill>
                          <a:latin typeface="Segoe UI"/>
                          <a:ea typeface="맑은 고딕"/>
                          <a:cs typeface="맑은 고딕"/>
                        </a:rPr>
                        <a:t>정상</a:t>
                      </a:r>
                    </a:p>
                  </a:txBody>
                  <a:tcPr marL="73152" marR="73152" marT="27432" marB="27432">
                    <a:solidFill>
                      <a:srgbClr val="F6F9FC"/>
                    </a:solidFill>
                  </a:tcPr>
                </a:tc>
              </a:tr>
              <a:tr h="290322">
                <a:tc>
                  <a:txBody>
                    <a:bodyPr wrap="square"/>
                    <a:lstStyle/>
                    <a:p>
                      <a:r>
                        <a:rPr sz="1000" b="0" i="0">
                          <a:solidFill>
                            <a:srgbClr val="16202C"/>
                          </a:solidFill>
                          <a:latin typeface="Segoe UI"/>
                          <a:ea typeface="맑은 고딕"/>
                          <a:cs typeface="맑은 고딕"/>
                        </a:rPr>
                        <a:t>Qwen3 32B *</a:t>
                      </a:r>
                    </a:p>
                  </a:txBody>
                  <a:tcPr marL="73152" marR="73152" marT="27432" marB="27432">
                    <a:solidFill>
                      <a:srgbClr val="FFFFFF"/>
                    </a:solidFill>
                  </a:tcPr>
                </a:tc>
                <a:tc>
                  <a:txBody>
                    <a:bodyPr wrap="square"/>
                    <a:lstStyle/>
                    <a:p>
                      <a:r>
                        <a:rPr sz="1000" b="0" i="0">
                          <a:solidFill>
                            <a:srgbClr val="16202C"/>
                          </a:solidFill>
                          <a:latin typeface="Segoe UI"/>
                          <a:ea typeface="맑은 고딕"/>
                          <a:cs typeface="맑은 고딕"/>
                        </a:rPr>
                        <a:t>4</a:t>
                      </a:r>
                    </a:p>
                  </a:txBody>
                  <a:tcPr marL="73152" marR="73152" marT="27432" marB="27432">
                    <a:solidFill>
                      <a:srgbClr val="FFFFFF"/>
                    </a:solidFill>
                  </a:tcPr>
                </a:tc>
                <a:tc>
                  <a:txBody>
                    <a:bodyPr wrap="square"/>
                    <a:lstStyle/>
                    <a:p>
                      <a:r>
                        <a:rPr sz="1000" b="0" i="0">
                          <a:solidFill>
                            <a:srgbClr val="16202C"/>
                          </a:solidFill>
                          <a:latin typeface="Segoe UI"/>
                          <a:ea typeface="맑은 고딕"/>
                          <a:cs typeface="맑은 고딕"/>
                        </a:rPr>
                        <a:t>211s</a:t>
                      </a:r>
                    </a:p>
                  </a:txBody>
                  <a:tcPr marL="73152" marR="73152" marT="27432" marB="27432">
                    <a:solidFill>
                      <a:srgbClr val="FFFFFF"/>
                    </a:solidFill>
                  </a:tcPr>
                </a:tc>
                <a:tc>
                  <a:txBody>
                    <a:bodyPr wrap="square"/>
                    <a:lstStyle/>
                    <a:p>
                      <a:r>
                        <a:rPr sz="1000" b="0" i="0">
                          <a:solidFill>
                            <a:srgbClr val="16202C"/>
                          </a:solidFill>
                          <a:latin typeface="Segoe UI"/>
                          <a:ea typeface="맑은 고딕"/>
                          <a:cs typeface="맑은 고딕"/>
                        </a:rPr>
                        <a:t>0.42</a:t>
                      </a:r>
                    </a:p>
                  </a:txBody>
                  <a:tcPr marL="73152" marR="73152" marT="27432" marB="27432">
                    <a:solidFill>
                      <a:srgbClr val="FFFFFF"/>
                    </a:solidFill>
                  </a:tcPr>
                </a:tc>
                <a:tc>
                  <a:txBody>
                    <a:bodyPr wrap="square"/>
                    <a:lstStyle/>
                    <a:p>
                      <a:r>
                        <a:rPr sz="1000" b="0" i="0">
                          <a:solidFill>
                            <a:srgbClr val="16202C"/>
                          </a:solidFill>
                          <a:latin typeface="Segoe UI"/>
                          <a:ea typeface="맑은 고딕"/>
                          <a:cs typeface="맑은 고딕"/>
                        </a:rPr>
                        <a:t>55</a:t>
                      </a:r>
                    </a:p>
                  </a:txBody>
                  <a:tcPr marL="73152" marR="73152" marT="27432" marB="27432">
                    <a:solidFill>
                      <a:srgbClr val="FFFFFF"/>
                    </a:solidFill>
                  </a:tcPr>
                </a:tc>
                <a:tc>
                  <a:txBody>
                    <a:bodyPr wrap="square"/>
                    <a:lstStyle/>
                    <a:p>
                      <a:r>
                        <a:rPr sz="1000" b="0" i="0">
                          <a:solidFill>
                            <a:srgbClr val="16202C"/>
                          </a:solidFill>
                          <a:latin typeface="Segoe UI"/>
                          <a:ea typeface="맑은 고딕"/>
                          <a:cs typeface="맑은 고딕"/>
                        </a:rPr>
                        <a:t>189</a:t>
                      </a:r>
                    </a:p>
                  </a:txBody>
                  <a:tcPr marL="73152" marR="73152" marT="27432" marB="27432">
                    <a:solidFill>
                      <a:srgbClr val="FFFFFF"/>
                    </a:solidFill>
                  </a:tcPr>
                </a:tc>
                <a:tc>
                  <a:txBody>
                    <a:bodyPr wrap="square"/>
                    <a:lstStyle/>
                    <a:p>
                      <a:r>
                        <a:rPr sz="1000" b="0" i="0">
                          <a:solidFill>
                            <a:srgbClr val="16202C"/>
                          </a:solidFill>
                          <a:latin typeface="Segoe UI"/>
                          <a:ea typeface="맑은 고딕"/>
                          <a:cs typeface="맑은 고딕"/>
                        </a:rPr>
                        <a:t>9.0s</a:t>
                      </a:r>
                    </a:p>
                  </a:txBody>
                  <a:tcPr marL="73152" marR="73152" marT="27432" marB="27432">
                    <a:solidFill>
                      <a:srgbClr val="FFFFFF"/>
                    </a:solidFill>
                  </a:tcPr>
                </a:tc>
                <a:tc>
                  <a:txBody>
                    <a:bodyPr wrap="square"/>
                    <a:lstStyle/>
                    <a:p>
                      <a:r>
                        <a:rPr sz="1000" b="0" i="0">
                          <a:solidFill>
                            <a:srgbClr val="16202C"/>
                          </a:solidFill>
                          <a:latin typeface="Segoe UI"/>
                          <a:ea typeface="맑은 고딕"/>
                          <a:cs typeface="맑은 고딕"/>
                        </a:rPr>
                        <a:t>정상</a:t>
                      </a:r>
                    </a:p>
                  </a:txBody>
                  <a:tcPr marL="73152" marR="73152" marT="27432" marB="27432">
                    <a:solidFill>
                      <a:srgbClr val="FFFFFF"/>
                    </a:solidFill>
                  </a:tcPr>
                </a:tc>
              </a:tr>
              <a:tr h="290322">
                <a:tc>
                  <a:txBody>
                    <a:bodyPr wrap="square"/>
                    <a:lstStyle/>
                    <a:p>
                      <a:r>
                        <a:rPr sz="1000" b="0" i="0">
                          <a:solidFill>
                            <a:srgbClr val="16202C"/>
                          </a:solidFill>
                          <a:latin typeface="Segoe UI"/>
                          <a:ea typeface="맑은 고딕"/>
                          <a:cs typeface="맑은 고딕"/>
                        </a:rPr>
                        <a:t>EXAONE 4.0 32B *</a:t>
                      </a:r>
                    </a:p>
                  </a:txBody>
                  <a:tcPr marL="73152" marR="73152" marT="27432" marB="27432">
                    <a:solidFill>
                      <a:srgbClr val="F6F9FC"/>
                    </a:solidFill>
                  </a:tcPr>
                </a:tc>
                <a:tc>
                  <a:txBody>
                    <a:bodyPr wrap="square"/>
                    <a:lstStyle/>
                    <a:p>
                      <a:r>
                        <a:rPr sz="1000" b="0" i="0">
                          <a:solidFill>
                            <a:srgbClr val="16202C"/>
                          </a:solidFill>
                          <a:latin typeface="Segoe UI"/>
                          <a:ea typeface="맑은 고딕"/>
                          <a:cs typeface="맑은 고딕"/>
                        </a:rPr>
                        <a:t>4</a:t>
                      </a:r>
                    </a:p>
                  </a:txBody>
                  <a:tcPr marL="73152" marR="73152" marT="27432" marB="27432">
                    <a:solidFill>
                      <a:srgbClr val="F6F9FC"/>
                    </a:solidFill>
                  </a:tcPr>
                </a:tc>
                <a:tc>
                  <a:txBody>
                    <a:bodyPr wrap="square"/>
                    <a:lstStyle/>
                    <a:p>
                      <a:r>
                        <a:rPr sz="1000" b="0" i="0">
                          <a:solidFill>
                            <a:srgbClr val="16202C"/>
                          </a:solidFill>
                          <a:latin typeface="Segoe UI"/>
                          <a:ea typeface="맑은 고딕"/>
                          <a:cs typeface="맑은 고딕"/>
                        </a:rPr>
                        <a:t>66s</a:t>
                      </a:r>
                    </a:p>
                  </a:txBody>
                  <a:tcPr marL="73152" marR="73152" marT="27432" marB="27432">
                    <a:solidFill>
                      <a:srgbClr val="F6F9FC"/>
                    </a:solidFill>
                  </a:tcPr>
                </a:tc>
                <a:tc>
                  <a:txBody>
                    <a:bodyPr wrap="square"/>
                    <a:lstStyle/>
                    <a:p>
                      <a:r>
                        <a:rPr sz="1000" b="0" i="0">
                          <a:solidFill>
                            <a:srgbClr val="16202C"/>
                          </a:solidFill>
                          <a:latin typeface="Segoe UI"/>
                          <a:ea typeface="맑은 고딕"/>
                          <a:cs typeface="맑은 고딕"/>
                        </a:rPr>
                        <a:t>0.23</a:t>
                      </a:r>
                    </a:p>
                  </a:txBody>
                  <a:tcPr marL="73152" marR="73152" marT="27432" marB="27432">
                    <a:solidFill>
                      <a:srgbClr val="F6F9FC"/>
                    </a:solidFill>
                  </a:tcPr>
                </a:tc>
                <a:tc>
                  <a:txBody>
                    <a:bodyPr wrap="square"/>
                    <a:lstStyle/>
                    <a:p>
                      <a:r>
                        <a:rPr sz="1000" b="0" i="0">
                          <a:solidFill>
                            <a:srgbClr val="16202C"/>
                          </a:solidFill>
                          <a:latin typeface="Segoe UI"/>
                          <a:ea typeface="맑은 고딕"/>
                          <a:cs typeface="맑은 고딕"/>
                        </a:rPr>
                        <a:t>33</a:t>
                      </a:r>
                    </a:p>
                  </a:txBody>
                  <a:tcPr marL="73152" marR="73152" marT="27432" marB="27432">
                    <a:solidFill>
                      <a:srgbClr val="F6F9FC"/>
                    </a:solidFill>
                  </a:tcPr>
                </a:tc>
                <a:tc>
                  <a:txBody>
                    <a:bodyPr wrap="square"/>
                    <a:lstStyle/>
                    <a:p>
                      <a:r>
                        <a:rPr sz="1000" b="0" i="0">
                          <a:solidFill>
                            <a:srgbClr val="16202C"/>
                          </a:solidFill>
                          <a:latin typeface="Segoe UI"/>
                          <a:ea typeface="맑은 고딕"/>
                          <a:cs typeface="맑은 고딕"/>
                        </a:rPr>
                        <a:t>113</a:t>
                      </a:r>
                    </a:p>
                  </a:txBody>
                  <a:tcPr marL="73152" marR="73152" marT="27432" marB="27432">
                    <a:solidFill>
                      <a:srgbClr val="F6F9FC"/>
                    </a:solidFill>
                  </a:tcPr>
                </a:tc>
                <a:tc>
                  <a:txBody>
                    <a:bodyPr wrap="square"/>
                    <a:lstStyle/>
                    <a:p>
                      <a:r>
                        <a:rPr sz="1000" b="0" i="0">
                          <a:solidFill>
                            <a:srgbClr val="16202C"/>
                          </a:solidFill>
                          <a:latin typeface="Segoe UI"/>
                          <a:ea typeface="맑은 고딕"/>
                          <a:cs typeface="맑은 고딕"/>
                        </a:rPr>
                        <a:t>3.8s</a:t>
                      </a:r>
                    </a:p>
                  </a:txBody>
                  <a:tcPr marL="73152" marR="73152" marT="27432" marB="27432">
                    <a:solidFill>
                      <a:srgbClr val="F6F9FC"/>
                    </a:solidFill>
                  </a:tcPr>
                </a:tc>
                <a:tc>
                  <a:txBody>
                    <a:bodyPr wrap="square"/>
                    <a:lstStyle/>
                    <a:p>
                      <a:r>
                        <a:rPr sz="1000" b="0" i="0">
                          <a:solidFill>
                            <a:srgbClr val="16202C"/>
                          </a:solidFill>
                          <a:latin typeface="Segoe UI"/>
                          <a:ea typeface="맑은 고딕"/>
                          <a:cs typeface="맑은 고딕"/>
                        </a:rPr>
                        <a:t>정상</a:t>
                      </a:r>
                    </a:p>
                  </a:txBody>
                  <a:tcPr marL="73152" marR="73152" marT="27432" marB="27432">
                    <a:solidFill>
                      <a:srgbClr val="F6F9FC"/>
                    </a:solidFill>
                  </a:tcPr>
                </a:tc>
              </a:tr>
              <a:tr h="290322">
                <a:tc>
                  <a:txBody>
                    <a:bodyPr wrap="square"/>
                    <a:lstStyle/>
                    <a:p>
                      <a:r>
                        <a:rPr sz="1000" b="0" i="0">
                          <a:solidFill>
                            <a:srgbClr val="16202C"/>
                          </a:solidFill>
                          <a:latin typeface="Segoe UI"/>
                          <a:ea typeface="맑은 고딕"/>
                          <a:cs typeface="맑은 고딕"/>
                        </a:rPr>
                        <a:t>Qwen3-VL 32B</a:t>
                      </a:r>
                    </a:p>
                  </a:txBody>
                  <a:tcPr marL="73152" marR="73152" marT="27432" marB="27432">
                    <a:solidFill>
                      <a:srgbClr val="FFFFFF"/>
                    </a:solidFill>
                  </a:tcPr>
                </a:tc>
                <a:tc>
                  <a:txBody>
                    <a:bodyPr wrap="square"/>
                    <a:lstStyle/>
                    <a:p>
                      <a:r>
                        <a:rPr sz="1000" b="0" i="0">
                          <a:solidFill>
                            <a:srgbClr val="16202C"/>
                          </a:solidFill>
                          <a:latin typeface="Segoe UI"/>
                          <a:ea typeface="맑은 고딕"/>
                          <a:cs typeface="맑은 고딕"/>
                        </a:rPr>
                        <a:t>4</a:t>
                      </a:r>
                    </a:p>
                  </a:txBody>
                  <a:tcPr marL="73152" marR="73152" marT="27432" marB="27432">
                    <a:solidFill>
                      <a:srgbClr val="FFFFFF"/>
                    </a:solidFill>
                  </a:tcPr>
                </a:tc>
                <a:tc>
                  <a:txBody>
                    <a:bodyPr wrap="square"/>
                    <a:lstStyle/>
                    <a:p>
                      <a:r>
                        <a:rPr sz="1000" b="0" i="0">
                          <a:solidFill>
                            <a:srgbClr val="16202C"/>
                          </a:solidFill>
                          <a:latin typeface="Segoe UI"/>
                          <a:ea typeface="맑은 고딕"/>
                          <a:cs typeface="맑은 고딕"/>
                        </a:rPr>
                        <a:t>77s</a:t>
                      </a:r>
                    </a:p>
                  </a:txBody>
                  <a:tcPr marL="73152" marR="73152" marT="27432" marB="27432">
                    <a:solidFill>
                      <a:srgbClr val="FFFFFF"/>
                    </a:solidFill>
                  </a:tcPr>
                </a:tc>
                <a:tc>
                  <a:txBody>
                    <a:bodyPr wrap="square"/>
                    <a:lstStyle/>
                    <a:p>
                      <a:r>
                        <a:rPr sz="1000" b="0" i="0">
                          <a:solidFill>
                            <a:srgbClr val="16202C"/>
                          </a:solidFill>
                          <a:latin typeface="Segoe UI"/>
                          <a:ea typeface="맑은 고딕"/>
                          <a:cs typeface="맑은 고딕"/>
                        </a:rPr>
                        <a:t>0.18</a:t>
                      </a:r>
                    </a:p>
                  </a:txBody>
                  <a:tcPr marL="73152" marR="73152" marT="27432" marB="27432">
                    <a:solidFill>
                      <a:srgbClr val="FFFFFF"/>
                    </a:solidFill>
                  </a:tcPr>
                </a:tc>
                <a:tc>
                  <a:txBody>
                    <a:bodyPr wrap="square"/>
                    <a:lstStyle/>
                    <a:p>
                      <a:r>
                        <a:rPr sz="1000" b="0" i="0">
                          <a:solidFill>
                            <a:srgbClr val="16202C"/>
                          </a:solidFill>
                          <a:latin typeface="Segoe UI"/>
                          <a:ea typeface="맑은 고딕"/>
                          <a:cs typeface="맑은 고딕"/>
                        </a:rPr>
                        <a:t>39</a:t>
                      </a:r>
                    </a:p>
                  </a:txBody>
                  <a:tcPr marL="73152" marR="73152" marT="27432" marB="27432">
                    <a:solidFill>
                      <a:srgbClr val="FFFFFF"/>
                    </a:solidFill>
                  </a:tcPr>
                </a:tc>
                <a:tc>
                  <a:txBody>
                    <a:bodyPr wrap="square"/>
                    <a:lstStyle/>
                    <a:p>
                      <a:r>
                        <a:rPr sz="1000" b="0" i="0">
                          <a:solidFill>
                            <a:srgbClr val="16202C"/>
                          </a:solidFill>
                          <a:latin typeface="Segoe UI"/>
                          <a:ea typeface="맑은 고딕"/>
                          <a:cs typeface="맑은 고딕"/>
                        </a:rPr>
                        <a:t>38</a:t>
                      </a:r>
                    </a:p>
                  </a:txBody>
                  <a:tcPr marL="73152" marR="73152" marT="27432" marB="27432">
                    <a:solidFill>
                      <a:srgbClr val="FFFFFF"/>
                    </a:solidFill>
                  </a:tcPr>
                </a:tc>
                <a:tc>
                  <a:txBody>
                    <a:bodyPr wrap="square"/>
                    <a:lstStyle/>
                    <a:p>
                      <a:r>
                        <a:rPr sz="1000" b="0" i="0">
                          <a:solidFill>
                            <a:srgbClr val="16202C"/>
                          </a:solidFill>
                          <a:latin typeface="Segoe UI"/>
                          <a:ea typeface="맑은 고딕"/>
                          <a:cs typeface="맑은 고딕"/>
                        </a:rPr>
                        <a:t>1.9s</a:t>
                      </a:r>
                    </a:p>
                  </a:txBody>
                  <a:tcPr marL="73152" marR="73152" marT="27432" marB="27432">
                    <a:solidFill>
                      <a:srgbClr val="FFFFFF"/>
                    </a:solidFill>
                  </a:tcPr>
                </a:tc>
                <a:tc>
                  <a:txBody>
                    <a:bodyPr wrap="square"/>
                    <a:lstStyle/>
                    <a:p>
                      <a:r>
                        <a:rPr sz="1000" b="0" i="0">
                          <a:solidFill>
                            <a:srgbClr val="16202C"/>
                          </a:solidFill>
                          <a:latin typeface="Segoe UI"/>
                          <a:ea typeface="맑은 고딕"/>
                          <a:cs typeface="맑은 고딕"/>
                        </a:rPr>
                        <a:t>정상</a:t>
                      </a:r>
                    </a:p>
                  </a:txBody>
                  <a:tcPr marL="73152" marR="73152" marT="27432" marB="27432">
                    <a:solidFill>
                      <a:srgbClr val="FFFFFF"/>
                    </a:solidFill>
                  </a:tcPr>
                </a:tc>
              </a:tr>
              <a:tr h="290322">
                <a:tc>
                  <a:txBody>
                    <a:bodyPr wrap="square"/>
                    <a:lstStyle/>
                    <a:p>
                      <a:r>
                        <a:rPr sz="1000" b="0" i="0">
                          <a:solidFill>
                            <a:srgbClr val="16202C"/>
                          </a:solidFill>
                          <a:latin typeface="Segoe UI"/>
                          <a:ea typeface="맑은 고딕"/>
                          <a:cs typeface="맑은 고딕"/>
                        </a:rPr>
                        <a:t>Qwen3-Coder 30B</a:t>
                      </a:r>
                    </a:p>
                  </a:txBody>
                  <a:tcPr marL="73152" marR="73152" marT="27432" marB="27432">
                    <a:solidFill>
                      <a:srgbClr val="F6F9FC"/>
                    </a:solidFill>
                  </a:tcPr>
                </a:tc>
                <a:tc>
                  <a:txBody>
                    <a:bodyPr wrap="square"/>
                    <a:lstStyle/>
                    <a:p>
                      <a:r>
                        <a:rPr sz="1000" b="0" i="0">
                          <a:solidFill>
                            <a:srgbClr val="16202C"/>
                          </a:solidFill>
                          <a:latin typeface="Segoe UI"/>
                          <a:ea typeface="맑은 고딕"/>
                          <a:cs typeface="맑은 고딕"/>
                        </a:rPr>
                        <a:t>4</a:t>
                      </a:r>
                    </a:p>
                  </a:txBody>
                  <a:tcPr marL="73152" marR="73152" marT="27432" marB="27432">
                    <a:solidFill>
                      <a:srgbClr val="F6F9FC"/>
                    </a:solidFill>
                  </a:tcPr>
                </a:tc>
                <a:tc>
                  <a:txBody>
                    <a:bodyPr wrap="square"/>
                    <a:lstStyle/>
                    <a:p>
                      <a:r>
                        <a:rPr sz="1000" b="0" i="0">
                          <a:solidFill>
                            <a:srgbClr val="16202C"/>
                          </a:solidFill>
                          <a:latin typeface="Segoe UI"/>
                          <a:ea typeface="맑은 고딕"/>
                          <a:cs typeface="맑은 고딕"/>
                        </a:rPr>
                        <a:t>938s</a:t>
                      </a:r>
                    </a:p>
                  </a:txBody>
                  <a:tcPr marL="73152" marR="73152" marT="27432" marB="27432">
                    <a:solidFill>
                      <a:srgbClr val="F6F9FC"/>
                    </a:solidFill>
                  </a:tcPr>
                </a:tc>
                <a:tc>
                  <a:txBody>
                    <a:bodyPr wrap="square"/>
                    <a:lstStyle/>
                    <a:p>
                      <a:r>
                        <a:rPr sz="1000" b="0" i="0">
                          <a:solidFill>
                            <a:srgbClr val="16202C"/>
                          </a:solidFill>
                          <a:latin typeface="Segoe UI"/>
                          <a:ea typeface="맑은 고딕"/>
                          <a:cs typeface="맑은 고딕"/>
                        </a:rPr>
                        <a:t>0.14</a:t>
                      </a:r>
                    </a:p>
                  </a:txBody>
                  <a:tcPr marL="73152" marR="73152" marT="27432" marB="27432">
                    <a:solidFill>
                      <a:srgbClr val="F6F9FC"/>
                    </a:solidFill>
                  </a:tcPr>
                </a:tc>
                <a:tc>
                  <a:txBody>
                    <a:bodyPr wrap="square"/>
                    <a:lstStyle/>
                    <a:p>
                      <a:r>
                        <a:rPr sz="1000" b="0" i="0">
                          <a:solidFill>
                            <a:srgbClr val="16202C"/>
                          </a:solidFill>
                          <a:latin typeface="Segoe UI"/>
                          <a:ea typeface="맑은 고딕"/>
                          <a:cs typeface="맑은 고딕"/>
                        </a:rPr>
                        <a:t>71</a:t>
                      </a:r>
                    </a:p>
                  </a:txBody>
                  <a:tcPr marL="73152" marR="73152" marT="27432" marB="27432">
                    <a:solidFill>
                      <a:srgbClr val="F6F9FC"/>
                    </a:solidFill>
                  </a:tcPr>
                </a:tc>
                <a:tc>
                  <a:txBody>
                    <a:bodyPr wrap="square"/>
                    <a:lstStyle/>
                    <a:p>
                      <a:r>
                        <a:rPr sz="1000" b="0" i="0">
                          <a:solidFill>
                            <a:srgbClr val="16202C"/>
                          </a:solidFill>
                          <a:latin typeface="Segoe UI"/>
                          <a:ea typeface="맑은 고딕"/>
                          <a:cs typeface="맑은 고딕"/>
                        </a:rPr>
                        <a:t>139</a:t>
                      </a:r>
                    </a:p>
                  </a:txBody>
                  <a:tcPr marL="73152" marR="73152" marT="27432" marB="27432">
                    <a:solidFill>
                      <a:srgbClr val="F6F9FC"/>
                    </a:solidFill>
                  </a:tcPr>
                </a:tc>
                <a:tc>
                  <a:txBody>
                    <a:bodyPr wrap="square"/>
                    <a:lstStyle/>
                    <a:p>
                      <a:r>
                        <a:rPr sz="1000" b="0" i="0">
                          <a:solidFill>
                            <a:srgbClr val="16202C"/>
                          </a:solidFill>
                          <a:latin typeface="Segoe UI"/>
                          <a:ea typeface="맑은 고딕"/>
                          <a:cs typeface="맑은 고딕"/>
                        </a:rPr>
                        <a:t>1.4s</a:t>
                      </a:r>
                    </a:p>
                  </a:txBody>
                  <a:tcPr marL="73152" marR="73152" marT="27432" marB="27432">
                    <a:solidFill>
                      <a:srgbClr val="F6F9FC"/>
                    </a:solidFill>
                  </a:tcPr>
                </a:tc>
                <a:tc>
                  <a:txBody>
                    <a:bodyPr wrap="square"/>
                    <a:lstStyle/>
                    <a:p>
                      <a:r>
                        <a:rPr sz="1000" b="0" i="0">
                          <a:solidFill>
                            <a:srgbClr val="16202C"/>
                          </a:solidFill>
                          <a:latin typeface="Segoe UI"/>
                          <a:ea typeface="맑은 고딕"/>
                          <a:cs typeface="맑은 고딕"/>
                        </a:rPr>
                        <a:t>정상</a:t>
                      </a:r>
                    </a:p>
                  </a:txBody>
                  <a:tcPr marL="73152" marR="73152" marT="27432" marB="27432">
                    <a:solidFill>
                      <a:srgbClr val="F6F9FC"/>
                    </a:solidFill>
                  </a:tcPr>
                </a:tc>
              </a:tr>
              <a:tr h="290322">
                <a:tc>
                  <a:txBody>
                    <a:bodyPr wrap="square"/>
                    <a:lstStyle/>
                    <a:p>
                      <a:r>
                        <a:rPr sz="1000" b="0" i="0">
                          <a:solidFill>
                            <a:srgbClr val="16202C"/>
                          </a:solidFill>
                          <a:latin typeface="Segoe UI"/>
                          <a:ea typeface="맑은 고딕"/>
                          <a:cs typeface="맑은 고딕"/>
                        </a:rPr>
                        <a:t>A3B Instruct 2507</a:t>
                      </a:r>
                    </a:p>
                  </a:txBody>
                  <a:tcPr marL="73152" marR="73152" marT="27432" marB="27432">
                    <a:solidFill>
                      <a:srgbClr val="FFFFFF"/>
                    </a:solidFill>
                  </a:tcPr>
                </a:tc>
                <a:tc>
                  <a:txBody>
                    <a:bodyPr wrap="square"/>
                    <a:lstStyle/>
                    <a:p>
                      <a:r>
                        <a:rPr sz="1000" b="0" i="0">
                          <a:solidFill>
                            <a:srgbClr val="16202C"/>
                          </a:solidFill>
                          <a:latin typeface="Segoe UI"/>
                          <a:ea typeface="맑은 고딕"/>
                          <a:cs typeface="맑은 고딕"/>
                        </a:rPr>
                        <a:t>4</a:t>
                      </a:r>
                    </a:p>
                  </a:txBody>
                  <a:tcPr marL="73152" marR="73152" marT="27432" marB="27432">
                    <a:solidFill>
                      <a:srgbClr val="FFFFFF"/>
                    </a:solidFill>
                  </a:tcPr>
                </a:tc>
                <a:tc>
                  <a:txBody>
                    <a:bodyPr wrap="square"/>
                    <a:lstStyle/>
                    <a:p>
                      <a:r>
                        <a:rPr sz="1000" b="0" i="0">
                          <a:solidFill>
                            <a:srgbClr val="16202C"/>
                          </a:solidFill>
                          <a:latin typeface="Segoe UI"/>
                          <a:ea typeface="맑은 고딕"/>
                          <a:cs typeface="맑은 고딕"/>
                        </a:rPr>
                        <a:t>272s</a:t>
                      </a:r>
                    </a:p>
                  </a:txBody>
                  <a:tcPr marL="73152" marR="73152" marT="27432" marB="27432">
                    <a:solidFill>
                      <a:srgbClr val="FFFFFF"/>
                    </a:solidFill>
                  </a:tcPr>
                </a:tc>
                <a:tc>
                  <a:txBody>
                    <a:bodyPr wrap="square"/>
                    <a:lstStyle/>
                    <a:p>
                      <a:r>
                        <a:rPr sz="1000" b="0" i="0">
                          <a:solidFill>
                            <a:srgbClr val="16202C"/>
                          </a:solidFill>
                          <a:latin typeface="Segoe UI"/>
                          <a:ea typeface="맑은 고딕"/>
                          <a:cs typeface="맑은 고딕"/>
                        </a:rPr>
                        <a:t>0.09</a:t>
                      </a:r>
                    </a:p>
                  </a:txBody>
                  <a:tcPr marL="73152" marR="73152" marT="27432" marB="27432">
                    <a:solidFill>
                      <a:srgbClr val="FFFFFF"/>
                    </a:solidFill>
                  </a:tcPr>
                </a:tc>
                <a:tc>
                  <a:txBody>
                    <a:bodyPr wrap="square"/>
                    <a:lstStyle/>
                    <a:p>
                      <a:r>
                        <a:rPr sz="1000" b="0" i="0">
                          <a:solidFill>
                            <a:srgbClr val="16202C"/>
                          </a:solidFill>
                          <a:latin typeface="Segoe UI"/>
                          <a:ea typeface="맑은 고딕"/>
                          <a:cs typeface="맑은 고딕"/>
                        </a:rPr>
                        <a:t>72</a:t>
                      </a:r>
                    </a:p>
                  </a:txBody>
                  <a:tcPr marL="73152" marR="73152" marT="27432" marB="27432">
                    <a:solidFill>
                      <a:srgbClr val="FFFFFF"/>
                    </a:solidFill>
                  </a:tcPr>
                </a:tc>
                <a:tc>
                  <a:txBody>
                    <a:bodyPr wrap="square"/>
                    <a:lstStyle/>
                    <a:p>
                      <a:r>
                        <a:rPr sz="1000" b="0" i="0">
                          <a:solidFill>
                            <a:srgbClr val="16202C"/>
                          </a:solidFill>
                          <a:latin typeface="Segoe UI"/>
                          <a:ea typeface="맑은 고딕"/>
                          <a:cs typeface="맑은 고딕"/>
                        </a:rPr>
                        <a:t>142</a:t>
                      </a:r>
                    </a:p>
                  </a:txBody>
                  <a:tcPr marL="73152" marR="73152" marT="27432" marB="27432">
                    <a:solidFill>
                      <a:srgbClr val="FFFFFF"/>
                    </a:solidFill>
                  </a:tcPr>
                </a:tc>
                <a:tc>
                  <a:txBody>
                    <a:bodyPr wrap="square"/>
                    <a:lstStyle/>
                    <a:p>
                      <a:r>
                        <a:rPr sz="1000" b="0" i="0">
                          <a:solidFill>
                            <a:srgbClr val="16202C"/>
                          </a:solidFill>
                          <a:latin typeface="Segoe UI"/>
                          <a:ea typeface="맑은 고딕"/>
                          <a:cs typeface="맑은 고딕"/>
                        </a:rPr>
                        <a:t>1.0s</a:t>
                      </a:r>
                    </a:p>
                  </a:txBody>
                  <a:tcPr marL="73152" marR="73152" marT="27432" marB="27432">
                    <a:solidFill>
                      <a:srgbClr val="FFFFFF"/>
                    </a:solidFill>
                  </a:tcPr>
                </a:tc>
                <a:tc>
                  <a:txBody>
                    <a:bodyPr wrap="square"/>
                    <a:lstStyle/>
                    <a:p>
                      <a:r>
                        <a:rPr sz="1000" b="0" i="0">
                          <a:solidFill>
                            <a:srgbClr val="16202C"/>
                          </a:solidFill>
                          <a:latin typeface="Segoe UI"/>
                          <a:ea typeface="맑은 고딕"/>
                          <a:cs typeface="맑은 고딕"/>
                        </a:rPr>
                        <a:t>정상</a:t>
                      </a:r>
                    </a:p>
                  </a:txBody>
                  <a:tcPr marL="73152" marR="73152" marT="27432" marB="27432">
                    <a:solidFill>
                      <a:srgbClr val="FFFFFF"/>
                    </a:solidFill>
                  </a:tcPr>
                </a:tc>
              </a:tr>
              <a:tr h="290322">
                <a:tc>
                  <a:txBody>
                    <a:bodyPr wrap="square"/>
                    <a:lstStyle/>
                    <a:p>
                      <a:r>
                        <a:rPr sz="1000" b="0" i="0">
                          <a:solidFill>
                            <a:srgbClr val="16202C"/>
                          </a:solidFill>
                          <a:latin typeface="Segoe UI"/>
                          <a:ea typeface="맑은 고딕"/>
                          <a:cs typeface="맑은 고딕"/>
                        </a:rPr>
                        <a:t>A3B Thinking 2507 *</a:t>
                      </a:r>
                    </a:p>
                  </a:txBody>
                  <a:tcPr marL="73152" marR="73152" marT="27432" marB="27432">
                    <a:solidFill>
                      <a:srgbClr val="F6F9FC"/>
                    </a:solidFill>
                  </a:tcPr>
                </a:tc>
                <a:tc>
                  <a:txBody>
                    <a:bodyPr wrap="square"/>
                    <a:lstStyle/>
                    <a:p>
                      <a:r>
                        <a:rPr sz="1000" b="0" i="0">
                          <a:solidFill>
                            <a:srgbClr val="16202C"/>
                          </a:solidFill>
                          <a:latin typeface="Segoe UI"/>
                          <a:ea typeface="맑은 고딕"/>
                          <a:cs typeface="맑은 고딕"/>
                        </a:rPr>
                        <a:t>4</a:t>
                      </a:r>
                    </a:p>
                  </a:txBody>
                  <a:tcPr marL="73152" marR="73152" marT="27432" marB="27432">
                    <a:solidFill>
                      <a:srgbClr val="F6F9FC"/>
                    </a:solidFill>
                  </a:tcPr>
                </a:tc>
                <a:tc>
                  <a:txBody>
                    <a:bodyPr wrap="square"/>
                    <a:lstStyle/>
                    <a:p>
                      <a:r>
                        <a:rPr sz="1000" b="0" i="0">
                          <a:solidFill>
                            <a:srgbClr val="16202C"/>
                          </a:solidFill>
                          <a:latin typeface="Segoe UI"/>
                          <a:ea typeface="맑은 고딕"/>
                          <a:cs typeface="맑은 고딕"/>
                        </a:rPr>
                        <a:t>43s</a:t>
                      </a:r>
                    </a:p>
                  </a:txBody>
                  <a:tcPr marL="73152" marR="73152" marT="27432" marB="27432">
                    <a:solidFill>
                      <a:srgbClr val="F6F9FC"/>
                    </a:solidFill>
                  </a:tcPr>
                </a:tc>
                <a:tc>
                  <a:txBody>
                    <a:bodyPr wrap="square"/>
                    <a:lstStyle/>
                    <a:p>
                      <a:r>
                        <a:rPr sz="1000" b="0" i="0">
                          <a:solidFill>
                            <a:srgbClr val="16202C"/>
                          </a:solidFill>
                          <a:latin typeface="Segoe UI"/>
                          <a:ea typeface="맑은 고딕"/>
                          <a:cs typeface="맑은 고딕"/>
                        </a:rPr>
                        <a:t>0.19</a:t>
                      </a:r>
                    </a:p>
                  </a:txBody>
                  <a:tcPr marL="73152" marR="73152" marT="27432" marB="27432">
                    <a:solidFill>
                      <a:srgbClr val="F6F9FC"/>
                    </a:solidFill>
                  </a:tcPr>
                </a:tc>
                <a:tc>
                  <a:txBody>
                    <a:bodyPr wrap="square"/>
                    <a:lstStyle/>
                    <a:p>
                      <a:r>
                        <a:rPr sz="1000" b="0" i="0">
                          <a:solidFill>
                            <a:srgbClr val="16202C"/>
                          </a:solidFill>
                          <a:latin typeface="Segoe UI"/>
                          <a:ea typeface="맑은 고딕"/>
                          <a:cs typeface="맑은 고딕"/>
                        </a:rPr>
                        <a:t>71</a:t>
                      </a:r>
                    </a:p>
                  </a:txBody>
                  <a:tcPr marL="73152" marR="73152" marT="27432" marB="27432">
                    <a:solidFill>
                      <a:srgbClr val="F6F9FC"/>
                    </a:solidFill>
                  </a:tcPr>
                </a:tc>
                <a:tc>
                  <a:txBody>
                    <a:bodyPr wrap="square"/>
                    <a:lstStyle/>
                    <a:p>
                      <a:r>
                        <a:rPr sz="1000" b="0" i="0">
                          <a:solidFill>
                            <a:srgbClr val="16202C"/>
                          </a:solidFill>
                          <a:latin typeface="Segoe UI"/>
                          <a:ea typeface="맑은 고딕"/>
                          <a:cs typeface="맑은 고딕"/>
                        </a:rPr>
                        <a:t>142</a:t>
                      </a:r>
                    </a:p>
                  </a:txBody>
                  <a:tcPr marL="73152" marR="73152" marT="27432" marB="27432">
                    <a:solidFill>
                      <a:srgbClr val="F6F9FC"/>
                    </a:solidFill>
                  </a:tcPr>
                </a:tc>
                <a:tc>
                  <a:txBody>
                    <a:bodyPr wrap="square"/>
                    <a:lstStyle/>
                    <a:p>
                      <a:r>
                        <a:rPr sz="1000" b="0" i="0">
                          <a:solidFill>
                            <a:srgbClr val="16202C"/>
                          </a:solidFill>
                          <a:latin typeface="Segoe UI"/>
                          <a:ea typeface="맑은 고딕"/>
                          <a:cs typeface="맑은 고딕"/>
                        </a:rPr>
                        <a:t>14.5s</a:t>
                      </a:r>
                    </a:p>
                  </a:txBody>
                  <a:tcPr marL="73152" marR="73152" marT="27432" marB="27432">
                    <a:solidFill>
                      <a:srgbClr val="F6F9FC"/>
                    </a:solidFill>
                  </a:tcPr>
                </a:tc>
                <a:tc>
                  <a:txBody>
                    <a:bodyPr wrap="square"/>
                    <a:lstStyle/>
                    <a:p>
                      <a:r>
                        <a:rPr sz="1000" b="0" i="0">
                          <a:solidFill>
                            <a:srgbClr val="16202C"/>
                          </a:solidFill>
                          <a:latin typeface="Segoe UI"/>
                          <a:ea typeface="맑은 고딕"/>
                          <a:cs typeface="맑은 고딕"/>
                        </a:rPr>
                        <a:t>정상</a:t>
                      </a:r>
                    </a:p>
                  </a:txBody>
                  <a:tcPr marL="73152" marR="73152" marT="27432" marB="27432">
                    <a:solidFill>
                      <a:srgbClr val="F6F9FC"/>
                    </a:solidFill>
                  </a:tcPr>
                </a:tc>
              </a:tr>
              <a:tr h="290322">
                <a:tc>
                  <a:txBody>
                    <a:bodyPr wrap="square"/>
                    <a:lstStyle/>
                    <a:p>
                      <a:r>
                        <a:rPr sz="1000" b="0" i="0">
                          <a:solidFill>
                            <a:srgbClr val="16202C"/>
                          </a:solidFill>
                          <a:latin typeface="Segoe UI"/>
                          <a:ea typeface="맑은 고딕"/>
                          <a:cs typeface="맑은 고딕"/>
                        </a:rPr>
                        <a:t>A3B 30B</a:t>
                      </a:r>
                    </a:p>
                  </a:txBody>
                  <a:tcPr marL="73152" marR="73152" marT="27432" marB="27432">
                    <a:solidFill>
                      <a:srgbClr val="FFFFFF"/>
                    </a:solidFill>
                  </a:tcPr>
                </a:tc>
                <a:tc>
                  <a:txBody>
                    <a:bodyPr wrap="square"/>
                    <a:lstStyle/>
                    <a:p>
                      <a:r>
                        <a:rPr sz="1000" b="0" i="0">
                          <a:solidFill>
                            <a:srgbClr val="16202C"/>
                          </a:solidFill>
                          <a:latin typeface="Segoe UI"/>
                          <a:ea typeface="맑은 고딕"/>
                          <a:cs typeface="맑은 고딕"/>
                        </a:rPr>
                        <a:t>4</a:t>
                      </a:r>
                    </a:p>
                  </a:txBody>
                  <a:tcPr marL="73152" marR="73152" marT="27432" marB="27432">
                    <a:solidFill>
                      <a:srgbClr val="FFFFFF"/>
                    </a:solidFill>
                  </a:tcPr>
                </a:tc>
                <a:tc>
                  <a:txBody>
                    <a:bodyPr wrap="square"/>
                    <a:lstStyle/>
                    <a:p>
                      <a:r>
                        <a:rPr sz="1000" b="0" i="0">
                          <a:solidFill>
                            <a:srgbClr val="16202C"/>
                          </a:solidFill>
                          <a:latin typeface="Segoe UI"/>
                          <a:ea typeface="맑은 고딕"/>
                          <a:cs typeface="맑은 고딕"/>
                        </a:rPr>
                        <a:t>못 뜸</a:t>
                      </a:r>
                    </a:p>
                  </a:txBody>
                  <a:tcPr marL="73152" marR="73152" marT="27432" marB="27432">
                    <a:solidFill>
                      <a:srgbClr val="FFFFFF"/>
                    </a:solidFill>
                  </a:tcPr>
                </a:tc>
                <a:tc>
                  <a:txBody>
                    <a:bodyPr wrap="square"/>
                    <a:lstStyle/>
                    <a:p>
                      <a:r>
                        <a:rPr sz="1000" b="0" i="0">
                          <a:solidFill>
                            <a:srgbClr val="16202C"/>
                          </a:solidFill>
                          <a:latin typeface="Segoe UI"/>
                          <a:ea typeface="맑은 고딕"/>
                          <a:cs typeface="맑은 고딕"/>
                        </a:rPr>
                        <a:t>-</a:t>
                      </a:r>
                    </a:p>
                  </a:txBody>
                  <a:tcPr marL="73152" marR="73152" marT="27432" marB="27432">
                    <a:solidFill>
                      <a:srgbClr val="FFFFFF"/>
                    </a:solidFill>
                  </a:tcPr>
                </a:tc>
                <a:tc>
                  <a:txBody>
                    <a:bodyPr wrap="square"/>
                    <a:lstStyle/>
                    <a:p>
                      <a:r>
                        <a:rPr sz="1000" b="0" i="0">
                          <a:solidFill>
                            <a:srgbClr val="16202C"/>
                          </a:solidFill>
                          <a:latin typeface="Segoe UI"/>
                          <a:ea typeface="맑은 고딕"/>
                          <a:cs typeface="맑은 고딕"/>
                        </a:rPr>
                        <a:t>-</a:t>
                      </a:r>
                    </a:p>
                  </a:txBody>
                  <a:tcPr marL="73152" marR="73152" marT="27432" marB="27432">
                    <a:solidFill>
                      <a:srgbClr val="FFFFFF"/>
                    </a:solidFill>
                  </a:tcPr>
                </a:tc>
                <a:tc>
                  <a:txBody>
                    <a:bodyPr wrap="square"/>
                    <a:lstStyle/>
                    <a:p>
                      <a:r>
                        <a:rPr sz="1000" b="0" i="0">
                          <a:solidFill>
                            <a:srgbClr val="16202C"/>
                          </a:solidFill>
                          <a:latin typeface="Segoe UI"/>
                          <a:ea typeface="맑은 고딕"/>
                          <a:cs typeface="맑은 고딕"/>
                        </a:rPr>
                        <a:t>-</a:t>
                      </a:r>
                    </a:p>
                  </a:txBody>
                  <a:tcPr marL="73152" marR="73152" marT="27432" marB="27432">
                    <a:solidFill>
                      <a:srgbClr val="FFFFFF"/>
                    </a:solidFill>
                  </a:tcPr>
                </a:tc>
                <a:tc>
                  <a:txBody>
                    <a:bodyPr wrap="square"/>
                    <a:lstStyle/>
                    <a:p>
                      <a:r>
                        <a:rPr sz="1000" b="0" i="0">
                          <a:solidFill>
                            <a:srgbClr val="16202C"/>
                          </a:solidFill>
                          <a:latin typeface="Segoe UI"/>
                          <a:ea typeface="맑은 고딕"/>
                          <a:cs typeface="맑은 고딕"/>
                        </a:rPr>
                        <a:t>-</a:t>
                      </a:r>
                    </a:p>
                  </a:txBody>
                  <a:tcPr marL="73152" marR="73152" marT="27432" marB="27432">
                    <a:solidFill>
                      <a:srgbClr val="FFFFFF"/>
                    </a:solidFill>
                  </a:tcPr>
                </a:tc>
                <a:tc>
                  <a:txBody>
                    <a:bodyPr wrap="square"/>
                    <a:lstStyle/>
                    <a:p>
                      <a:r>
                        <a:rPr sz="1000" b="0" i="0">
                          <a:solidFill>
                            <a:srgbClr val="16202C"/>
                          </a:solidFill>
                          <a:latin typeface="Segoe UI"/>
                          <a:ea typeface="맑은 고딕"/>
                          <a:cs typeface="맑은 고딕"/>
                        </a:rPr>
                        <a:t>배포 FXB 결함</a:t>
                      </a:r>
                    </a:p>
                  </a:txBody>
                  <a:tcPr marL="73152" marR="73152" marT="27432" marB="27432">
                    <a:solidFill>
                      <a:srgbClr val="FFFFFF"/>
                    </a:solidFill>
                  </a:tcPr>
                </a:tc>
              </a:tr>
              <a:tr h="290322">
                <a:tc>
                  <a:txBody>
                    <a:bodyPr wrap="square"/>
                    <a:lstStyle/>
                    <a:p>
                      <a:r>
                        <a:rPr sz="1000" b="0" i="0">
                          <a:solidFill>
                            <a:srgbClr val="16202C"/>
                          </a:solidFill>
                          <a:latin typeface="Segoe UI"/>
                          <a:ea typeface="맑은 고딕"/>
                          <a:cs typeface="맑은 고딕"/>
                        </a:rPr>
                        <a:t>Llama 3.1 8B</a:t>
                      </a:r>
                    </a:p>
                  </a:txBody>
                  <a:tcPr marL="73152" marR="73152" marT="27432" marB="27432">
                    <a:solidFill>
                      <a:srgbClr val="F6F9FC"/>
                    </a:solidFill>
                  </a:tcPr>
                </a:tc>
                <a:tc>
                  <a:txBody>
                    <a:bodyPr wrap="square"/>
                    <a:lstStyle/>
                    <a:p>
                      <a:r>
                        <a:rPr sz="1000" b="0" i="0">
                          <a:solidFill>
                            <a:srgbClr val="16202C"/>
                          </a:solidFill>
                          <a:latin typeface="Segoe UI"/>
                          <a:ea typeface="맑은 고딕"/>
                          <a:cs typeface="맑은 고딕"/>
                        </a:rPr>
                        <a:t>1</a:t>
                      </a:r>
                    </a:p>
                  </a:txBody>
                  <a:tcPr marL="73152" marR="73152" marT="27432" marB="27432">
                    <a:solidFill>
                      <a:srgbClr val="F6F9FC"/>
                    </a:solidFill>
                  </a:tcPr>
                </a:tc>
                <a:tc>
                  <a:txBody>
                    <a:bodyPr wrap="square"/>
                    <a:lstStyle/>
                    <a:p>
                      <a:r>
                        <a:rPr sz="1000" b="0" i="0">
                          <a:solidFill>
                            <a:srgbClr val="16202C"/>
                          </a:solidFill>
                          <a:latin typeface="Segoe UI"/>
                          <a:ea typeface="맑은 고딕"/>
                          <a:cs typeface="맑은 고딕"/>
                        </a:rPr>
                        <a:t>10s</a:t>
                      </a:r>
                    </a:p>
                  </a:txBody>
                  <a:tcPr marL="73152" marR="73152" marT="27432" marB="27432">
                    <a:solidFill>
                      <a:srgbClr val="F6F9FC"/>
                    </a:solidFill>
                  </a:tcPr>
                </a:tc>
                <a:tc>
                  <a:txBody>
                    <a:bodyPr wrap="square"/>
                    <a:lstStyle/>
                    <a:p>
                      <a:r>
                        <a:rPr sz="1000" b="0" i="0">
                          <a:solidFill>
                            <a:srgbClr val="16202C"/>
                          </a:solidFill>
                          <a:latin typeface="Segoe UI"/>
                          <a:ea typeface="맑은 고딕"/>
                          <a:cs typeface="맑은 고딕"/>
                        </a:rPr>
                        <a:t>0.04</a:t>
                      </a:r>
                    </a:p>
                  </a:txBody>
                  <a:tcPr marL="73152" marR="73152" marT="27432" marB="27432">
                    <a:solidFill>
                      <a:srgbClr val="F6F9FC"/>
                    </a:solidFill>
                  </a:tcPr>
                </a:tc>
                <a:tc>
                  <a:txBody>
                    <a:bodyPr wrap="square"/>
                    <a:lstStyle/>
                    <a:p>
                      <a:r>
                        <a:rPr sz="1000" b="0" i="0">
                          <a:solidFill>
                            <a:srgbClr val="16202C"/>
                          </a:solidFill>
                          <a:latin typeface="Segoe UI"/>
                          <a:ea typeface="맑은 고딕"/>
                          <a:cs typeface="맑은 고딕"/>
                        </a:rPr>
                        <a:t>50</a:t>
                      </a:r>
                    </a:p>
                  </a:txBody>
                  <a:tcPr marL="73152" marR="73152" marT="27432" marB="27432">
                    <a:solidFill>
                      <a:srgbClr val="F6F9FC"/>
                    </a:solidFill>
                  </a:tcPr>
                </a:tc>
                <a:tc>
                  <a:txBody>
                    <a:bodyPr wrap="square"/>
                    <a:lstStyle/>
                    <a:p>
                      <a:r>
                        <a:rPr sz="1000" b="0" i="0">
                          <a:solidFill>
                            <a:srgbClr val="16202C"/>
                          </a:solidFill>
                          <a:latin typeface="Segoe UI"/>
                          <a:ea typeface="맑은 고딕"/>
                          <a:cs typeface="맑은 고딕"/>
                        </a:rPr>
                        <a:t>195</a:t>
                      </a:r>
                    </a:p>
                  </a:txBody>
                  <a:tcPr marL="73152" marR="73152" marT="27432" marB="27432">
                    <a:solidFill>
                      <a:srgbClr val="F6F9FC"/>
                    </a:solidFill>
                  </a:tcPr>
                </a:tc>
                <a:tc>
                  <a:txBody>
                    <a:bodyPr wrap="square"/>
                    <a:lstStyle/>
                    <a:p>
                      <a:r>
                        <a:rPr sz="1000" b="0" i="0">
                          <a:solidFill>
                            <a:srgbClr val="16202C"/>
                          </a:solidFill>
                          <a:latin typeface="Segoe UI"/>
                          <a:ea typeface="맑은 고딕"/>
                          <a:cs typeface="맑은 고딕"/>
                        </a:rPr>
                        <a:t>2.5s</a:t>
                      </a:r>
                    </a:p>
                  </a:txBody>
                  <a:tcPr marL="73152" marR="73152" marT="27432" marB="27432">
                    <a:solidFill>
                      <a:srgbClr val="F6F9FC"/>
                    </a:solidFill>
                  </a:tcPr>
                </a:tc>
                <a:tc>
                  <a:txBody>
                    <a:bodyPr wrap="square"/>
                    <a:lstStyle/>
                    <a:p>
                      <a:r>
                        <a:rPr sz="1000" b="0" i="0">
                          <a:solidFill>
                            <a:srgbClr val="16202C"/>
                          </a:solidFill>
                          <a:latin typeface="Segoe UI"/>
                          <a:ea typeface="맑은 고딕"/>
                          <a:cs typeface="맑은 고딕"/>
                        </a:rPr>
                        <a:t>정상</a:t>
                      </a:r>
                    </a:p>
                  </a:txBody>
                  <a:tcPr marL="73152" marR="73152" marT="27432" marB="27432">
                    <a:solidFill>
                      <a:srgbClr val="F6F9FC"/>
                    </a:solidFill>
                  </a:tcPr>
                </a:tc>
              </a:tr>
              <a:tr h="290322">
                <a:tc>
                  <a:txBody>
                    <a:bodyPr wrap="square"/>
                    <a:lstStyle/>
                    <a:p>
                      <a:r>
                        <a:rPr sz="1000" b="0" i="0">
                          <a:solidFill>
                            <a:srgbClr val="16202C"/>
                          </a:solidFill>
                          <a:latin typeface="Segoe UI"/>
                          <a:ea typeface="맑은 고딕"/>
                          <a:cs typeface="맑은 고딕"/>
                        </a:rPr>
                        <a:t>Qwen3 8B</a:t>
                      </a:r>
                    </a:p>
                  </a:txBody>
                  <a:tcPr marL="73152" marR="73152" marT="27432" marB="27432">
                    <a:solidFill>
                      <a:srgbClr val="FFFFFF"/>
                    </a:solidFill>
                  </a:tcPr>
                </a:tc>
                <a:tc>
                  <a:txBody>
                    <a:bodyPr wrap="square"/>
                    <a:lstStyle/>
                    <a:p>
                      <a:r>
                        <a:rPr sz="1000" b="0" i="0">
                          <a:solidFill>
                            <a:srgbClr val="16202C"/>
                          </a:solidFill>
                          <a:latin typeface="Segoe UI"/>
                          <a:ea typeface="맑은 고딕"/>
                          <a:cs typeface="맑은 고딕"/>
                        </a:rPr>
                        <a:t>1</a:t>
                      </a:r>
                    </a:p>
                  </a:txBody>
                  <a:tcPr marL="73152" marR="73152" marT="27432" marB="27432">
                    <a:solidFill>
                      <a:srgbClr val="FFFFFF"/>
                    </a:solidFill>
                  </a:tcPr>
                </a:tc>
                <a:tc>
                  <a:txBody>
                    <a:bodyPr wrap="square"/>
                    <a:lstStyle/>
                    <a:p>
                      <a:r>
                        <a:rPr sz="1000" b="0" i="0">
                          <a:solidFill>
                            <a:srgbClr val="16202C"/>
                          </a:solidFill>
                          <a:latin typeface="Segoe UI"/>
                          <a:ea typeface="맑은 고딕"/>
                          <a:cs typeface="맑은 고딕"/>
                        </a:rPr>
                        <a:t>13s</a:t>
                      </a:r>
                    </a:p>
                  </a:txBody>
                  <a:tcPr marL="73152" marR="73152" marT="27432" marB="27432">
                    <a:solidFill>
                      <a:srgbClr val="FFFFFF"/>
                    </a:solidFill>
                  </a:tcPr>
                </a:tc>
                <a:tc>
                  <a:txBody>
                    <a:bodyPr wrap="square"/>
                    <a:lstStyle/>
                    <a:p>
                      <a:r>
                        <a:rPr sz="1000" b="0" i="0">
                          <a:solidFill>
                            <a:srgbClr val="16202C"/>
                          </a:solidFill>
                          <a:latin typeface="Segoe UI"/>
                          <a:ea typeface="맑은 고딕"/>
                          <a:cs typeface="맑은 고딕"/>
                        </a:rPr>
                        <a:t>0.17</a:t>
                      </a:r>
                    </a:p>
                  </a:txBody>
                  <a:tcPr marL="73152" marR="73152" marT="27432" marB="27432">
                    <a:solidFill>
                      <a:srgbClr val="FFFFFF"/>
                    </a:solidFill>
                  </a:tcPr>
                </a:tc>
                <a:tc>
                  <a:txBody>
                    <a:bodyPr wrap="square"/>
                    <a:lstStyle/>
                    <a:p>
                      <a:r>
                        <a:rPr sz="1000" b="0" i="0">
                          <a:solidFill>
                            <a:srgbClr val="16202C"/>
                          </a:solidFill>
                          <a:latin typeface="Segoe UI"/>
                          <a:ea typeface="맑은 고딕"/>
                          <a:cs typeface="맑은 고딕"/>
                        </a:rPr>
                        <a:t>66</a:t>
                      </a:r>
                    </a:p>
                  </a:txBody>
                  <a:tcPr marL="73152" marR="73152" marT="27432" marB="27432">
                    <a:solidFill>
                      <a:srgbClr val="FFFFFF"/>
                    </a:solidFill>
                  </a:tcPr>
                </a:tc>
                <a:tc>
                  <a:txBody>
                    <a:bodyPr wrap="square"/>
                    <a:lstStyle/>
                    <a:p>
                      <a:r>
                        <a:rPr sz="1000" b="0" i="0">
                          <a:solidFill>
                            <a:srgbClr val="16202C"/>
                          </a:solidFill>
                          <a:latin typeface="Segoe UI"/>
                          <a:ea typeface="맑은 고딕"/>
                          <a:cs typeface="맑은 고딕"/>
                        </a:rPr>
                        <a:t>248</a:t>
                      </a:r>
                    </a:p>
                  </a:txBody>
                  <a:tcPr marL="73152" marR="73152" marT="27432" marB="27432">
                    <a:solidFill>
                      <a:srgbClr val="FFFFFF"/>
                    </a:solidFill>
                  </a:tcPr>
                </a:tc>
                <a:tc>
                  <a:txBody>
                    <a:bodyPr wrap="square"/>
                    <a:lstStyle/>
                    <a:p>
                      <a:r>
                        <a:rPr sz="1000" b="0" i="0">
                          <a:solidFill>
                            <a:srgbClr val="16202C"/>
                          </a:solidFill>
                          <a:latin typeface="Segoe UI"/>
                          <a:ea typeface="맑은 고딕"/>
                          <a:cs typeface="맑은 고딕"/>
                        </a:rPr>
                        <a:t>6.9s</a:t>
                      </a:r>
                    </a:p>
                  </a:txBody>
                  <a:tcPr marL="73152" marR="73152" marT="27432" marB="27432">
                    <a:solidFill>
                      <a:srgbClr val="FFFFFF"/>
                    </a:solidFill>
                  </a:tcPr>
                </a:tc>
                <a:tc>
                  <a:txBody>
                    <a:bodyPr wrap="square"/>
                    <a:lstStyle/>
                    <a:p>
                      <a:r>
                        <a:rPr sz="1000" b="0" i="0">
                          <a:solidFill>
                            <a:srgbClr val="16202C"/>
                          </a:solidFill>
                          <a:latin typeface="Segoe UI"/>
                          <a:ea typeface="맑은 고딕"/>
                          <a:cs typeface="맑은 고딕"/>
                        </a:rPr>
                        <a:t>정상</a:t>
                      </a:r>
                    </a:p>
                  </a:txBody>
                  <a:tcPr marL="73152" marR="73152" marT="27432" marB="27432">
                    <a:solidFill>
                      <a:srgbClr val="FFFFFF"/>
                    </a:solidFill>
                  </a:tcPr>
                </a:tc>
              </a:tr>
              <a:tr h="290322">
                <a:tc>
                  <a:txBody>
                    <a:bodyPr wrap="square"/>
                    <a:lstStyle/>
                    <a:p>
                      <a:r>
                        <a:rPr sz="1000" b="0" i="0">
                          <a:solidFill>
                            <a:srgbClr val="16202C"/>
                          </a:solidFill>
                          <a:latin typeface="Segoe UI"/>
                          <a:ea typeface="맑은 고딕"/>
                          <a:cs typeface="맑은 고딕"/>
                        </a:rPr>
                        <a:t>Qwen3 4B</a:t>
                      </a:r>
                    </a:p>
                  </a:txBody>
                  <a:tcPr marL="73152" marR="73152" marT="27432" marB="27432">
                    <a:solidFill>
                      <a:srgbClr val="F6F9FC"/>
                    </a:solidFill>
                  </a:tcPr>
                </a:tc>
                <a:tc>
                  <a:txBody>
                    <a:bodyPr wrap="square"/>
                    <a:lstStyle/>
                    <a:p>
                      <a:r>
                        <a:rPr sz="1000" b="0" i="0">
                          <a:solidFill>
                            <a:srgbClr val="16202C"/>
                          </a:solidFill>
                          <a:latin typeface="Segoe UI"/>
                          <a:ea typeface="맑은 고딕"/>
                          <a:cs typeface="맑은 고딕"/>
                        </a:rPr>
                        <a:t>1</a:t>
                      </a:r>
                    </a:p>
                  </a:txBody>
                  <a:tcPr marL="73152" marR="73152" marT="27432" marB="27432">
                    <a:solidFill>
                      <a:srgbClr val="F6F9FC"/>
                    </a:solidFill>
                  </a:tcPr>
                </a:tc>
                <a:tc>
                  <a:txBody>
                    <a:bodyPr wrap="square"/>
                    <a:lstStyle/>
                    <a:p>
                      <a:r>
                        <a:rPr sz="1000" b="0" i="0">
                          <a:solidFill>
                            <a:srgbClr val="16202C"/>
                          </a:solidFill>
                          <a:latin typeface="Segoe UI"/>
                          <a:ea typeface="맑은 고딕"/>
                          <a:cs typeface="맑은 고딕"/>
                        </a:rPr>
                        <a:t>9s</a:t>
                      </a:r>
                    </a:p>
                  </a:txBody>
                  <a:tcPr marL="73152" marR="73152" marT="27432" marB="27432">
                    <a:solidFill>
                      <a:srgbClr val="F6F9FC"/>
                    </a:solidFill>
                  </a:tcPr>
                </a:tc>
                <a:tc>
                  <a:txBody>
                    <a:bodyPr wrap="square"/>
                    <a:lstStyle/>
                    <a:p>
                      <a:r>
                        <a:rPr sz="1000" b="0" i="0">
                          <a:solidFill>
                            <a:srgbClr val="16202C"/>
                          </a:solidFill>
                          <a:latin typeface="Segoe UI"/>
                          <a:ea typeface="맑은 고딕"/>
                          <a:cs typeface="맑은 고딕"/>
                        </a:rPr>
                        <a:t>0.20</a:t>
                      </a:r>
                    </a:p>
                  </a:txBody>
                  <a:tcPr marL="73152" marR="73152" marT="27432" marB="27432">
                    <a:solidFill>
                      <a:srgbClr val="F6F9FC"/>
                    </a:solidFill>
                  </a:tcPr>
                </a:tc>
                <a:tc>
                  <a:txBody>
                    <a:bodyPr wrap="square"/>
                    <a:lstStyle/>
                    <a:p>
                      <a:r>
                        <a:rPr sz="1000" b="0" i="0">
                          <a:solidFill>
                            <a:srgbClr val="16202C"/>
                          </a:solidFill>
                          <a:latin typeface="Segoe UI"/>
                          <a:ea typeface="맑은 고딕"/>
                          <a:cs typeface="맑은 고딕"/>
                        </a:rPr>
                        <a:t>83</a:t>
                      </a:r>
                    </a:p>
                  </a:txBody>
                  <a:tcPr marL="73152" marR="73152" marT="27432" marB="27432">
                    <a:solidFill>
                      <a:srgbClr val="F6F9FC"/>
                    </a:solidFill>
                  </a:tcPr>
                </a:tc>
                <a:tc>
                  <a:txBody>
                    <a:bodyPr wrap="square"/>
                    <a:lstStyle/>
                    <a:p>
                      <a:r>
                        <a:rPr sz="1000" b="0" i="0">
                          <a:solidFill>
                            <a:srgbClr val="16202C"/>
                          </a:solidFill>
                          <a:latin typeface="Segoe UI"/>
                          <a:ea typeface="맑은 고딕"/>
                          <a:cs typeface="맑은 고딕"/>
                        </a:rPr>
                        <a:t>297</a:t>
                      </a:r>
                    </a:p>
                  </a:txBody>
                  <a:tcPr marL="73152" marR="73152" marT="27432" marB="27432">
                    <a:solidFill>
                      <a:srgbClr val="F6F9FC"/>
                    </a:solidFill>
                  </a:tcPr>
                </a:tc>
                <a:tc>
                  <a:txBody>
                    <a:bodyPr wrap="square"/>
                    <a:lstStyle/>
                    <a:p>
                      <a:r>
                        <a:rPr sz="1000" b="0" i="0">
                          <a:solidFill>
                            <a:srgbClr val="16202C"/>
                          </a:solidFill>
                          <a:latin typeface="Segoe UI"/>
                          <a:ea typeface="맑은 고딕"/>
                          <a:cs typeface="맑은 고딕"/>
                        </a:rPr>
                        <a:t>5.7s</a:t>
                      </a:r>
                    </a:p>
                  </a:txBody>
                  <a:tcPr marL="73152" marR="73152" marT="27432" marB="27432">
                    <a:solidFill>
                      <a:srgbClr val="F6F9FC"/>
                    </a:solidFill>
                  </a:tcPr>
                </a:tc>
                <a:tc>
                  <a:txBody>
                    <a:bodyPr wrap="square"/>
                    <a:lstStyle/>
                    <a:p>
                      <a:r>
                        <a:rPr sz="1000" b="0" i="0">
                          <a:solidFill>
                            <a:srgbClr val="16202C"/>
                          </a:solidFill>
                          <a:latin typeface="Segoe UI"/>
                          <a:ea typeface="맑은 고딕"/>
                          <a:cs typeface="맑은 고딕"/>
                        </a:rPr>
                        <a:t>정상</a:t>
                      </a:r>
                    </a:p>
                  </a:txBody>
                  <a:tcPr marL="73152" marR="73152" marT="27432" marB="27432">
                    <a:solidFill>
                      <a:srgbClr val="F6F9FC"/>
                    </a:solidFill>
                  </a:tcPr>
                </a:tc>
              </a:tr>
              <a:tr h="290322">
                <a:tc>
                  <a:txBody>
                    <a:bodyPr wrap="square"/>
                    <a:lstStyle/>
                    <a:p>
                      <a:r>
                        <a:rPr sz="1000" b="0" i="0">
                          <a:solidFill>
                            <a:srgbClr val="16202C"/>
                          </a:solidFill>
                          <a:latin typeface="Segoe UI"/>
                          <a:ea typeface="맑은 고딕"/>
                          <a:cs typeface="맑은 고딕"/>
                        </a:rPr>
                        <a:t>Qwen2.5 0.5B</a:t>
                      </a:r>
                    </a:p>
                  </a:txBody>
                  <a:tcPr marL="73152" marR="73152" marT="27432" marB="27432">
                    <a:solidFill>
                      <a:srgbClr val="FFFFFF"/>
                    </a:solidFill>
                  </a:tcPr>
                </a:tc>
                <a:tc>
                  <a:txBody>
                    <a:bodyPr wrap="square"/>
                    <a:lstStyle/>
                    <a:p>
                      <a:r>
                        <a:rPr sz="1000" b="0" i="0">
                          <a:solidFill>
                            <a:srgbClr val="16202C"/>
                          </a:solidFill>
                          <a:latin typeface="Segoe UI"/>
                          <a:ea typeface="맑은 고딕"/>
                          <a:cs typeface="맑은 고딕"/>
                        </a:rPr>
                        <a:t>1</a:t>
                      </a:r>
                    </a:p>
                  </a:txBody>
                  <a:tcPr marL="73152" marR="73152" marT="27432" marB="27432">
                    <a:solidFill>
                      <a:srgbClr val="FFFFFF"/>
                    </a:solidFill>
                  </a:tcPr>
                </a:tc>
                <a:tc>
                  <a:txBody>
                    <a:bodyPr wrap="square"/>
                    <a:lstStyle/>
                    <a:p>
                      <a:r>
                        <a:rPr sz="1000" b="0" i="0">
                          <a:solidFill>
                            <a:srgbClr val="16202C"/>
                          </a:solidFill>
                          <a:latin typeface="Segoe UI"/>
                          <a:ea typeface="맑은 고딕"/>
                          <a:cs typeface="맑은 고딕"/>
                        </a:rPr>
                        <a:t>3s</a:t>
                      </a:r>
                    </a:p>
                  </a:txBody>
                  <a:tcPr marL="73152" marR="73152" marT="27432" marB="27432">
                    <a:solidFill>
                      <a:srgbClr val="FFFFFF"/>
                    </a:solidFill>
                  </a:tcPr>
                </a:tc>
                <a:tc>
                  <a:txBody>
                    <a:bodyPr wrap="square"/>
                    <a:lstStyle/>
                    <a:p>
                      <a:r>
                        <a:rPr sz="1000" b="0" i="0">
                          <a:solidFill>
                            <a:srgbClr val="16202C"/>
                          </a:solidFill>
                          <a:latin typeface="Segoe UI"/>
                          <a:ea typeface="맑은 고딕"/>
                          <a:cs typeface="맑은 고딕"/>
                        </a:rPr>
                        <a:t>0.03</a:t>
                      </a:r>
                    </a:p>
                  </a:txBody>
                  <a:tcPr marL="73152" marR="73152" marT="27432" marB="27432">
                    <a:solidFill>
                      <a:srgbClr val="FFFFFF"/>
                    </a:solidFill>
                  </a:tcPr>
                </a:tc>
                <a:tc>
                  <a:txBody>
                    <a:bodyPr wrap="square"/>
                    <a:lstStyle/>
                    <a:p>
                      <a:r>
                        <a:rPr sz="1000" b="0" i="0">
                          <a:solidFill>
                            <a:srgbClr val="16202C"/>
                          </a:solidFill>
                          <a:latin typeface="Segoe UI"/>
                          <a:ea typeface="맑은 고딕"/>
                          <a:cs typeface="맑은 고딕"/>
                        </a:rPr>
                        <a:t>88</a:t>
                      </a:r>
                    </a:p>
                  </a:txBody>
                  <a:tcPr marL="73152" marR="73152" marT="27432" marB="27432">
                    <a:solidFill>
                      <a:srgbClr val="FFFFFF"/>
                    </a:solidFill>
                  </a:tcPr>
                </a:tc>
                <a:tc>
                  <a:txBody>
                    <a:bodyPr wrap="square"/>
                    <a:lstStyle/>
                    <a:p>
                      <a:r>
                        <a:rPr sz="1000" b="0" i="0">
                          <a:solidFill>
                            <a:srgbClr val="16202C"/>
                          </a:solidFill>
                          <a:latin typeface="Segoe UI"/>
                          <a:ea typeface="맑은 고딕"/>
                          <a:cs typeface="맑은 고딕"/>
                        </a:rPr>
                        <a:t>308</a:t>
                      </a:r>
                    </a:p>
                  </a:txBody>
                  <a:tcPr marL="73152" marR="73152" marT="27432" marB="27432">
                    <a:solidFill>
                      <a:srgbClr val="FFFFFF"/>
                    </a:solidFill>
                  </a:tcPr>
                </a:tc>
                <a:tc>
                  <a:txBody>
                    <a:bodyPr wrap="square"/>
                    <a:lstStyle/>
                    <a:p>
                      <a:r>
                        <a:rPr sz="1000" b="0" i="0">
                          <a:solidFill>
                            <a:srgbClr val="16202C"/>
                          </a:solidFill>
                          <a:latin typeface="Segoe UI"/>
                          <a:ea typeface="맑은 고딕"/>
                          <a:cs typeface="맑은 고딕"/>
                        </a:rPr>
                        <a:t>2.9s</a:t>
                      </a:r>
                    </a:p>
                  </a:txBody>
                  <a:tcPr marL="73152" marR="73152" marT="27432" marB="27432">
                    <a:solidFill>
                      <a:srgbClr val="FFFFFF"/>
                    </a:solidFill>
                  </a:tcPr>
                </a:tc>
                <a:tc>
                  <a:txBody>
                    <a:bodyPr wrap="square"/>
                    <a:lstStyle/>
                    <a:p>
                      <a:r>
                        <a:rPr sz="1000" b="0" i="0">
                          <a:solidFill>
                            <a:srgbClr val="16202C"/>
                          </a:solidFill>
                          <a:latin typeface="Segoe UI"/>
                          <a:ea typeface="맑은 고딕"/>
                          <a:cs typeface="맑은 고딕"/>
                        </a:rPr>
                        <a:t>정상</a:t>
                      </a:r>
                    </a:p>
                  </a:txBody>
                  <a:tcPr marL="73152" marR="73152" marT="27432" marB="27432">
                    <a:solidFill>
                      <a:srgbClr val="FFFFFF"/>
                    </a:solidFill>
                  </a:tcPr>
                </a:tc>
              </a:tr>
            </a:tbl>
          </a:graphicData>
        </a:graphic>
      </p:graphicFrame>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46304" cy="6858000"/>
          </a:xfrm>
          <a:prstGeom prst="rect">
            <a:avLst/>
          </a:prstGeom>
          <a:solidFill>
            <a:srgbClr val="0B5FC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3" name="TextBox 2"/>
          <p:cNvSpPr txBox="1"/>
          <p:nvPr/>
        </p:nvSpPr>
        <p:spPr>
          <a:xfrm>
            <a:off x="566928" y="384048"/>
            <a:ext cx="11057839" cy="713232"/>
          </a:xfrm>
          <a:prstGeom prst="rect">
            <a:avLst/>
          </a:prstGeom>
          <a:noFill/>
        </p:spPr>
        <p:txBody>
          <a:bodyPr wrap="square" anchor="t" lIns="0" rIns="0" tIns="0" bIns="0">
            <a:spAutoFit/>
          </a:bodyPr>
          <a:lstStyle/>
          <a:p>
            <a:pPr algn="l">
              <a:lnSpc>
                <a:spcPct val="118000"/>
              </a:lnSpc>
              <a:spcBef>
                <a:spcPts val="0"/>
              </a:spcBef>
              <a:spcAft>
                <a:spcPts val="0"/>
              </a:spcAft>
            </a:pPr>
            <a:r>
              <a:rPr sz="3000" b="1" i="0">
                <a:solidFill>
                  <a:srgbClr val="16202C"/>
                </a:solidFill>
                <a:latin typeface="Segoe UI"/>
                <a:ea typeface="맑은 고딕"/>
                <a:cs typeface="맑은 고딕"/>
              </a:rPr>
              <a:t>답변 요약</a:t>
            </a:r>
          </a:p>
        </p:txBody>
      </p:sp>
      <p:sp>
        <p:nvSpPr>
          <p:cNvPr id="4" name="TextBox 3"/>
          <p:cNvSpPr txBox="1"/>
          <p:nvPr/>
        </p:nvSpPr>
        <p:spPr>
          <a:xfrm>
            <a:off x="566928" y="1042416"/>
            <a:ext cx="11057839" cy="274320"/>
          </a:xfrm>
          <a:prstGeom prst="rect">
            <a:avLst/>
          </a:prstGeom>
          <a:noFill/>
        </p:spPr>
        <p:txBody>
          <a:bodyPr wrap="square" anchor="t" lIns="0" rIns="0" tIns="0" bIns="0">
            <a:spAutoFit/>
          </a:bodyPr>
          <a:lstStyle/>
          <a:p>
            <a:pPr algn="l">
              <a:lnSpc>
                <a:spcPct val="118000"/>
              </a:lnSpc>
              <a:spcBef>
                <a:spcPts val="0"/>
              </a:spcBef>
              <a:spcAft>
                <a:spcPts val="0"/>
              </a:spcAft>
            </a:pPr>
            <a:r>
              <a:rPr sz="1400" b="0" i="0">
                <a:solidFill>
                  <a:srgbClr val="5B6B7B"/>
                </a:solidFill>
                <a:latin typeface="Segoe UI"/>
                <a:ea typeface="맑은 고딕"/>
                <a:cs typeface="맑은 고딕"/>
              </a:rPr>
              <a:t>질문: 대한민국의 수도는 어디이고, 그 도시가 수도가 된 역사적 배경을 세 문장으로. 별표는 사고하는 모델</a:t>
            </a:r>
          </a:p>
        </p:txBody>
      </p:sp>
      <p:cxnSp>
        <p:nvCxnSpPr>
          <p:cNvPr id="5" name="Connector 4"/>
          <p:cNvCxnSpPr/>
          <p:nvPr/>
        </p:nvCxnSpPr>
        <p:spPr>
          <a:xfrm>
            <a:off x="566928" y="1408176"/>
            <a:ext cx="11057839" cy="0"/>
          </a:xfrm>
          <a:prstGeom prst="line">
            <a:avLst/>
          </a:prstGeom>
          <a:ln w="15875">
            <a:solidFill>
              <a:srgbClr val="D6DEE7"/>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566928" y="6455664"/>
            <a:ext cx="9686239" cy="219456"/>
          </a:xfrm>
          <a:prstGeom prst="rect">
            <a:avLst/>
          </a:prstGeom>
          <a:noFill/>
        </p:spPr>
        <p:txBody>
          <a:bodyPr wrap="square" anchor="t" lIns="0" rIns="0" tIns="0" bIns="0">
            <a:spAutoFit/>
          </a:bodyPr>
          <a:lstStyle/>
          <a:p>
            <a:pPr algn="l">
              <a:lnSpc>
                <a:spcPct val="118000"/>
              </a:lnSpc>
              <a:spcBef>
                <a:spcPts val="0"/>
              </a:spcBef>
              <a:spcAft>
                <a:spcPts val="0"/>
              </a:spcAft>
            </a:pPr>
            <a:r>
              <a:rPr sz="950" b="0" i="0">
                <a:solidFill>
                  <a:srgbClr val="5B6B7B"/>
                </a:solidFill>
                <a:latin typeface="Segoe UI"/>
                <a:ea typeface="맑은 고딕"/>
                <a:cs typeface="맑은 고딕"/>
              </a:rPr>
              <a:t>RNGD 4장 서버, 2026-08-29 실측</a:t>
            </a:r>
          </a:p>
        </p:txBody>
      </p:sp>
      <p:sp>
        <p:nvSpPr>
          <p:cNvPr id="7" name="TextBox 6"/>
          <p:cNvSpPr txBox="1"/>
          <p:nvPr/>
        </p:nvSpPr>
        <p:spPr>
          <a:xfrm>
            <a:off x="10527487" y="6455664"/>
            <a:ext cx="1097280" cy="219456"/>
          </a:xfrm>
          <a:prstGeom prst="rect">
            <a:avLst/>
          </a:prstGeom>
          <a:noFill/>
        </p:spPr>
        <p:txBody>
          <a:bodyPr wrap="square" anchor="t" lIns="0" rIns="0" tIns="0" bIns="0">
            <a:spAutoFit/>
          </a:bodyPr>
          <a:lstStyle/>
          <a:p>
            <a:pPr algn="r">
              <a:lnSpc>
                <a:spcPct val="118000"/>
              </a:lnSpc>
              <a:spcBef>
                <a:spcPts val="0"/>
              </a:spcBef>
              <a:spcAft>
                <a:spcPts val="0"/>
              </a:spcAft>
            </a:pPr>
            <a:r>
              <a:rPr sz="950" b="0" i="0">
                <a:solidFill>
                  <a:srgbClr val="5B6B7B"/>
                </a:solidFill>
                <a:latin typeface="Segoe UI"/>
                <a:ea typeface="맑은 고딕"/>
                <a:cs typeface="맑은 고딕"/>
              </a:rPr>
              <a:t>9</a:t>
            </a:r>
          </a:p>
        </p:txBody>
      </p:sp>
      <p:graphicFrame>
        <p:nvGraphicFramePr>
          <p:cNvPr id="8" name="Table 7"/>
          <p:cNvGraphicFramePr>
            <a:graphicFrameLocks noGrp="1"/>
          </p:cNvGraphicFramePr>
          <p:nvPr/>
        </p:nvGraphicFramePr>
        <p:xfrm>
          <a:off x="566928" y="1627632"/>
          <a:ext cx="11057839" cy="4645152"/>
        </p:xfrm>
        <a:graphic>
          <a:graphicData uri="http://schemas.openxmlformats.org/drawingml/2006/table">
            <a:tbl>
              <a:tblPr firstRow="1" bandRow="1">
                <a:tableStyleId>{5C22544A-7EE6-4342-B048-85BDC9FD1C3A}</a:tableStyleId>
              </a:tblPr>
              <a:tblGrid>
                <a:gridCol w="1899629"/>
                <a:gridCol w="8098417"/>
                <a:gridCol w="1059793"/>
              </a:tblGrid>
              <a:tr h="309676">
                <a:tc>
                  <a:txBody>
                    <a:bodyPr wrap="square"/>
                    <a:lstStyle/>
                    <a:p>
                      <a:r>
                        <a:rPr sz="900" b="1" i="0">
                          <a:solidFill>
                            <a:srgbClr val="FFFFFF"/>
                          </a:solidFill>
                          <a:latin typeface="Segoe UI"/>
                          <a:ea typeface="맑은 고딕"/>
                          <a:cs typeface="맑은 고딕"/>
                        </a:rPr>
                        <a:t>모델</a:t>
                      </a:r>
                    </a:p>
                  </a:txBody>
                  <a:tcPr marL="73152" marR="73152" marT="27432" marB="27432">
                    <a:solidFill>
                      <a:srgbClr val="0B5FC0"/>
                    </a:solidFill>
                  </a:tcPr>
                </a:tc>
                <a:tc>
                  <a:txBody>
                    <a:bodyPr wrap="square"/>
                    <a:lstStyle/>
                    <a:p>
                      <a:r>
                        <a:rPr sz="900" b="1" i="0">
                          <a:solidFill>
                            <a:srgbClr val="FFFFFF"/>
                          </a:solidFill>
                          <a:latin typeface="Segoe UI"/>
                          <a:ea typeface="맑은 고딕"/>
                          <a:cs typeface="맑은 고딕"/>
                        </a:rPr>
                        <a:t>답변 첫 줄</a:t>
                      </a:r>
                    </a:p>
                  </a:txBody>
                  <a:tcPr marL="73152" marR="73152" marT="27432" marB="27432">
                    <a:solidFill>
                      <a:srgbClr val="0B5FC0"/>
                    </a:solidFill>
                  </a:tcPr>
                </a:tc>
                <a:tc>
                  <a:txBody>
                    <a:bodyPr wrap="square"/>
                    <a:lstStyle/>
                    <a:p>
                      <a:r>
                        <a:rPr sz="900" b="1" i="0">
                          <a:solidFill>
                            <a:srgbClr val="FFFFFF"/>
                          </a:solidFill>
                          <a:latin typeface="Segoe UI"/>
                          <a:ea typeface="맑은 고딕"/>
                          <a:cs typeface="맑은 고딕"/>
                        </a:rPr>
                        <a:t>토큰</a:t>
                      </a:r>
                    </a:p>
                  </a:txBody>
                  <a:tcPr marL="73152" marR="73152" marT="27432" marB="27432">
                    <a:solidFill>
                      <a:srgbClr val="0B5FC0"/>
                    </a:solidFill>
                  </a:tcPr>
                </a:tc>
              </a:tr>
              <a:tr h="309676">
                <a:tc>
                  <a:txBody>
                    <a:bodyPr wrap="square"/>
                    <a:lstStyle/>
                    <a:p>
                      <a:r>
                        <a:rPr sz="900" b="0" i="0">
                          <a:solidFill>
                            <a:srgbClr val="16202C"/>
                          </a:solidFill>
                          <a:latin typeface="Segoe UI"/>
                          <a:ea typeface="맑은 고딕"/>
                          <a:cs typeface="맑은 고딕"/>
                        </a:rPr>
                        <a:t>gpt-oss 120B</a:t>
                      </a:r>
                    </a:p>
                  </a:txBody>
                  <a:tcPr marL="73152" marR="73152" marT="27432" marB="27432">
                    <a:solidFill>
                      <a:srgbClr val="FFFFFF"/>
                    </a:solidFill>
                  </a:tcPr>
                </a:tc>
                <a:tc>
                  <a:txBody>
                    <a:bodyPr wrap="square"/>
                    <a:lstStyle/>
                    <a:p>
                      <a:r>
                        <a:rPr sz="900" b="0" i="0">
                          <a:solidFill>
                            <a:srgbClr val="16202C"/>
                          </a:solidFill>
                          <a:latin typeface="Segoe UI"/>
                          <a:ea typeface="맑은 고딕"/>
                          <a:cs typeface="맑은 고딕"/>
                        </a:rPr>
                        <a:t>대한민국의 수도는 **서울**입니다.   조선 시대에 한양(현재의 서울)으로 정해진</a:t>
                      </a:r>
                    </a:p>
                  </a:txBody>
                  <a:tcPr marL="73152" marR="73152" marT="27432" marB="27432">
                    <a:solidFill>
                      <a:srgbClr val="FFFFFF"/>
                    </a:solidFill>
                  </a:tcPr>
                </a:tc>
                <a:tc>
                  <a:txBody>
                    <a:bodyPr wrap="square"/>
                    <a:lstStyle/>
                    <a:p>
                      <a:r>
                        <a:rPr sz="900" b="0" i="0">
                          <a:solidFill>
                            <a:srgbClr val="16202C"/>
                          </a:solidFill>
                          <a:latin typeface="Segoe UI"/>
                          <a:ea typeface="맑은 고딕"/>
                          <a:cs typeface="맑은 고딕"/>
                        </a:rPr>
                        <a:t>270</a:t>
                      </a:r>
                    </a:p>
                  </a:txBody>
                  <a:tcPr marL="73152" marR="73152" marT="27432" marB="27432">
                    <a:solidFill>
                      <a:srgbClr val="FFFFFF"/>
                    </a:solidFill>
                  </a:tcPr>
                </a:tc>
              </a:tr>
              <a:tr h="309676">
                <a:tc>
                  <a:txBody>
                    <a:bodyPr wrap="square"/>
                    <a:lstStyle/>
                    <a:p>
                      <a:r>
                        <a:rPr sz="900" b="0" i="0">
                          <a:solidFill>
                            <a:srgbClr val="16202C"/>
                          </a:solidFill>
                          <a:latin typeface="Segoe UI"/>
                          <a:ea typeface="맑은 고딕"/>
                          <a:cs typeface="맑은 고딕"/>
                        </a:rPr>
                        <a:t>Solar-Open 100B *</a:t>
                      </a:r>
                    </a:p>
                  </a:txBody>
                  <a:tcPr marL="73152" marR="73152" marT="27432" marB="27432">
                    <a:solidFill>
                      <a:srgbClr val="F6F9FC"/>
                    </a:solidFill>
                  </a:tcPr>
                </a:tc>
                <a:tc>
                  <a:txBody>
                    <a:bodyPr wrap="square"/>
                    <a:lstStyle/>
                    <a:p>
                      <a:r>
                        <a:rPr sz="900" b="0" i="0">
                          <a:solidFill>
                            <a:srgbClr val="16202C"/>
                          </a:solidFill>
                          <a:latin typeface="Segoe UI"/>
                          <a:ea typeface="맑은 고딕"/>
                          <a:cs typeface="맑은 고딕"/>
                        </a:rPr>
                        <a:t>대한민국의 수도는 서울입니다. 서울은 1394년 조선 태조 이성계가 한양으로 수도를</a:t>
                      </a:r>
                    </a:p>
                  </a:txBody>
                  <a:tcPr marL="73152" marR="73152" marT="27432" marB="27432">
                    <a:solidFill>
                      <a:srgbClr val="F6F9FC"/>
                    </a:solidFill>
                  </a:tcPr>
                </a:tc>
                <a:tc>
                  <a:txBody>
                    <a:bodyPr wrap="square"/>
                    <a:lstStyle/>
                    <a:p>
                      <a:r>
                        <a:rPr sz="900" b="0" i="0">
                          <a:solidFill>
                            <a:srgbClr val="16202C"/>
                          </a:solidFill>
                          <a:latin typeface="Segoe UI"/>
                          <a:ea typeface="맑은 고딕"/>
                          <a:cs typeface="맑은 고딕"/>
                        </a:rPr>
                        <a:t>188</a:t>
                      </a:r>
                    </a:p>
                  </a:txBody>
                  <a:tcPr marL="73152" marR="73152" marT="27432" marB="27432">
                    <a:solidFill>
                      <a:srgbClr val="F6F9FC"/>
                    </a:solidFill>
                  </a:tcPr>
                </a:tc>
              </a:tr>
              <a:tr h="309676">
                <a:tc>
                  <a:txBody>
                    <a:bodyPr wrap="square"/>
                    <a:lstStyle/>
                    <a:p>
                      <a:r>
                        <a:rPr sz="900" b="0" i="0">
                          <a:solidFill>
                            <a:srgbClr val="16202C"/>
                          </a:solidFill>
                          <a:latin typeface="Segoe UI"/>
                          <a:ea typeface="맑은 고딕"/>
                          <a:cs typeface="맑은 고딕"/>
                        </a:rPr>
                        <a:t>K-EXAONE 236B *</a:t>
                      </a:r>
                    </a:p>
                  </a:txBody>
                  <a:tcPr marL="73152" marR="73152" marT="27432" marB="27432">
                    <a:solidFill>
                      <a:srgbClr val="FFFFFF"/>
                    </a:solidFill>
                  </a:tcPr>
                </a:tc>
                <a:tc>
                  <a:txBody>
                    <a:bodyPr wrap="square"/>
                    <a:lstStyle/>
                    <a:p>
                      <a:r>
                        <a:rPr sz="900" b="0" i="0">
                          <a:solidFill>
                            <a:srgbClr val="16202C"/>
                          </a:solidFill>
                          <a:latin typeface="Segoe UI"/>
                          <a:ea typeface="맑은 고딕"/>
                          <a:cs typeface="맑은 고딕"/>
                        </a:rPr>
                        <a:t>사고만(예산 부족)</a:t>
                      </a:r>
                    </a:p>
                  </a:txBody>
                  <a:tcPr marL="73152" marR="73152" marT="27432" marB="27432">
                    <a:solidFill>
                      <a:srgbClr val="FFFFFF"/>
                    </a:solidFill>
                  </a:tcPr>
                </a:tc>
                <a:tc>
                  <a:txBody>
                    <a:bodyPr wrap="square"/>
                    <a:lstStyle/>
                    <a:p>
                      <a:r>
                        <a:rPr sz="900" b="0" i="0">
                          <a:solidFill>
                            <a:srgbClr val="16202C"/>
                          </a:solidFill>
                          <a:latin typeface="Segoe UI"/>
                          <a:ea typeface="맑은 고딕"/>
                          <a:cs typeface="맑은 고딕"/>
                        </a:rPr>
                        <a:t>1024</a:t>
                      </a:r>
                    </a:p>
                  </a:txBody>
                  <a:tcPr marL="73152" marR="73152" marT="27432" marB="27432">
                    <a:solidFill>
                      <a:srgbClr val="FFFFFF"/>
                    </a:solidFill>
                  </a:tcPr>
                </a:tc>
              </a:tr>
              <a:tr h="309676">
                <a:tc>
                  <a:txBody>
                    <a:bodyPr wrap="square"/>
                    <a:lstStyle/>
                    <a:p>
                      <a:r>
                        <a:rPr sz="900" b="0" i="0">
                          <a:solidFill>
                            <a:srgbClr val="16202C"/>
                          </a:solidFill>
                          <a:latin typeface="Segoe UI"/>
                          <a:ea typeface="맑은 고딕"/>
                          <a:cs typeface="맑은 고딕"/>
                        </a:rPr>
                        <a:t>Llama 3.3 70B</a:t>
                      </a:r>
                    </a:p>
                  </a:txBody>
                  <a:tcPr marL="73152" marR="73152" marT="27432" marB="27432">
                    <a:solidFill>
                      <a:srgbClr val="F6F9FC"/>
                    </a:solidFill>
                  </a:tcPr>
                </a:tc>
                <a:tc>
                  <a:txBody>
                    <a:bodyPr wrap="square"/>
                    <a:lstStyle/>
                    <a:p>
                      <a:r>
                        <a:rPr sz="900" b="0" i="0">
                          <a:solidFill>
                            <a:srgbClr val="16202C"/>
                          </a:solidFill>
                          <a:latin typeface="Segoe UI"/>
                          <a:ea typeface="맑은 고딕"/>
                          <a:cs typeface="맑은 고딕"/>
                        </a:rPr>
                        <a:t>대한민국의 수도는 서울입니다. 서울은 1394년 조선의 첫 번째 왕이던 태조 이성계</a:t>
                      </a:r>
                    </a:p>
                  </a:txBody>
                  <a:tcPr marL="73152" marR="73152" marT="27432" marB="27432">
                    <a:solidFill>
                      <a:srgbClr val="F6F9FC"/>
                    </a:solidFill>
                  </a:tcPr>
                </a:tc>
                <a:tc>
                  <a:txBody>
                    <a:bodyPr wrap="square"/>
                    <a:lstStyle/>
                    <a:p>
                      <a:r>
                        <a:rPr sz="900" b="0" i="0">
                          <a:solidFill>
                            <a:srgbClr val="16202C"/>
                          </a:solidFill>
                          <a:latin typeface="Segoe UI"/>
                          <a:ea typeface="맑은 고딕"/>
                          <a:cs typeface="맑은 고딕"/>
                        </a:rPr>
                        <a:t>107</a:t>
                      </a:r>
                    </a:p>
                  </a:txBody>
                  <a:tcPr marL="73152" marR="73152" marT="27432" marB="27432">
                    <a:solidFill>
                      <a:srgbClr val="F6F9FC"/>
                    </a:solidFill>
                  </a:tcPr>
                </a:tc>
              </a:tr>
              <a:tr h="309676">
                <a:tc>
                  <a:txBody>
                    <a:bodyPr wrap="square"/>
                    <a:lstStyle/>
                    <a:p>
                      <a:r>
                        <a:rPr sz="900" b="0" i="0">
                          <a:solidFill>
                            <a:srgbClr val="16202C"/>
                          </a:solidFill>
                          <a:latin typeface="Segoe UI"/>
                          <a:ea typeface="맑은 고딕"/>
                          <a:cs typeface="맑은 고딕"/>
                        </a:rPr>
                        <a:t>Qwen3 32B *</a:t>
                      </a:r>
                    </a:p>
                  </a:txBody>
                  <a:tcPr marL="73152" marR="73152" marT="27432" marB="27432">
                    <a:solidFill>
                      <a:srgbClr val="FFFFFF"/>
                    </a:solidFill>
                  </a:tcPr>
                </a:tc>
                <a:tc>
                  <a:txBody>
                    <a:bodyPr wrap="square"/>
                    <a:lstStyle/>
                    <a:p>
                      <a:r>
                        <a:rPr sz="900" b="0" i="0">
                          <a:solidFill>
                            <a:srgbClr val="16202C"/>
                          </a:solidFill>
                          <a:latin typeface="Segoe UI"/>
                          <a:ea typeface="맑은 고딕"/>
                          <a:cs typeface="맑은 고딕"/>
                        </a:rPr>
                        <a:t>대한민국의 수도는 서울입니다. 서울은 조선시대(1392~1897)부터 왕실의 도읍지</a:t>
                      </a:r>
                    </a:p>
                  </a:txBody>
                  <a:tcPr marL="73152" marR="73152" marT="27432" marB="27432">
                    <a:solidFill>
                      <a:srgbClr val="FFFFFF"/>
                    </a:solidFill>
                  </a:tcPr>
                </a:tc>
                <a:tc>
                  <a:txBody>
                    <a:bodyPr wrap="square"/>
                    <a:lstStyle/>
                    <a:p>
                      <a:r>
                        <a:rPr sz="900" b="0" i="0">
                          <a:solidFill>
                            <a:srgbClr val="16202C"/>
                          </a:solidFill>
                          <a:latin typeface="Segoe UI"/>
                          <a:ea typeface="맑은 고딕"/>
                          <a:cs typeface="맑은 고딕"/>
                        </a:rPr>
                        <a:t>458</a:t>
                      </a:r>
                    </a:p>
                  </a:txBody>
                  <a:tcPr marL="73152" marR="73152" marT="27432" marB="27432">
                    <a:solidFill>
                      <a:srgbClr val="FFFFFF"/>
                    </a:solidFill>
                  </a:tcPr>
                </a:tc>
              </a:tr>
              <a:tr h="309676">
                <a:tc>
                  <a:txBody>
                    <a:bodyPr wrap="square"/>
                    <a:lstStyle/>
                    <a:p>
                      <a:r>
                        <a:rPr sz="900" b="0" i="0">
                          <a:solidFill>
                            <a:srgbClr val="16202C"/>
                          </a:solidFill>
                          <a:latin typeface="Segoe UI"/>
                          <a:ea typeface="맑은 고딕"/>
                          <a:cs typeface="맑은 고딕"/>
                        </a:rPr>
                        <a:t>EXAONE 4.0 32B *</a:t>
                      </a:r>
                    </a:p>
                  </a:txBody>
                  <a:tcPr marL="73152" marR="73152" marT="27432" marB="27432">
                    <a:solidFill>
                      <a:srgbClr val="F6F9FC"/>
                    </a:solidFill>
                  </a:tcPr>
                </a:tc>
                <a:tc>
                  <a:txBody>
                    <a:bodyPr wrap="square"/>
                    <a:lstStyle/>
                    <a:p>
                      <a:r>
                        <a:rPr sz="900" b="0" i="0">
                          <a:solidFill>
                            <a:srgbClr val="16202C"/>
                          </a:solidFill>
                          <a:latin typeface="Segoe UI"/>
                          <a:ea typeface="맑은 고딕"/>
                          <a:cs typeface="맑은 고딕"/>
                        </a:rPr>
                        <a:t>대한민국의 수도는 **서울**이다.    1. **조선 시대(1394년)**: 태조</a:t>
                      </a:r>
                    </a:p>
                  </a:txBody>
                  <a:tcPr marL="73152" marR="73152" marT="27432" marB="27432">
                    <a:solidFill>
                      <a:srgbClr val="F6F9FC"/>
                    </a:solidFill>
                  </a:tcPr>
                </a:tc>
                <a:tc>
                  <a:txBody>
                    <a:bodyPr wrap="square"/>
                    <a:lstStyle/>
                    <a:p>
                      <a:r>
                        <a:rPr sz="900" b="0" i="0">
                          <a:solidFill>
                            <a:srgbClr val="16202C"/>
                          </a:solidFill>
                          <a:latin typeface="Segoe UI"/>
                          <a:ea typeface="맑은 고딕"/>
                          <a:cs typeface="맑은 고딕"/>
                        </a:rPr>
                        <a:t>133</a:t>
                      </a:r>
                    </a:p>
                  </a:txBody>
                  <a:tcPr marL="73152" marR="73152" marT="27432" marB="27432">
                    <a:solidFill>
                      <a:srgbClr val="F6F9FC"/>
                    </a:solidFill>
                  </a:tcPr>
                </a:tc>
              </a:tr>
              <a:tr h="309676">
                <a:tc>
                  <a:txBody>
                    <a:bodyPr wrap="square"/>
                    <a:lstStyle/>
                    <a:p>
                      <a:r>
                        <a:rPr sz="900" b="0" i="0">
                          <a:solidFill>
                            <a:srgbClr val="16202C"/>
                          </a:solidFill>
                          <a:latin typeface="Segoe UI"/>
                          <a:ea typeface="맑은 고딕"/>
                          <a:cs typeface="맑은 고딕"/>
                        </a:rPr>
                        <a:t>Qwen3-VL 32B</a:t>
                      </a:r>
                    </a:p>
                  </a:txBody>
                  <a:tcPr marL="73152" marR="73152" marT="27432" marB="27432">
                    <a:solidFill>
                      <a:srgbClr val="FFFFFF"/>
                    </a:solidFill>
                  </a:tcPr>
                </a:tc>
                <a:tc>
                  <a:txBody>
                    <a:bodyPr wrap="square"/>
                    <a:lstStyle/>
                    <a:p>
                      <a:r>
                        <a:rPr sz="900" b="0" i="0">
                          <a:solidFill>
                            <a:srgbClr val="16202C"/>
                          </a:solidFill>
                          <a:latin typeface="Segoe UI"/>
                          <a:ea typeface="맑은 고딕"/>
                          <a:cs typeface="맑은 고딕"/>
                        </a:rPr>
                        <a:t>대한민국의 수도는 서울이다. 서울은 고려 시대부터 수도로 사용되었고, 조선 시대에는</a:t>
                      </a:r>
                    </a:p>
                  </a:txBody>
                  <a:tcPr marL="73152" marR="73152" marT="27432" marB="27432">
                    <a:solidFill>
                      <a:srgbClr val="FFFFFF"/>
                    </a:solidFill>
                  </a:tcPr>
                </a:tc>
                <a:tc>
                  <a:txBody>
                    <a:bodyPr wrap="square"/>
                    <a:lstStyle/>
                    <a:p>
                      <a:r>
                        <a:rPr sz="900" b="0" i="0">
                          <a:solidFill>
                            <a:srgbClr val="16202C"/>
                          </a:solidFill>
                          <a:latin typeface="Segoe UI"/>
                          <a:ea typeface="맑은 고딕"/>
                          <a:cs typeface="맑은 고딕"/>
                        </a:rPr>
                        <a:t>85</a:t>
                      </a:r>
                    </a:p>
                  </a:txBody>
                  <a:tcPr marL="73152" marR="73152" marT="27432" marB="27432">
                    <a:solidFill>
                      <a:srgbClr val="FFFFFF"/>
                    </a:solidFill>
                  </a:tcPr>
                </a:tc>
              </a:tr>
              <a:tr h="309676">
                <a:tc>
                  <a:txBody>
                    <a:bodyPr wrap="square"/>
                    <a:lstStyle/>
                    <a:p>
                      <a:r>
                        <a:rPr sz="900" b="0" i="0">
                          <a:solidFill>
                            <a:srgbClr val="16202C"/>
                          </a:solidFill>
                          <a:latin typeface="Segoe UI"/>
                          <a:ea typeface="맑은 고딕"/>
                          <a:cs typeface="맑은 고딕"/>
                        </a:rPr>
                        <a:t>Qwen3-Coder 30B</a:t>
                      </a:r>
                    </a:p>
                  </a:txBody>
                  <a:tcPr marL="73152" marR="73152" marT="27432" marB="27432">
                    <a:solidFill>
                      <a:srgbClr val="F6F9FC"/>
                    </a:solidFill>
                  </a:tcPr>
                </a:tc>
                <a:tc>
                  <a:txBody>
                    <a:bodyPr wrap="square"/>
                    <a:lstStyle/>
                    <a:p>
                      <a:r>
                        <a:rPr sz="900" b="0" i="0">
                          <a:solidFill>
                            <a:srgbClr val="16202C"/>
                          </a:solidFill>
                          <a:latin typeface="Segoe UI"/>
                          <a:ea typeface="맑은 고딕"/>
                          <a:cs typeface="맑은 고딕"/>
                        </a:rPr>
                        <a:t>대한민국의 수도는 서울이다.   서울은 조선시대부터 중요한 정치, 문화 중심지였으며</a:t>
                      </a:r>
                    </a:p>
                  </a:txBody>
                  <a:tcPr marL="73152" marR="73152" marT="27432" marB="27432">
                    <a:solidFill>
                      <a:srgbClr val="F6F9FC"/>
                    </a:solidFill>
                  </a:tcPr>
                </a:tc>
                <a:tc>
                  <a:txBody>
                    <a:bodyPr wrap="square"/>
                    <a:lstStyle/>
                    <a:p>
                      <a:r>
                        <a:rPr sz="900" b="0" i="0">
                          <a:solidFill>
                            <a:srgbClr val="16202C"/>
                          </a:solidFill>
                          <a:latin typeface="Segoe UI"/>
                          <a:ea typeface="맑은 고딕"/>
                          <a:cs typeface="맑은 고딕"/>
                        </a:rPr>
                        <a:t>92</a:t>
                      </a:r>
                    </a:p>
                  </a:txBody>
                  <a:tcPr marL="73152" marR="73152" marT="27432" marB="27432">
                    <a:solidFill>
                      <a:srgbClr val="F6F9FC"/>
                    </a:solidFill>
                  </a:tcPr>
                </a:tc>
              </a:tr>
              <a:tr h="309676">
                <a:tc>
                  <a:txBody>
                    <a:bodyPr wrap="square"/>
                    <a:lstStyle/>
                    <a:p>
                      <a:r>
                        <a:rPr sz="900" b="0" i="0">
                          <a:solidFill>
                            <a:srgbClr val="16202C"/>
                          </a:solidFill>
                          <a:latin typeface="Segoe UI"/>
                          <a:ea typeface="맑은 고딕"/>
                          <a:cs typeface="맑은 고딕"/>
                        </a:rPr>
                        <a:t>A3B Instruct 2507</a:t>
                      </a:r>
                    </a:p>
                  </a:txBody>
                  <a:tcPr marL="73152" marR="73152" marT="27432" marB="27432">
                    <a:solidFill>
                      <a:srgbClr val="FFFFFF"/>
                    </a:solidFill>
                  </a:tcPr>
                </a:tc>
                <a:tc>
                  <a:txBody>
                    <a:bodyPr wrap="square"/>
                    <a:lstStyle/>
                    <a:p>
                      <a:r>
                        <a:rPr sz="900" b="0" i="0">
                          <a:solidFill>
                            <a:srgbClr val="16202C"/>
                          </a:solidFill>
                          <a:latin typeface="Segoe UI"/>
                          <a:ea typeface="맑은 고딕"/>
                          <a:cs typeface="맑은 고딕"/>
                        </a:rPr>
                        <a:t>대한민국의 수도는 서울이다.   1910년 한일합병 이후 일제강점기 동안 서울은 정</a:t>
                      </a:r>
                    </a:p>
                  </a:txBody>
                  <a:tcPr marL="73152" marR="73152" marT="27432" marB="27432">
                    <a:solidFill>
                      <a:srgbClr val="FFFFFF"/>
                    </a:solidFill>
                  </a:tcPr>
                </a:tc>
                <a:tc>
                  <a:txBody>
                    <a:bodyPr wrap="square"/>
                    <a:lstStyle/>
                    <a:p>
                      <a:r>
                        <a:rPr sz="900" b="0" i="0">
                          <a:solidFill>
                            <a:srgbClr val="16202C"/>
                          </a:solidFill>
                          <a:latin typeface="Segoe UI"/>
                          <a:ea typeface="맑은 고딕"/>
                          <a:cs typeface="맑은 고딕"/>
                        </a:rPr>
                        <a:t>100</a:t>
                      </a:r>
                    </a:p>
                  </a:txBody>
                  <a:tcPr marL="73152" marR="73152" marT="27432" marB="27432">
                    <a:solidFill>
                      <a:srgbClr val="FFFFFF"/>
                    </a:solidFill>
                  </a:tcPr>
                </a:tc>
              </a:tr>
              <a:tr h="309676">
                <a:tc>
                  <a:txBody>
                    <a:bodyPr wrap="square"/>
                    <a:lstStyle/>
                    <a:p>
                      <a:r>
                        <a:rPr sz="900" b="0" i="0">
                          <a:solidFill>
                            <a:srgbClr val="16202C"/>
                          </a:solidFill>
                          <a:latin typeface="Segoe UI"/>
                          <a:ea typeface="맑은 고딕"/>
                          <a:cs typeface="맑은 고딕"/>
                        </a:rPr>
                        <a:t>A3B Thinking 2507 *</a:t>
                      </a:r>
                    </a:p>
                  </a:txBody>
                  <a:tcPr marL="73152" marR="73152" marT="27432" marB="27432">
                    <a:solidFill>
                      <a:srgbClr val="F6F9FC"/>
                    </a:solidFill>
                  </a:tcPr>
                </a:tc>
                <a:tc>
                  <a:txBody>
                    <a:bodyPr wrap="square"/>
                    <a:lstStyle/>
                    <a:p>
                      <a:r>
                        <a:rPr sz="900" b="0" i="0">
                          <a:solidFill>
                            <a:srgbClr val="16202C"/>
                          </a:solidFill>
                          <a:latin typeface="Segoe UI"/>
                          <a:ea typeface="맑은 고딕"/>
                          <a:cs typeface="맑은 고딕"/>
                        </a:rPr>
                        <a:t>사고만(예산 부족)</a:t>
                      </a:r>
                    </a:p>
                  </a:txBody>
                  <a:tcPr marL="73152" marR="73152" marT="27432" marB="27432">
                    <a:solidFill>
                      <a:srgbClr val="F6F9FC"/>
                    </a:solidFill>
                  </a:tcPr>
                </a:tc>
                <a:tc>
                  <a:txBody>
                    <a:bodyPr wrap="square"/>
                    <a:lstStyle/>
                    <a:p>
                      <a:r>
                        <a:rPr sz="900" b="0" i="0">
                          <a:solidFill>
                            <a:srgbClr val="16202C"/>
                          </a:solidFill>
                          <a:latin typeface="Segoe UI"/>
                          <a:ea typeface="맑은 고딕"/>
                          <a:cs typeface="맑은 고딕"/>
                        </a:rPr>
                        <a:t>1024</a:t>
                      </a:r>
                    </a:p>
                  </a:txBody>
                  <a:tcPr marL="73152" marR="73152" marT="27432" marB="27432">
                    <a:solidFill>
                      <a:srgbClr val="F6F9FC"/>
                    </a:solidFill>
                  </a:tcPr>
                </a:tc>
              </a:tr>
              <a:tr h="309676">
                <a:tc>
                  <a:txBody>
                    <a:bodyPr wrap="square"/>
                    <a:lstStyle/>
                    <a:p>
                      <a:r>
                        <a:rPr sz="900" b="0" i="0">
                          <a:solidFill>
                            <a:srgbClr val="16202C"/>
                          </a:solidFill>
                          <a:latin typeface="Segoe UI"/>
                          <a:ea typeface="맑은 고딕"/>
                          <a:cs typeface="맑은 고딕"/>
                        </a:rPr>
                        <a:t>Llama 3.1 8B</a:t>
                      </a:r>
                    </a:p>
                  </a:txBody>
                  <a:tcPr marL="73152" marR="73152" marT="27432" marB="27432">
                    <a:solidFill>
                      <a:srgbClr val="FFFFFF"/>
                    </a:solidFill>
                  </a:tcPr>
                </a:tc>
                <a:tc>
                  <a:txBody>
                    <a:bodyPr wrap="square"/>
                    <a:lstStyle/>
                    <a:p>
                      <a:r>
                        <a:rPr sz="900" b="0" i="0">
                          <a:solidFill>
                            <a:srgbClr val="16202C"/>
                          </a:solidFill>
                          <a:latin typeface="Segoe UI"/>
                          <a:ea typeface="맑은 고딕"/>
                          <a:cs typeface="맑은 고딕"/>
                        </a:rPr>
                        <a:t>대한민국의 수도는 서울입니다.   서울은 1394년 조선 왕조가 수도로 정한 곳으로</a:t>
                      </a:r>
                    </a:p>
                  </a:txBody>
                  <a:tcPr marL="73152" marR="73152" marT="27432" marB="27432">
                    <a:solidFill>
                      <a:srgbClr val="FFFFFF"/>
                    </a:solidFill>
                  </a:tcPr>
                </a:tc>
                <a:tc>
                  <a:txBody>
                    <a:bodyPr wrap="square"/>
                    <a:lstStyle/>
                    <a:p>
                      <a:r>
                        <a:rPr sz="900" b="0" i="0">
                          <a:solidFill>
                            <a:srgbClr val="16202C"/>
                          </a:solidFill>
                          <a:latin typeface="Segoe UI"/>
                          <a:ea typeface="맑은 고딕"/>
                          <a:cs typeface="맑은 고딕"/>
                        </a:rPr>
                        <a:t>124</a:t>
                      </a:r>
                    </a:p>
                  </a:txBody>
                  <a:tcPr marL="73152" marR="73152" marT="27432" marB="27432">
                    <a:solidFill>
                      <a:srgbClr val="FFFFFF"/>
                    </a:solidFill>
                  </a:tcPr>
                </a:tc>
              </a:tr>
              <a:tr h="309676">
                <a:tc>
                  <a:txBody>
                    <a:bodyPr wrap="square"/>
                    <a:lstStyle/>
                    <a:p>
                      <a:r>
                        <a:rPr sz="900" b="0" i="0">
                          <a:solidFill>
                            <a:srgbClr val="16202C"/>
                          </a:solidFill>
                          <a:latin typeface="Segoe UI"/>
                          <a:ea typeface="맑은 고딕"/>
                          <a:cs typeface="맑은 고딕"/>
                        </a:rPr>
                        <a:t>Qwen3 8B</a:t>
                      </a:r>
                    </a:p>
                  </a:txBody>
                  <a:tcPr marL="73152" marR="73152" marT="27432" marB="27432">
                    <a:solidFill>
                      <a:srgbClr val="F6F9FC"/>
                    </a:solidFill>
                  </a:tcPr>
                </a:tc>
                <a:tc>
                  <a:txBody>
                    <a:bodyPr wrap="square"/>
                    <a:lstStyle/>
                    <a:p>
                      <a:r>
                        <a:rPr sz="900" b="0" i="0">
                          <a:solidFill>
                            <a:srgbClr val="16202C"/>
                          </a:solidFill>
                          <a:latin typeface="Segoe UI"/>
                          <a:ea typeface="맑은 고딕"/>
                          <a:cs typeface="맑은 고딕"/>
                        </a:rPr>
                        <a:t>대한민국의 수도는 서울입니다. 1394년 조선 왕조가 경기도 양주(현 서울)에 수도</a:t>
                      </a:r>
                    </a:p>
                  </a:txBody>
                  <a:tcPr marL="73152" marR="73152" marT="27432" marB="27432">
                    <a:solidFill>
                      <a:srgbClr val="F6F9FC"/>
                    </a:solidFill>
                  </a:tcPr>
                </a:tc>
                <a:tc>
                  <a:txBody>
                    <a:bodyPr wrap="square"/>
                    <a:lstStyle/>
                    <a:p>
                      <a:r>
                        <a:rPr sz="900" b="0" i="0">
                          <a:solidFill>
                            <a:srgbClr val="16202C"/>
                          </a:solidFill>
                          <a:latin typeface="Segoe UI"/>
                          <a:ea typeface="맑은 고딕"/>
                          <a:cs typeface="맑은 고딕"/>
                        </a:rPr>
                        <a:t>257</a:t>
                      </a:r>
                    </a:p>
                  </a:txBody>
                  <a:tcPr marL="73152" marR="73152" marT="27432" marB="27432">
                    <a:solidFill>
                      <a:srgbClr val="F6F9FC"/>
                    </a:solidFill>
                  </a:tcPr>
                </a:tc>
              </a:tr>
              <a:tr h="309676">
                <a:tc>
                  <a:txBody>
                    <a:bodyPr wrap="square"/>
                    <a:lstStyle/>
                    <a:p>
                      <a:r>
                        <a:rPr sz="900" b="0" i="0">
                          <a:solidFill>
                            <a:srgbClr val="16202C"/>
                          </a:solidFill>
                          <a:latin typeface="Segoe UI"/>
                          <a:ea typeface="맑은 고딕"/>
                          <a:cs typeface="맑은 고딕"/>
                        </a:rPr>
                        <a:t>Qwen3 4B</a:t>
                      </a:r>
                    </a:p>
                  </a:txBody>
                  <a:tcPr marL="73152" marR="73152" marT="27432" marB="27432">
                    <a:solidFill>
                      <a:srgbClr val="FFFFFF"/>
                    </a:solidFill>
                  </a:tcPr>
                </a:tc>
                <a:tc>
                  <a:txBody>
                    <a:bodyPr wrap="square"/>
                    <a:lstStyle/>
                    <a:p>
                      <a:r>
                        <a:rPr sz="900" b="0" i="0">
                          <a:solidFill>
                            <a:srgbClr val="16202C"/>
                          </a:solidFill>
                          <a:latin typeface="Segoe UI"/>
                          <a:ea typeface="맑은 고딕"/>
                          <a:cs typeface="맑은 고딕"/>
                        </a:rPr>
                        <a:t>대한민국의 수도는 서울이다. 1392년 조선 왕조가 수도를 서울로 이전하면서 정치,</a:t>
                      </a:r>
                    </a:p>
                  </a:txBody>
                  <a:tcPr marL="73152" marR="73152" marT="27432" marB="27432">
                    <a:solidFill>
                      <a:srgbClr val="FFFFFF"/>
                    </a:solidFill>
                  </a:tcPr>
                </a:tc>
                <a:tc>
                  <a:txBody>
                    <a:bodyPr wrap="square"/>
                    <a:lstStyle/>
                    <a:p>
                      <a:r>
                        <a:rPr sz="900" b="0" i="0">
                          <a:solidFill>
                            <a:srgbClr val="16202C"/>
                          </a:solidFill>
                          <a:latin typeface="Segoe UI"/>
                          <a:ea typeface="맑은 고딕"/>
                          <a:cs typeface="맑은 고딕"/>
                        </a:rPr>
                        <a:t>304</a:t>
                      </a:r>
                    </a:p>
                  </a:txBody>
                  <a:tcPr marL="73152" marR="73152" marT="27432" marB="27432">
                    <a:solidFill>
                      <a:srgbClr val="FFFFFF"/>
                    </a:solidFill>
                  </a:tcPr>
                </a:tc>
              </a:tr>
              <a:tr h="309688">
                <a:tc>
                  <a:txBody>
                    <a:bodyPr wrap="square"/>
                    <a:lstStyle/>
                    <a:p>
                      <a:r>
                        <a:rPr sz="900" b="0" i="0">
                          <a:solidFill>
                            <a:srgbClr val="16202C"/>
                          </a:solidFill>
                          <a:latin typeface="Segoe UI"/>
                          <a:ea typeface="맑은 고딕"/>
                          <a:cs typeface="맑은 고딕"/>
                        </a:rPr>
                        <a:t>Qwen2.5 0.5B</a:t>
                      </a:r>
                    </a:p>
                  </a:txBody>
                  <a:tcPr marL="73152" marR="73152" marT="27432" marB="27432">
                    <a:solidFill>
                      <a:srgbClr val="F6F9FC"/>
                    </a:solidFill>
                  </a:tcPr>
                </a:tc>
                <a:tc>
                  <a:txBody>
                    <a:bodyPr wrap="square"/>
                    <a:lstStyle/>
                    <a:p>
                      <a:r>
                        <a:rPr sz="900" b="0" i="0">
                          <a:solidFill>
                            <a:srgbClr val="16202C"/>
                          </a:solidFill>
                          <a:latin typeface="Segoe UI"/>
                          <a:ea typeface="맑은 고딕"/>
                          <a:cs typeface="맑은 고딕"/>
                        </a:rPr>
                        <a:t>대한민국의 수도는 서울입니다. 서울은 1950년 1월 1일에 도시화된 19세기의 도</a:t>
                      </a:r>
                    </a:p>
                  </a:txBody>
                  <a:tcPr marL="73152" marR="73152" marT="27432" marB="27432">
                    <a:solidFill>
                      <a:srgbClr val="F6F9FC"/>
                    </a:solidFill>
                  </a:tcPr>
                </a:tc>
                <a:tc>
                  <a:txBody>
                    <a:bodyPr wrap="square"/>
                    <a:lstStyle/>
                    <a:p>
                      <a:r>
                        <a:rPr sz="900" b="0" i="0">
                          <a:solidFill>
                            <a:srgbClr val="16202C"/>
                          </a:solidFill>
                          <a:latin typeface="Segoe UI"/>
                          <a:ea typeface="맑은 고딕"/>
                          <a:cs typeface="맑은 고딕"/>
                        </a:rPr>
                        <a:t>715</a:t>
                      </a:r>
                    </a:p>
                  </a:txBody>
                  <a:tcPr marL="73152" marR="73152" marT="27432" marB="27432">
                    <a:solidFill>
                      <a:srgbClr val="F6F9FC"/>
                    </a:solidFill>
                  </a:tcPr>
                </a:tc>
              </a:tr>
            </a:tbl>
          </a:graphicData>
        </a:graphic>
      </p:graphicFrame>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46304" cy="6858000"/>
          </a:xfrm>
          <a:prstGeom prst="rect">
            <a:avLst/>
          </a:prstGeom>
          <a:solidFill>
            <a:srgbClr val="0B5FC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3" name="TextBox 2"/>
          <p:cNvSpPr txBox="1"/>
          <p:nvPr/>
        </p:nvSpPr>
        <p:spPr>
          <a:xfrm>
            <a:off x="566928" y="384048"/>
            <a:ext cx="11057839" cy="713232"/>
          </a:xfrm>
          <a:prstGeom prst="rect">
            <a:avLst/>
          </a:prstGeom>
          <a:noFill/>
        </p:spPr>
        <p:txBody>
          <a:bodyPr wrap="square" anchor="t" lIns="0" rIns="0" tIns="0" bIns="0">
            <a:spAutoFit/>
          </a:bodyPr>
          <a:lstStyle/>
          <a:p>
            <a:pPr algn="l">
              <a:lnSpc>
                <a:spcPct val="118000"/>
              </a:lnSpc>
              <a:spcBef>
                <a:spcPts val="0"/>
              </a:spcBef>
              <a:spcAft>
                <a:spcPts val="0"/>
              </a:spcAft>
            </a:pPr>
            <a:r>
              <a:rPr sz="3000" b="1" i="0">
                <a:solidFill>
                  <a:srgbClr val="16202C"/>
                </a:solidFill>
                <a:latin typeface="Segoe UI"/>
                <a:ea typeface="맑은 고딕"/>
                <a:cs typeface="맑은 고딕"/>
              </a:rPr>
              <a:t>사용한 프롬프트 전문</a:t>
            </a:r>
          </a:p>
        </p:txBody>
      </p:sp>
      <p:cxnSp>
        <p:nvCxnSpPr>
          <p:cNvPr id="4" name="Connector 3"/>
          <p:cNvCxnSpPr/>
          <p:nvPr/>
        </p:nvCxnSpPr>
        <p:spPr>
          <a:xfrm>
            <a:off x="566928" y="1097280"/>
            <a:ext cx="11057839" cy="0"/>
          </a:xfrm>
          <a:prstGeom prst="line">
            <a:avLst/>
          </a:prstGeom>
          <a:ln w="15875">
            <a:solidFill>
              <a:srgbClr val="D6DEE7"/>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566928" y="6455664"/>
            <a:ext cx="9686239" cy="219456"/>
          </a:xfrm>
          <a:prstGeom prst="rect">
            <a:avLst/>
          </a:prstGeom>
          <a:noFill/>
        </p:spPr>
        <p:txBody>
          <a:bodyPr wrap="square" anchor="t" lIns="0" rIns="0" tIns="0" bIns="0">
            <a:spAutoFit/>
          </a:bodyPr>
          <a:lstStyle/>
          <a:p>
            <a:pPr algn="l">
              <a:lnSpc>
                <a:spcPct val="118000"/>
              </a:lnSpc>
              <a:spcBef>
                <a:spcPts val="0"/>
              </a:spcBef>
              <a:spcAft>
                <a:spcPts val="0"/>
              </a:spcAft>
            </a:pPr>
            <a:r>
              <a:rPr sz="950" b="0" i="0">
                <a:solidFill>
                  <a:srgbClr val="5B6B7B"/>
                </a:solidFill>
                <a:latin typeface="Segoe UI"/>
                <a:ea typeface="맑은 고딕"/>
                <a:cs typeface="맑은 고딕"/>
              </a:rPr>
              <a:t>RNGD 4장 서버, 2026-08-29 실측</a:t>
            </a:r>
          </a:p>
        </p:txBody>
      </p:sp>
      <p:sp>
        <p:nvSpPr>
          <p:cNvPr id="6" name="TextBox 5"/>
          <p:cNvSpPr txBox="1"/>
          <p:nvPr/>
        </p:nvSpPr>
        <p:spPr>
          <a:xfrm>
            <a:off x="10527487" y="6455664"/>
            <a:ext cx="1097280" cy="219456"/>
          </a:xfrm>
          <a:prstGeom prst="rect">
            <a:avLst/>
          </a:prstGeom>
          <a:noFill/>
        </p:spPr>
        <p:txBody>
          <a:bodyPr wrap="square" anchor="t" lIns="0" rIns="0" tIns="0" bIns="0">
            <a:spAutoFit/>
          </a:bodyPr>
          <a:lstStyle/>
          <a:p>
            <a:pPr algn="r">
              <a:lnSpc>
                <a:spcPct val="118000"/>
              </a:lnSpc>
              <a:spcBef>
                <a:spcPts val="0"/>
              </a:spcBef>
              <a:spcAft>
                <a:spcPts val="0"/>
              </a:spcAft>
            </a:pPr>
            <a:r>
              <a:rPr sz="950" b="0" i="0">
                <a:solidFill>
                  <a:srgbClr val="5B6B7B"/>
                </a:solidFill>
                <a:latin typeface="Segoe UI"/>
                <a:ea typeface="맑은 고딕"/>
                <a:cs typeface="맑은 고딕"/>
              </a:rPr>
              <a:t>10</a:t>
            </a:r>
          </a:p>
        </p:txBody>
      </p:sp>
      <p:sp>
        <p:nvSpPr>
          <p:cNvPr id="7" name="TextBox 6"/>
          <p:cNvSpPr txBox="1"/>
          <p:nvPr/>
        </p:nvSpPr>
        <p:spPr>
          <a:xfrm>
            <a:off x="566928" y="1316736"/>
            <a:ext cx="11057839" cy="237744"/>
          </a:xfrm>
          <a:prstGeom prst="rect">
            <a:avLst/>
          </a:prstGeom>
          <a:noFill/>
        </p:spPr>
        <p:txBody>
          <a:bodyPr wrap="square" anchor="t" lIns="0" rIns="0" tIns="0" bIns="0">
            <a:spAutoFit/>
          </a:bodyPr>
          <a:lstStyle/>
          <a:p>
            <a:pPr algn="l">
              <a:lnSpc>
                <a:spcPct val="118000"/>
              </a:lnSpc>
              <a:spcBef>
                <a:spcPts val="0"/>
              </a:spcBef>
              <a:spcAft>
                <a:spcPts val="0"/>
              </a:spcAft>
            </a:pPr>
            <a:r>
              <a:rPr sz="1250" b="1" i="0">
                <a:solidFill>
                  <a:srgbClr val="5B6B7B"/>
                </a:solidFill>
                <a:latin typeface="Segoe UI"/>
                <a:ea typeface="맑은 고딕"/>
                <a:cs typeface="맑은 고딕"/>
              </a:rPr>
              <a:t>네 종류를 모든 모델에 똑같이 던졌다. 이 문장 그대로다</a:t>
            </a:r>
          </a:p>
        </p:txBody>
      </p:sp>
      <p:sp>
        <p:nvSpPr>
          <p:cNvPr id="8" name="Rectangle 7"/>
          <p:cNvSpPr/>
          <p:nvPr/>
        </p:nvSpPr>
        <p:spPr>
          <a:xfrm>
            <a:off x="566928" y="1609344"/>
            <a:ext cx="11057839" cy="4663440"/>
          </a:xfrm>
          <a:prstGeom prst="rect">
            <a:avLst/>
          </a:prstGeom>
          <a:solidFill>
            <a:srgbClr val="0F1B2A"/>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201168" rIns="73152" tIns="128016" bIns="36576"/>
          <a:lstStyle/>
          <a:p>
            <a:pPr algn="l">
              <a:lnSpc>
                <a:spcPct val="124000"/>
              </a:lnSpc>
              <a:spcAft>
                <a:spcPts val="0"/>
              </a:spcAft>
            </a:pPr>
            <a:r>
              <a:rPr sz="1500" b="0" i="0">
                <a:solidFill>
                  <a:srgbClr val="7D91A8"/>
                </a:solidFill>
                <a:latin typeface="Consolas"/>
                <a:ea typeface="Consolas"/>
                <a:cs typeface="Consolas"/>
              </a:rPr>
              <a:t># 1. 사실 질문</a:t>
            </a:r>
          </a:p>
          <a:p>
            <a:pPr algn="l">
              <a:lnSpc>
                <a:spcPct val="124000"/>
              </a:lnSpc>
              <a:spcAft>
                <a:spcPts val="0"/>
              </a:spcAft>
            </a:pPr>
            <a:r>
              <a:rPr sz="1500" b="0" i="0">
                <a:solidFill>
                  <a:srgbClr val="E6EDF3"/>
                </a:solidFill>
                <a:latin typeface="Consolas"/>
                <a:ea typeface="Consolas"/>
                <a:cs typeface="Consolas"/>
              </a:rPr>
              <a:t>  대한민국의 수도는 어디이고, 그 도시가 수도가 된 역사적 배경을 세 문장으로</a:t>
            </a:r>
          </a:p>
          <a:p>
            <a:pPr algn="l">
              <a:lnSpc>
                <a:spcPct val="124000"/>
              </a:lnSpc>
              <a:spcAft>
                <a:spcPts val="0"/>
              </a:spcAft>
            </a:pPr>
            <a:r>
              <a:rPr sz="1500" b="0" i="0">
                <a:solidFill>
                  <a:srgbClr val="E6EDF3"/>
                </a:solidFill>
                <a:latin typeface="Consolas"/>
                <a:ea typeface="Consolas"/>
                <a:cs typeface="Consolas"/>
              </a:rPr>
              <a:t>  설명해줘.</a:t>
            </a:r>
          </a:p>
          <a:p>
            <a:pPr algn="l">
              <a:lnSpc>
                <a:spcPct val="124000"/>
              </a:lnSpc>
              <a:spcAft>
                <a:spcPts val="0"/>
              </a:spcAft>
            </a:pPr>
            <a:r>
              <a:rPr sz="1500" b="0" i="0">
                <a:solidFill>
                  <a:srgbClr val="E6EDF3"/>
                </a:solidFill>
                <a:latin typeface="Consolas"/>
                <a:ea typeface="Consolas"/>
                <a:cs typeface="Consolas"/>
              </a:rPr>
              <a:t> </a:t>
            </a:r>
          </a:p>
          <a:p>
            <a:pPr algn="l">
              <a:lnSpc>
                <a:spcPct val="124000"/>
              </a:lnSpc>
              <a:spcAft>
                <a:spcPts val="0"/>
              </a:spcAft>
            </a:pPr>
            <a:r>
              <a:rPr sz="1500" b="0" i="0">
                <a:solidFill>
                  <a:srgbClr val="7D91A8"/>
                </a:solidFill>
                <a:latin typeface="Consolas"/>
                <a:ea typeface="Consolas"/>
                <a:cs typeface="Consolas"/>
              </a:rPr>
              <a:t># 2. 코드 작성</a:t>
            </a:r>
          </a:p>
          <a:p>
            <a:pPr algn="l">
              <a:lnSpc>
                <a:spcPct val="124000"/>
              </a:lnSpc>
              <a:spcAft>
                <a:spcPts val="0"/>
              </a:spcAft>
            </a:pPr>
            <a:r>
              <a:rPr sz="1500" b="0" i="0">
                <a:solidFill>
                  <a:srgbClr val="E6EDF3"/>
                </a:solidFill>
                <a:latin typeface="Consolas"/>
                <a:ea typeface="Consolas"/>
                <a:cs typeface="Consolas"/>
              </a:rPr>
              <a:t>  파이썬으로 피보나치 수열의 n번째 항을 반복문으로 구하는 함수를 쓰고,</a:t>
            </a:r>
          </a:p>
          <a:p>
            <a:pPr algn="l">
              <a:lnSpc>
                <a:spcPct val="124000"/>
              </a:lnSpc>
              <a:spcAft>
                <a:spcPts val="0"/>
              </a:spcAft>
            </a:pPr>
            <a:r>
              <a:rPr sz="1500" b="0" i="0">
                <a:solidFill>
                  <a:srgbClr val="E6EDF3"/>
                </a:solidFill>
                <a:latin typeface="Consolas"/>
                <a:ea typeface="Consolas"/>
                <a:cs typeface="Consolas"/>
              </a:rPr>
              <a:t>  시간복잡도를 한 줄로 덧붙여줘.</a:t>
            </a:r>
          </a:p>
          <a:p>
            <a:pPr algn="l">
              <a:lnSpc>
                <a:spcPct val="124000"/>
              </a:lnSpc>
              <a:spcAft>
                <a:spcPts val="0"/>
              </a:spcAft>
            </a:pPr>
            <a:r>
              <a:rPr sz="1500" b="0" i="0">
                <a:solidFill>
                  <a:srgbClr val="E6EDF3"/>
                </a:solidFill>
                <a:latin typeface="Consolas"/>
                <a:ea typeface="Consolas"/>
                <a:cs typeface="Consolas"/>
              </a:rPr>
              <a:t> </a:t>
            </a:r>
          </a:p>
          <a:p>
            <a:pPr algn="l">
              <a:lnSpc>
                <a:spcPct val="124000"/>
              </a:lnSpc>
              <a:spcAft>
                <a:spcPts val="0"/>
              </a:spcAft>
            </a:pPr>
            <a:r>
              <a:rPr sz="1500" b="0" i="0">
                <a:solidFill>
                  <a:srgbClr val="7D91A8"/>
                </a:solidFill>
                <a:latin typeface="Consolas"/>
                <a:ea typeface="Consolas"/>
                <a:cs typeface="Consolas"/>
              </a:rPr>
              <a:t># 3. 계산 추론</a:t>
            </a:r>
          </a:p>
          <a:p>
            <a:pPr algn="l">
              <a:lnSpc>
                <a:spcPct val="124000"/>
              </a:lnSpc>
              <a:spcAft>
                <a:spcPts val="0"/>
              </a:spcAft>
            </a:pPr>
            <a:r>
              <a:rPr sz="1500" b="0" i="0">
                <a:solidFill>
                  <a:srgbClr val="E6EDF3"/>
                </a:solidFill>
                <a:latin typeface="Consolas"/>
                <a:ea typeface="Consolas"/>
                <a:cs typeface="Consolas"/>
              </a:rPr>
              <a:t>  한 상자에 사과가 12개 들어간다. 사과 100개를 담으려면 상자가 몇 개</a:t>
            </a:r>
          </a:p>
          <a:p>
            <a:pPr algn="l">
              <a:lnSpc>
                <a:spcPct val="124000"/>
              </a:lnSpc>
              <a:spcAft>
                <a:spcPts val="0"/>
              </a:spcAft>
            </a:pPr>
            <a:r>
              <a:rPr sz="1500" b="0" i="0">
                <a:solidFill>
                  <a:srgbClr val="E6EDF3"/>
                </a:solidFill>
                <a:latin typeface="Consolas"/>
                <a:ea typeface="Consolas"/>
                <a:cs typeface="Consolas"/>
              </a:rPr>
              <a:t>  필요하고 마지막 상자에는 몇 개가 남는지 계산 과정을 보여줘.</a:t>
            </a:r>
          </a:p>
          <a:p>
            <a:pPr algn="l">
              <a:lnSpc>
                <a:spcPct val="124000"/>
              </a:lnSpc>
              <a:spcAft>
                <a:spcPts val="0"/>
              </a:spcAft>
            </a:pPr>
            <a:r>
              <a:rPr sz="1500" b="0" i="0">
                <a:solidFill>
                  <a:srgbClr val="E6EDF3"/>
                </a:solidFill>
                <a:latin typeface="Consolas"/>
                <a:ea typeface="Consolas"/>
                <a:cs typeface="Consolas"/>
              </a:rPr>
              <a:t> </a:t>
            </a:r>
          </a:p>
          <a:p>
            <a:pPr algn="l">
              <a:lnSpc>
                <a:spcPct val="124000"/>
              </a:lnSpc>
              <a:spcAft>
                <a:spcPts val="0"/>
              </a:spcAft>
            </a:pPr>
            <a:r>
              <a:rPr sz="1500" b="0" i="0">
                <a:solidFill>
                  <a:srgbClr val="7D91A8"/>
                </a:solidFill>
                <a:latin typeface="Consolas"/>
                <a:ea typeface="Consolas"/>
                <a:cs typeface="Consolas"/>
              </a:rPr>
              <a:t># 4. 개념 설명</a:t>
            </a:r>
          </a:p>
          <a:p>
            <a:pPr algn="l">
              <a:lnSpc>
                <a:spcPct val="124000"/>
              </a:lnSpc>
              <a:spcAft>
                <a:spcPts val="0"/>
              </a:spcAft>
            </a:pPr>
            <a:r>
              <a:rPr sz="1500" b="0" i="0">
                <a:solidFill>
                  <a:srgbClr val="E6EDF3"/>
                </a:solidFill>
                <a:latin typeface="Consolas"/>
                <a:ea typeface="Consolas"/>
                <a:cs typeface="Consolas"/>
              </a:rPr>
              <a:t>  트랜스포머의 어텐션이 무엇인지 처음 배우는 사람에게 설명해줘. 비유를 하나</a:t>
            </a:r>
          </a:p>
          <a:p>
            <a:pPr algn="l">
              <a:lnSpc>
                <a:spcPct val="124000"/>
              </a:lnSpc>
              <a:spcAft>
                <a:spcPts val="0"/>
              </a:spcAft>
            </a:pPr>
            <a:r>
              <a:rPr sz="1500" b="0" i="0">
                <a:solidFill>
                  <a:srgbClr val="E6EDF3"/>
                </a:solidFill>
                <a:latin typeface="Consolas"/>
                <a:ea typeface="Consolas"/>
                <a:cs typeface="Consolas"/>
              </a:rPr>
              <a:t>  들고, 왜 순환신경망보다 병렬화에 유리한지도 말해줘.</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3" name="Rectangle 2"/>
          <p:cNvSpPr/>
          <p:nvPr/>
        </p:nvSpPr>
        <p:spPr>
          <a:xfrm>
            <a:off x="0" y="0"/>
            <a:ext cx="146304" cy="6858000"/>
          </a:xfrm>
          <a:prstGeom prst="rect">
            <a:avLst/>
          </a:prstGeom>
          <a:solidFill>
            <a:srgbClr val="0B5FC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4" name="TextBox 3"/>
          <p:cNvSpPr txBox="1"/>
          <p:nvPr/>
        </p:nvSpPr>
        <p:spPr>
          <a:xfrm>
            <a:off x="1005840" y="2148840"/>
            <a:ext cx="2377440" cy="1280160"/>
          </a:xfrm>
          <a:prstGeom prst="rect">
            <a:avLst/>
          </a:prstGeom>
          <a:noFill/>
        </p:spPr>
        <p:txBody>
          <a:bodyPr wrap="square" anchor="t" lIns="0" rIns="0" tIns="0" bIns="0">
            <a:spAutoFit/>
          </a:bodyPr>
          <a:lstStyle/>
          <a:p>
            <a:pPr algn="l">
              <a:lnSpc>
                <a:spcPct val="118000"/>
              </a:lnSpc>
              <a:spcBef>
                <a:spcPts val="0"/>
              </a:spcBef>
              <a:spcAft>
                <a:spcPts val="0"/>
              </a:spcAft>
            </a:pPr>
            <a:r>
              <a:rPr sz="8400" b="1" i="0">
                <a:solidFill>
                  <a:srgbClr val="C3D4E8"/>
                </a:solidFill>
                <a:latin typeface="Segoe UI"/>
                <a:ea typeface="맑은 고딕"/>
                <a:cs typeface="맑은 고딕"/>
              </a:rPr>
              <a:t>2</a:t>
            </a:r>
          </a:p>
        </p:txBody>
      </p:sp>
      <p:sp>
        <p:nvSpPr>
          <p:cNvPr id="5" name="TextBox 4"/>
          <p:cNvSpPr txBox="1"/>
          <p:nvPr/>
        </p:nvSpPr>
        <p:spPr>
          <a:xfrm>
            <a:off x="3017520" y="2331720"/>
            <a:ext cx="8168335" cy="914400"/>
          </a:xfrm>
          <a:prstGeom prst="rect">
            <a:avLst/>
          </a:prstGeom>
          <a:noFill/>
        </p:spPr>
        <p:txBody>
          <a:bodyPr wrap="square" anchor="t" lIns="0" rIns="0" tIns="0" bIns="0">
            <a:spAutoFit/>
          </a:bodyPr>
          <a:lstStyle/>
          <a:p>
            <a:pPr algn="l">
              <a:lnSpc>
                <a:spcPct val="118000"/>
              </a:lnSpc>
              <a:spcBef>
                <a:spcPts val="0"/>
              </a:spcBef>
              <a:spcAft>
                <a:spcPts val="0"/>
              </a:spcAft>
            </a:pPr>
            <a:r>
              <a:rPr sz="3600" b="1" i="0">
                <a:solidFill>
                  <a:srgbClr val="16202C"/>
                </a:solidFill>
                <a:latin typeface="Segoe UI"/>
                <a:ea typeface="맑은 고딕"/>
                <a:cs typeface="맑은 고딕"/>
              </a:rPr>
              <a:t>답변 원문</a:t>
            </a:r>
          </a:p>
        </p:txBody>
      </p:sp>
      <p:sp>
        <p:nvSpPr>
          <p:cNvPr id="6" name="TextBox 5"/>
          <p:cNvSpPr txBox="1"/>
          <p:nvPr/>
        </p:nvSpPr>
        <p:spPr>
          <a:xfrm>
            <a:off x="3017520" y="3310128"/>
            <a:ext cx="8168335" cy="1463040"/>
          </a:xfrm>
          <a:prstGeom prst="rect">
            <a:avLst/>
          </a:prstGeom>
          <a:noFill/>
        </p:spPr>
        <p:txBody>
          <a:bodyPr wrap="square" anchor="t" lIns="0" rIns="0" tIns="0" bIns="0">
            <a:spAutoFit/>
          </a:bodyPr>
          <a:lstStyle/>
          <a:p>
            <a:pPr algn="l">
              <a:lnSpc>
                <a:spcPct val="118000"/>
              </a:lnSpc>
              <a:spcBef>
                <a:spcPts val="0"/>
              </a:spcBef>
              <a:spcAft>
                <a:spcPts val="500"/>
              </a:spcAft>
            </a:pPr>
            <a:r>
              <a:rPr sz="1600" b="0" i="0">
                <a:solidFill>
                  <a:srgbClr val="5B6B7B"/>
                </a:solidFill>
                <a:latin typeface="Segoe UI"/>
                <a:ea typeface="맑은 고딕"/>
                <a:cs typeface="맑은 고딕"/>
              </a:rPr>
              <a:t>발췌하지 않고 모델이 낸 그대로</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46304" cy="6858000"/>
          </a:xfrm>
          <a:prstGeom prst="rect">
            <a:avLst/>
          </a:prstGeom>
          <a:solidFill>
            <a:srgbClr val="0B5FC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3" name="TextBox 2"/>
          <p:cNvSpPr txBox="1"/>
          <p:nvPr/>
        </p:nvSpPr>
        <p:spPr>
          <a:xfrm>
            <a:off x="566928" y="384048"/>
            <a:ext cx="11057839" cy="713232"/>
          </a:xfrm>
          <a:prstGeom prst="rect">
            <a:avLst/>
          </a:prstGeom>
          <a:noFill/>
        </p:spPr>
        <p:txBody>
          <a:bodyPr wrap="square" anchor="t" lIns="0" rIns="0" tIns="0" bIns="0">
            <a:spAutoFit/>
          </a:bodyPr>
          <a:lstStyle/>
          <a:p>
            <a:pPr algn="l">
              <a:lnSpc>
                <a:spcPct val="118000"/>
              </a:lnSpc>
              <a:spcBef>
                <a:spcPts val="0"/>
              </a:spcBef>
              <a:spcAft>
                <a:spcPts val="0"/>
              </a:spcAft>
            </a:pPr>
            <a:r>
              <a:rPr sz="3000" b="1" i="0">
                <a:solidFill>
                  <a:srgbClr val="16202C"/>
                </a:solidFill>
                <a:latin typeface="Segoe UI"/>
                <a:ea typeface="맑은 고딕"/>
                <a:cs typeface="맑은 고딕"/>
              </a:rPr>
              <a:t>답변 원문: 사실 질문 (1)</a:t>
            </a:r>
          </a:p>
        </p:txBody>
      </p:sp>
      <p:cxnSp>
        <p:nvCxnSpPr>
          <p:cNvPr id="4" name="Connector 3"/>
          <p:cNvCxnSpPr/>
          <p:nvPr/>
        </p:nvCxnSpPr>
        <p:spPr>
          <a:xfrm>
            <a:off x="566928" y="1097280"/>
            <a:ext cx="11057839" cy="0"/>
          </a:xfrm>
          <a:prstGeom prst="line">
            <a:avLst/>
          </a:prstGeom>
          <a:ln w="15875">
            <a:solidFill>
              <a:srgbClr val="D6DEE7"/>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566928" y="6455664"/>
            <a:ext cx="9686239" cy="219456"/>
          </a:xfrm>
          <a:prstGeom prst="rect">
            <a:avLst/>
          </a:prstGeom>
          <a:noFill/>
        </p:spPr>
        <p:txBody>
          <a:bodyPr wrap="square" anchor="t" lIns="0" rIns="0" tIns="0" bIns="0">
            <a:spAutoFit/>
          </a:bodyPr>
          <a:lstStyle/>
          <a:p>
            <a:pPr algn="l">
              <a:lnSpc>
                <a:spcPct val="118000"/>
              </a:lnSpc>
              <a:spcBef>
                <a:spcPts val="0"/>
              </a:spcBef>
              <a:spcAft>
                <a:spcPts val="0"/>
              </a:spcAft>
            </a:pPr>
            <a:r>
              <a:rPr sz="950" b="0" i="0">
                <a:solidFill>
                  <a:srgbClr val="5B6B7B"/>
                </a:solidFill>
                <a:latin typeface="Segoe UI"/>
                <a:ea typeface="맑은 고딕"/>
                <a:cs typeface="맑은 고딕"/>
              </a:rPr>
              <a:t>RNGD 4장 서버, 2026-08-29 실측</a:t>
            </a:r>
          </a:p>
        </p:txBody>
      </p:sp>
      <p:sp>
        <p:nvSpPr>
          <p:cNvPr id="6" name="TextBox 5"/>
          <p:cNvSpPr txBox="1"/>
          <p:nvPr/>
        </p:nvSpPr>
        <p:spPr>
          <a:xfrm>
            <a:off x="10527487" y="6455664"/>
            <a:ext cx="1097280" cy="219456"/>
          </a:xfrm>
          <a:prstGeom prst="rect">
            <a:avLst/>
          </a:prstGeom>
          <a:noFill/>
        </p:spPr>
        <p:txBody>
          <a:bodyPr wrap="square" anchor="t" lIns="0" rIns="0" tIns="0" bIns="0">
            <a:spAutoFit/>
          </a:bodyPr>
          <a:lstStyle/>
          <a:p>
            <a:pPr algn="r">
              <a:lnSpc>
                <a:spcPct val="118000"/>
              </a:lnSpc>
              <a:spcBef>
                <a:spcPts val="0"/>
              </a:spcBef>
              <a:spcAft>
                <a:spcPts val="0"/>
              </a:spcAft>
            </a:pPr>
            <a:r>
              <a:rPr sz="950" b="0" i="0">
                <a:solidFill>
                  <a:srgbClr val="5B6B7B"/>
                </a:solidFill>
                <a:latin typeface="Segoe UI"/>
                <a:ea typeface="맑은 고딕"/>
                <a:cs typeface="맑은 고딕"/>
              </a:rPr>
              <a:t>11</a:t>
            </a:r>
          </a:p>
        </p:txBody>
      </p:sp>
      <p:sp>
        <p:nvSpPr>
          <p:cNvPr id="7" name="TextBox 6"/>
          <p:cNvSpPr txBox="1"/>
          <p:nvPr/>
        </p:nvSpPr>
        <p:spPr>
          <a:xfrm>
            <a:off x="566928" y="1316736"/>
            <a:ext cx="11057839" cy="4956048"/>
          </a:xfrm>
          <a:prstGeom prst="rect">
            <a:avLst/>
          </a:prstGeom>
          <a:noFill/>
        </p:spPr>
        <p:txBody>
          <a:bodyPr wrap="square" anchor="t" lIns="0" rIns="0" tIns="0" bIns="0">
            <a:spAutoFit/>
          </a:bodyPr>
          <a:lstStyle/>
          <a:p>
            <a:pPr algn="l">
              <a:lnSpc>
                <a:spcPct val="118000"/>
              </a:lnSpc>
              <a:spcBef>
                <a:spcPts val="200"/>
              </a:spcBef>
              <a:spcAft>
                <a:spcPts val="200"/>
              </a:spcAft>
            </a:pPr>
            <a:r>
              <a:rPr sz="1700" b="0" i="0">
                <a:solidFill>
                  <a:srgbClr val="16202C"/>
                </a:solidFill>
                <a:latin typeface="Segoe UI"/>
                <a:ea typeface="맑은 고딕"/>
                <a:cs typeface="맑은 고딕"/>
              </a:rPr>
              <a:t>▪  gpt-oss 120B  (270tok)</a:t>
            </a:r>
          </a:p>
          <a:p>
            <a:pPr algn="l">
              <a:lnSpc>
                <a:spcPct val="118000"/>
              </a:lnSpc>
              <a:spcBef>
                <a:spcPts val="200"/>
              </a:spcBef>
              <a:spcAft>
                <a:spcPts val="100"/>
              </a:spcAft>
            </a:pPr>
            <a:r>
              <a:rPr sz="1580" b="0" i="0">
                <a:solidFill>
                  <a:srgbClr val="2C3A4B"/>
                </a:solidFill>
                <a:latin typeface="Segoe UI"/>
                <a:ea typeface="맑은 고딕"/>
                <a:cs typeface="맑은 고딕"/>
              </a:rPr>
              <a:t>–  대한민국의 수도는 **서울**입니다.   조선 시대에 한양(현재의 서울)으로 정해진 뒤, 일제 강점기와 해방을 거치며 행정, 경제, 문화의 중심지 역할을 지속했으며, 1948년 남한 정부 수립 시 공식적으로 수도가 확정되었습니다.   한국전쟁 후 1950년대 초반에 잠시 부산으로 임시 이전했지만, 1953년 전쟁이 종전되면서 다시 한반도 중심에 위치한 서울로 복귀해 현재까지 수도로 남아 있습니다.</a:t>
            </a:r>
          </a:p>
          <a:p>
            <a:pPr algn="l">
              <a:lnSpc>
                <a:spcPct val="118000"/>
              </a:lnSpc>
              <a:spcBef>
                <a:spcPts val="600"/>
              </a:spcBef>
              <a:spcAft>
                <a:spcPts val="200"/>
              </a:spcAft>
            </a:pPr>
            <a:r>
              <a:rPr sz="1700" b="0" i="0">
                <a:solidFill>
                  <a:srgbClr val="16202C"/>
                </a:solidFill>
                <a:latin typeface="Segoe UI"/>
                <a:ea typeface="맑은 고딕"/>
                <a:cs typeface="맑은 고딕"/>
              </a:rPr>
              <a:t>▪  Solar-Open 100B  (188tok)</a:t>
            </a:r>
          </a:p>
          <a:p>
            <a:pPr algn="l">
              <a:lnSpc>
                <a:spcPct val="118000"/>
              </a:lnSpc>
              <a:spcBef>
                <a:spcPts val="200"/>
              </a:spcBef>
              <a:spcAft>
                <a:spcPts val="100"/>
              </a:spcAft>
            </a:pPr>
            <a:r>
              <a:rPr sz="1580" b="0" i="0">
                <a:solidFill>
                  <a:srgbClr val="2C3A4B"/>
                </a:solidFill>
                <a:latin typeface="Segoe UI"/>
                <a:ea typeface="맑은 고딕"/>
                <a:cs typeface="맑은 고딕"/>
              </a:rPr>
              <a:t>–  대한민국의 수도는 서울입니다. 서울은 1394년 조선 태조 이성계가 한양으로 수도를 옮기면서 처음 수도가 되었으며, 이후 600년 이상 정치, 문화의 중심지로 기능해 왔습니다. 일제 강점기와 한국전쟁을 거치며 수도로서의 역할이 더욱 공고해졌고, 현재는 대한민국의 행정, 경제, 문화의 핵심 도시입니다.</a:t>
            </a:r>
          </a:p>
          <a:p>
            <a:pPr algn="l">
              <a:lnSpc>
                <a:spcPct val="118000"/>
              </a:lnSpc>
              <a:spcBef>
                <a:spcPts val="600"/>
              </a:spcBef>
              <a:spcAft>
                <a:spcPts val="200"/>
              </a:spcAft>
            </a:pPr>
            <a:r>
              <a:rPr sz="1700" b="0" i="0">
                <a:solidFill>
                  <a:srgbClr val="16202C"/>
                </a:solidFill>
                <a:latin typeface="Segoe UI"/>
                <a:ea typeface="맑은 고딕"/>
                <a:cs typeface="맑은 고딕"/>
              </a:rPr>
              <a:t>▪  K-EXAONE 236B  (1024tok)</a:t>
            </a:r>
          </a:p>
          <a:p>
            <a:pPr algn="l">
              <a:lnSpc>
                <a:spcPct val="118000"/>
              </a:lnSpc>
              <a:spcBef>
                <a:spcPts val="200"/>
              </a:spcBef>
              <a:spcAft>
                <a:spcPts val="100"/>
              </a:spcAft>
            </a:pPr>
            <a:r>
              <a:rPr sz="1580" b="0" i="0">
                <a:solidFill>
                  <a:srgbClr val="2C3A4B"/>
                </a:solidFill>
                <a:latin typeface="Segoe UI"/>
                <a:ea typeface="맑은 고딕"/>
                <a:cs typeface="맑은 고딕"/>
              </a:rPr>
              <a:t>–  (답변 없음 — 사고만 하고 예산이 끝났다)</a:t>
            </a:r>
          </a:p>
          <a:p>
            <a:pPr algn="l">
              <a:lnSpc>
                <a:spcPct val="118000"/>
              </a:lnSpc>
              <a:spcBef>
                <a:spcPts val="600"/>
              </a:spcBef>
              <a:spcAft>
                <a:spcPts val="200"/>
              </a:spcAft>
            </a:pPr>
            <a:r>
              <a:rPr sz="1700" b="0" i="0">
                <a:solidFill>
                  <a:srgbClr val="16202C"/>
                </a:solidFill>
                <a:latin typeface="Segoe UI"/>
                <a:ea typeface="맑은 고딕"/>
                <a:cs typeface="맑은 고딕"/>
              </a:rPr>
              <a:t>▪  Llama 3.3 70B  (107tok)</a:t>
            </a:r>
          </a:p>
          <a:p>
            <a:pPr algn="l">
              <a:lnSpc>
                <a:spcPct val="118000"/>
              </a:lnSpc>
              <a:spcBef>
                <a:spcPts val="200"/>
              </a:spcBef>
              <a:spcAft>
                <a:spcPts val="100"/>
              </a:spcAft>
            </a:pPr>
            <a:r>
              <a:rPr sz="1580" b="0" i="0">
                <a:solidFill>
                  <a:srgbClr val="2C3A4B"/>
                </a:solidFill>
                <a:latin typeface="Segoe UI"/>
                <a:ea typeface="맑은 고딕"/>
                <a:cs typeface="맑은 고딕"/>
              </a:rPr>
              <a:t>–  대한민국의 수도는 서울입니다. 서울은 1394년 조선의 첫 번째 왕이던 태조 이성계에 의해 한양으로 개칭되어 조선의 수도가 되었으며, 1910년부터 1945년까지 일본의 식민지 시기인 일제 강점기에는 경성부로 불리었습니다. 1948년 대한민국 정부가 수립되면서 서울로 이름이 바뀌었고, 현재까지 대한민국의 수도로 남아 있습니다.</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46304" cy="6858000"/>
          </a:xfrm>
          <a:prstGeom prst="rect">
            <a:avLst/>
          </a:prstGeom>
          <a:solidFill>
            <a:srgbClr val="0B5FC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3" name="TextBox 2"/>
          <p:cNvSpPr txBox="1"/>
          <p:nvPr/>
        </p:nvSpPr>
        <p:spPr>
          <a:xfrm>
            <a:off x="566928" y="384048"/>
            <a:ext cx="11057839" cy="713232"/>
          </a:xfrm>
          <a:prstGeom prst="rect">
            <a:avLst/>
          </a:prstGeom>
          <a:noFill/>
        </p:spPr>
        <p:txBody>
          <a:bodyPr wrap="square" anchor="t" lIns="0" rIns="0" tIns="0" bIns="0">
            <a:spAutoFit/>
          </a:bodyPr>
          <a:lstStyle/>
          <a:p>
            <a:pPr algn="l">
              <a:lnSpc>
                <a:spcPct val="118000"/>
              </a:lnSpc>
              <a:spcBef>
                <a:spcPts val="0"/>
              </a:spcBef>
              <a:spcAft>
                <a:spcPts val="0"/>
              </a:spcAft>
            </a:pPr>
            <a:r>
              <a:rPr sz="3000" b="1" i="0">
                <a:solidFill>
                  <a:srgbClr val="16202C"/>
                </a:solidFill>
                <a:latin typeface="Segoe UI"/>
                <a:ea typeface="맑은 고딕"/>
                <a:cs typeface="맑은 고딕"/>
              </a:rPr>
              <a:t>답변 원문: 사실 질문 (2)</a:t>
            </a:r>
          </a:p>
        </p:txBody>
      </p:sp>
      <p:cxnSp>
        <p:nvCxnSpPr>
          <p:cNvPr id="4" name="Connector 3"/>
          <p:cNvCxnSpPr/>
          <p:nvPr/>
        </p:nvCxnSpPr>
        <p:spPr>
          <a:xfrm>
            <a:off x="566928" y="1097280"/>
            <a:ext cx="11057839" cy="0"/>
          </a:xfrm>
          <a:prstGeom prst="line">
            <a:avLst/>
          </a:prstGeom>
          <a:ln w="15875">
            <a:solidFill>
              <a:srgbClr val="D6DEE7"/>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566928" y="6455664"/>
            <a:ext cx="9686239" cy="219456"/>
          </a:xfrm>
          <a:prstGeom prst="rect">
            <a:avLst/>
          </a:prstGeom>
          <a:noFill/>
        </p:spPr>
        <p:txBody>
          <a:bodyPr wrap="square" anchor="t" lIns="0" rIns="0" tIns="0" bIns="0">
            <a:spAutoFit/>
          </a:bodyPr>
          <a:lstStyle/>
          <a:p>
            <a:pPr algn="l">
              <a:lnSpc>
                <a:spcPct val="118000"/>
              </a:lnSpc>
              <a:spcBef>
                <a:spcPts val="0"/>
              </a:spcBef>
              <a:spcAft>
                <a:spcPts val="0"/>
              </a:spcAft>
            </a:pPr>
            <a:r>
              <a:rPr sz="950" b="0" i="0">
                <a:solidFill>
                  <a:srgbClr val="5B6B7B"/>
                </a:solidFill>
                <a:latin typeface="Segoe UI"/>
                <a:ea typeface="맑은 고딕"/>
                <a:cs typeface="맑은 고딕"/>
              </a:rPr>
              <a:t>RNGD 4장 서버, 2026-08-29 실측</a:t>
            </a:r>
          </a:p>
        </p:txBody>
      </p:sp>
      <p:sp>
        <p:nvSpPr>
          <p:cNvPr id="6" name="TextBox 5"/>
          <p:cNvSpPr txBox="1"/>
          <p:nvPr/>
        </p:nvSpPr>
        <p:spPr>
          <a:xfrm>
            <a:off x="10527487" y="6455664"/>
            <a:ext cx="1097280" cy="219456"/>
          </a:xfrm>
          <a:prstGeom prst="rect">
            <a:avLst/>
          </a:prstGeom>
          <a:noFill/>
        </p:spPr>
        <p:txBody>
          <a:bodyPr wrap="square" anchor="t" lIns="0" rIns="0" tIns="0" bIns="0">
            <a:spAutoFit/>
          </a:bodyPr>
          <a:lstStyle/>
          <a:p>
            <a:pPr algn="r">
              <a:lnSpc>
                <a:spcPct val="118000"/>
              </a:lnSpc>
              <a:spcBef>
                <a:spcPts val="0"/>
              </a:spcBef>
              <a:spcAft>
                <a:spcPts val="0"/>
              </a:spcAft>
            </a:pPr>
            <a:r>
              <a:rPr sz="950" b="0" i="0">
                <a:solidFill>
                  <a:srgbClr val="5B6B7B"/>
                </a:solidFill>
                <a:latin typeface="Segoe UI"/>
                <a:ea typeface="맑은 고딕"/>
                <a:cs typeface="맑은 고딕"/>
              </a:rPr>
              <a:t>12</a:t>
            </a:r>
          </a:p>
        </p:txBody>
      </p:sp>
      <p:sp>
        <p:nvSpPr>
          <p:cNvPr id="7" name="TextBox 6"/>
          <p:cNvSpPr txBox="1"/>
          <p:nvPr/>
        </p:nvSpPr>
        <p:spPr>
          <a:xfrm>
            <a:off x="566928" y="1316736"/>
            <a:ext cx="11057839" cy="4956048"/>
          </a:xfrm>
          <a:prstGeom prst="rect">
            <a:avLst/>
          </a:prstGeom>
          <a:noFill/>
        </p:spPr>
        <p:txBody>
          <a:bodyPr wrap="square" anchor="t" lIns="0" rIns="0" tIns="0" bIns="0">
            <a:spAutoFit/>
          </a:bodyPr>
          <a:lstStyle/>
          <a:p>
            <a:pPr algn="l">
              <a:lnSpc>
                <a:spcPct val="118000"/>
              </a:lnSpc>
              <a:spcBef>
                <a:spcPts val="200"/>
              </a:spcBef>
              <a:spcAft>
                <a:spcPts val="200"/>
              </a:spcAft>
            </a:pPr>
            <a:r>
              <a:rPr sz="1600" b="0" i="0">
                <a:solidFill>
                  <a:srgbClr val="16202C"/>
                </a:solidFill>
                <a:latin typeface="Segoe UI"/>
                <a:ea typeface="맑은 고딕"/>
                <a:cs typeface="맑은 고딕"/>
              </a:rPr>
              <a:t>▪  Qwen3 32B  (458tok)</a:t>
            </a:r>
          </a:p>
          <a:p>
            <a:pPr algn="l">
              <a:lnSpc>
                <a:spcPct val="118000"/>
              </a:lnSpc>
              <a:spcBef>
                <a:spcPts val="200"/>
              </a:spcBef>
              <a:spcAft>
                <a:spcPts val="100"/>
              </a:spcAft>
            </a:pPr>
            <a:r>
              <a:rPr sz="1480" b="0" i="0">
                <a:solidFill>
                  <a:srgbClr val="2C3A4B"/>
                </a:solidFill>
                <a:latin typeface="Segoe UI"/>
                <a:ea typeface="맑은 고딕"/>
                <a:cs typeface="맑은 고딕"/>
              </a:rPr>
              <a:t>–  대한민국의 수도는 서울입니다. 서울은 조선시대(1392~1897)부터 왕실의 도읍지로 역사적 중심지였으며, 1948년 대한민국 건국 당시 수도로 지정되었습니다. 한국전쟁(1950~1953) 중 잠시 부산으로 이전된 후, 1952년 수원으로 옮겨졌으나, 1963년 서울로 다시 복귀하여 현재까지 수도로 유지되고 있습니다.</a:t>
            </a:r>
          </a:p>
          <a:p>
            <a:pPr algn="l">
              <a:lnSpc>
                <a:spcPct val="118000"/>
              </a:lnSpc>
              <a:spcBef>
                <a:spcPts val="600"/>
              </a:spcBef>
              <a:spcAft>
                <a:spcPts val="200"/>
              </a:spcAft>
            </a:pPr>
            <a:r>
              <a:rPr sz="1600" b="0" i="0">
                <a:solidFill>
                  <a:srgbClr val="16202C"/>
                </a:solidFill>
                <a:latin typeface="Segoe UI"/>
                <a:ea typeface="맑은 고딕"/>
                <a:cs typeface="맑은 고딕"/>
              </a:rPr>
              <a:t>▪  EXAONE 4.0 32B  (133tok)</a:t>
            </a:r>
          </a:p>
          <a:p>
            <a:pPr algn="l">
              <a:lnSpc>
                <a:spcPct val="118000"/>
              </a:lnSpc>
              <a:spcBef>
                <a:spcPts val="200"/>
              </a:spcBef>
              <a:spcAft>
                <a:spcPts val="100"/>
              </a:spcAft>
            </a:pPr>
            <a:r>
              <a:rPr sz="1480" b="0" i="0">
                <a:solidFill>
                  <a:srgbClr val="2C3A4B"/>
                </a:solidFill>
                <a:latin typeface="Segoe UI"/>
                <a:ea typeface="맑은 고딕"/>
                <a:cs typeface="맑은 고딕"/>
              </a:rPr>
              <a:t>–  대한민국의 수도는 **서울**이다.    1. **조선 시대(1394년)**: 태조 이성계가 한양(현 서울)을 수도로 정하며 조선의 정치, 경제, 문화 중심지로 발전했다.   2. **일제 강점기(1910~1945년)**: 일본이 경성부(서울)를 식민지 행정 중심지로 활용하며 인프라가 확충되었다.   3. **대한민국 정부 수립(1948년)**: 해방 후 서울이 수도로 재확인되며 현대 대한민국의 핵심 도시로 자리매김했다.</a:t>
            </a:r>
          </a:p>
          <a:p>
            <a:pPr algn="l">
              <a:lnSpc>
                <a:spcPct val="118000"/>
              </a:lnSpc>
              <a:spcBef>
                <a:spcPts val="600"/>
              </a:spcBef>
              <a:spcAft>
                <a:spcPts val="200"/>
              </a:spcAft>
            </a:pPr>
            <a:r>
              <a:rPr sz="1600" b="0" i="0">
                <a:solidFill>
                  <a:srgbClr val="16202C"/>
                </a:solidFill>
                <a:latin typeface="Segoe UI"/>
                <a:ea typeface="맑은 고딕"/>
                <a:cs typeface="맑은 고딕"/>
              </a:rPr>
              <a:t>▪  Qwen3-VL 32B  (85tok)</a:t>
            </a:r>
          </a:p>
          <a:p>
            <a:pPr algn="l">
              <a:lnSpc>
                <a:spcPct val="118000"/>
              </a:lnSpc>
              <a:spcBef>
                <a:spcPts val="200"/>
              </a:spcBef>
              <a:spcAft>
                <a:spcPts val="100"/>
              </a:spcAft>
            </a:pPr>
            <a:r>
              <a:rPr sz="1480" b="0" i="0">
                <a:solidFill>
                  <a:srgbClr val="2C3A4B"/>
                </a:solidFill>
                <a:latin typeface="Segoe UI"/>
                <a:ea typeface="맑은 고딕"/>
                <a:cs typeface="맑은 고딕"/>
              </a:rPr>
              <a:t>–  대한민국의 수도는 서울이다. 서울은 고려 시대부터 수도로 사용되었고, 조선 시대에는 한양(漢陽)으로 불리며 정치, 문화의 중심지로 발전했다. 1948년 대한민국이 성립하면서 한양이 다시 서울로 명칭이 변경되었고, 이후 현재까지 수도로 유지되고 있다.</a:t>
            </a:r>
          </a:p>
          <a:p>
            <a:pPr algn="l">
              <a:lnSpc>
                <a:spcPct val="118000"/>
              </a:lnSpc>
              <a:spcBef>
                <a:spcPts val="600"/>
              </a:spcBef>
              <a:spcAft>
                <a:spcPts val="200"/>
              </a:spcAft>
            </a:pPr>
            <a:r>
              <a:rPr sz="1600" b="0" i="0">
                <a:solidFill>
                  <a:srgbClr val="16202C"/>
                </a:solidFill>
                <a:latin typeface="Segoe UI"/>
                <a:ea typeface="맑은 고딕"/>
                <a:cs typeface="맑은 고딕"/>
              </a:rPr>
              <a:t>▪  Qwen3-Coder 30B  (92tok)</a:t>
            </a:r>
          </a:p>
          <a:p>
            <a:pPr algn="l">
              <a:lnSpc>
                <a:spcPct val="118000"/>
              </a:lnSpc>
              <a:spcBef>
                <a:spcPts val="200"/>
              </a:spcBef>
              <a:spcAft>
                <a:spcPts val="100"/>
              </a:spcAft>
            </a:pPr>
            <a:r>
              <a:rPr sz="1480" b="0" i="0">
                <a:solidFill>
                  <a:srgbClr val="2C3A4B"/>
                </a:solidFill>
                <a:latin typeface="Segoe UI"/>
                <a:ea typeface="맑은 고딕"/>
                <a:cs typeface="맑은 고딕"/>
              </a:rPr>
              <a:t>–  대한민국의 수도는 서울이다.   서울은 조선시대부터 중요한 정치, 문화 중심지였으며, 1948년 대한민국이 설립되면서 정부 수반 도시로 지정되었다.   특히 1960년대 이후 경제개발과 함께 서울은 현대적인 대도시로 성장하며 국가의 중심지로 자리매김했다.</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46304" cy="6858000"/>
          </a:xfrm>
          <a:prstGeom prst="rect">
            <a:avLst/>
          </a:prstGeom>
          <a:solidFill>
            <a:srgbClr val="0B5FC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3" name="TextBox 2"/>
          <p:cNvSpPr txBox="1"/>
          <p:nvPr/>
        </p:nvSpPr>
        <p:spPr>
          <a:xfrm>
            <a:off x="566928" y="384048"/>
            <a:ext cx="11057839" cy="713232"/>
          </a:xfrm>
          <a:prstGeom prst="rect">
            <a:avLst/>
          </a:prstGeom>
          <a:noFill/>
        </p:spPr>
        <p:txBody>
          <a:bodyPr wrap="square" anchor="t" lIns="0" rIns="0" tIns="0" bIns="0">
            <a:spAutoFit/>
          </a:bodyPr>
          <a:lstStyle/>
          <a:p>
            <a:pPr algn="l">
              <a:lnSpc>
                <a:spcPct val="118000"/>
              </a:lnSpc>
              <a:spcBef>
                <a:spcPts val="0"/>
              </a:spcBef>
              <a:spcAft>
                <a:spcPts val="0"/>
              </a:spcAft>
            </a:pPr>
            <a:r>
              <a:rPr sz="3000" b="1" i="0">
                <a:solidFill>
                  <a:srgbClr val="16202C"/>
                </a:solidFill>
                <a:latin typeface="Segoe UI"/>
                <a:ea typeface="맑은 고딕"/>
                <a:cs typeface="맑은 고딕"/>
              </a:rPr>
              <a:t>답변 원문: 사실 질문 (3)</a:t>
            </a:r>
          </a:p>
        </p:txBody>
      </p:sp>
      <p:cxnSp>
        <p:nvCxnSpPr>
          <p:cNvPr id="4" name="Connector 3"/>
          <p:cNvCxnSpPr/>
          <p:nvPr/>
        </p:nvCxnSpPr>
        <p:spPr>
          <a:xfrm>
            <a:off x="566928" y="1097280"/>
            <a:ext cx="11057839" cy="0"/>
          </a:xfrm>
          <a:prstGeom prst="line">
            <a:avLst/>
          </a:prstGeom>
          <a:ln w="15875">
            <a:solidFill>
              <a:srgbClr val="D6DEE7"/>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566928" y="6455664"/>
            <a:ext cx="9686239" cy="219456"/>
          </a:xfrm>
          <a:prstGeom prst="rect">
            <a:avLst/>
          </a:prstGeom>
          <a:noFill/>
        </p:spPr>
        <p:txBody>
          <a:bodyPr wrap="square" anchor="t" lIns="0" rIns="0" tIns="0" bIns="0">
            <a:spAutoFit/>
          </a:bodyPr>
          <a:lstStyle/>
          <a:p>
            <a:pPr algn="l">
              <a:lnSpc>
                <a:spcPct val="118000"/>
              </a:lnSpc>
              <a:spcBef>
                <a:spcPts val="0"/>
              </a:spcBef>
              <a:spcAft>
                <a:spcPts val="0"/>
              </a:spcAft>
            </a:pPr>
            <a:r>
              <a:rPr sz="950" b="0" i="0">
                <a:solidFill>
                  <a:srgbClr val="5B6B7B"/>
                </a:solidFill>
                <a:latin typeface="Segoe UI"/>
                <a:ea typeface="맑은 고딕"/>
                <a:cs typeface="맑은 고딕"/>
              </a:rPr>
              <a:t>RNGD 4장 서버, 2026-08-29 실측</a:t>
            </a:r>
          </a:p>
        </p:txBody>
      </p:sp>
      <p:sp>
        <p:nvSpPr>
          <p:cNvPr id="6" name="TextBox 5"/>
          <p:cNvSpPr txBox="1"/>
          <p:nvPr/>
        </p:nvSpPr>
        <p:spPr>
          <a:xfrm>
            <a:off x="10527487" y="6455664"/>
            <a:ext cx="1097280" cy="219456"/>
          </a:xfrm>
          <a:prstGeom prst="rect">
            <a:avLst/>
          </a:prstGeom>
          <a:noFill/>
        </p:spPr>
        <p:txBody>
          <a:bodyPr wrap="square" anchor="t" lIns="0" rIns="0" tIns="0" bIns="0">
            <a:spAutoFit/>
          </a:bodyPr>
          <a:lstStyle/>
          <a:p>
            <a:pPr algn="r">
              <a:lnSpc>
                <a:spcPct val="118000"/>
              </a:lnSpc>
              <a:spcBef>
                <a:spcPts val="0"/>
              </a:spcBef>
              <a:spcAft>
                <a:spcPts val="0"/>
              </a:spcAft>
            </a:pPr>
            <a:r>
              <a:rPr sz="950" b="0" i="0">
                <a:solidFill>
                  <a:srgbClr val="5B6B7B"/>
                </a:solidFill>
                <a:latin typeface="Segoe UI"/>
                <a:ea typeface="맑은 고딕"/>
                <a:cs typeface="맑은 고딕"/>
              </a:rPr>
              <a:t>13</a:t>
            </a:r>
          </a:p>
        </p:txBody>
      </p:sp>
      <p:sp>
        <p:nvSpPr>
          <p:cNvPr id="7" name="TextBox 6"/>
          <p:cNvSpPr txBox="1"/>
          <p:nvPr/>
        </p:nvSpPr>
        <p:spPr>
          <a:xfrm>
            <a:off x="566928" y="1316736"/>
            <a:ext cx="11057839" cy="4956048"/>
          </a:xfrm>
          <a:prstGeom prst="rect">
            <a:avLst/>
          </a:prstGeom>
          <a:noFill/>
        </p:spPr>
        <p:txBody>
          <a:bodyPr wrap="square" anchor="t" lIns="0" rIns="0" tIns="0" bIns="0">
            <a:spAutoFit/>
          </a:bodyPr>
          <a:lstStyle/>
          <a:p>
            <a:pPr algn="l">
              <a:lnSpc>
                <a:spcPct val="118000"/>
              </a:lnSpc>
              <a:spcBef>
                <a:spcPts val="200"/>
              </a:spcBef>
              <a:spcAft>
                <a:spcPts val="200"/>
              </a:spcAft>
            </a:pPr>
            <a:r>
              <a:rPr sz="1400" b="0" i="0">
                <a:solidFill>
                  <a:srgbClr val="16202C"/>
                </a:solidFill>
                <a:latin typeface="Segoe UI"/>
                <a:ea typeface="맑은 고딕"/>
                <a:cs typeface="맑은 고딕"/>
              </a:rPr>
              <a:t>▪  A3B Instruct 2507  (100tok)</a:t>
            </a:r>
          </a:p>
          <a:p>
            <a:pPr algn="l">
              <a:lnSpc>
                <a:spcPct val="118000"/>
              </a:lnSpc>
              <a:spcBef>
                <a:spcPts val="200"/>
              </a:spcBef>
              <a:spcAft>
                <a:spcPts val="100"/>
              </a:spcAft>
            </a:pPr>
            <a:r>
              <a:rPr sz="1280" b="0" i="0">
                <a:solidFill>
                  <a:srgbClr val="2C3A4B"/>
                </a:solidFill>
                <a:latin typeface="Segoe UI"/>
                <a:ea typeface="맑은 고딕"/>
                <a:cs typeface="맑은 고딕"/>
              </a:rPr>
              <a:t>–  대한민국의 수도는 서울이다.   1910년 한일합병 이후 일제강점기 동안 서울은 정치, 경제, 문화의 중심지로 유지되었고, 1948년 대한민국이 수립되면서 서울이 공식적으로 수도로 결정되었다.   이후 서울은 국가의 행정 중심지로서 지속적으로 발전하며, 한국의 상징적인 도시로 자리 잡았다.</a:t>
            </a:r>
          </a:p>
          <a:p>
            <a:pPr algn="l">
              <a:lnSpc>
                <a:spcPct val="118000"/>
              </a:lnSpc>
              <a:spcBef>
                <a:spcPts val="600"/>
              </a:spcBef>
              <a:spcAft>
                <a:spcPts val="200"/>
              </a:spcAft>
            </a:pPr>
            <a:r>
              <a:rPr sz="1400" b="0" i="0">
                <a:solidFill>
                  <a:srgbClr val="16202C"/>
                </a:solidFill>
                <a:latin typeface="Segoe UI"/>
                <a:ea typeface="맑은 고딕"/>
                <a:cs typeface="맑은 고딕"/>
              </a:rPr>
              <a:t>▪  A3B Thinking 2507  (1024tok)</a:t>
            </a:r>
          </a:p>
          <a:p>
            <a:pPr algn="l">
              <a:lnSpc>
                <a:spcPct val="118000"/>
              </a:lnSpc>
              <a:spcBef>
                <a:spcPts val="200"/>
              </a:spcBef>
              <a:spcAft>
                <a:spcPts val="100"/>
              </a:spcAft>
            </a:pPr>
            <a:r>
              <a:rPr sz="1280" b="0" i="0">
                <a:solidFill>
                  <a:srgbClr val="2C3A4B"/>
                </a:solidFill>
                <a:latin typeface="Segoe UI"/>
                <a:ea typeface="맑은 고딕"/>
                <a:cs typeface="맑은 고딕"/>
              </a:rPr>
              <a:t>–  (답변 없음 — 사고만 하고 예산이 끝났다)</a:t>
            </a:r>
          </a:p>
          <a:p>
            <a:pPr algn="l">
              <a:lnSpc>
                <a:spcPct val="118000"/>
              </a:lnSpc>
              <a:spcBef>
                <a:spcPts val="600"/>
              </a:spcBef>
              <a:spcAft>
                <a:spcPts val="200"/>
              </a:spcAft>
            </a:pPr>
            <a:r>
              <a:rPr sz="1400" b="0" i="0">
                <a:solidFill>
                  <a:srgbClr val="16202C"/>
                </a:solidFill>
                <a:latin typeface="Segoe UI"/>
                <a:ea typeface="맑은 고딕"/>
                <a:cs typeface="맑은 고딕"/>
              </a:rPr>
              <a:t>▪  Llama 3.1 8B  (124tok)</a:t>
            </a:r>
          </a:p>
          <a:p>
            <a:pPr algn="l">
              <a:lnSpc>
                <a:spcPct val="118000"/>
              </a:lnSpc>
              <a:spcBef>
                <a:spcPts val="200"/>
              </a:spcBef>
              <a:spcAft>
                <a:spcPts val="100"/>
              </a:spcAft>
            </a:pPr>
            <a:r>
              <a:rPr sz="1280" b="0" i="0">
                <a:solidFill>
                  <a:srgbClr val="2C3A4B"/>
                </a:solidFill>
                <a:latin typeface="Segoe UI"/>
                <a:ea typeface="맑은 고딕"/>
                <a:cs typeface="맑은 고딕"/>
              </a:rPr>
              <a:t>–  대한민국의 수도는 서울입니다.   서울은 1394년 조선 왕조가 수도로 정한 곳으로, 그 이전에는 고려 시대에 수도였던 한양의 지명이기도 합니다.   조선 시대에 서울은 한양으로 불렸으며, 1910년 일제가 대한제국을 침공한 후에는 경성으로 이름이 바뀌었습니다. 1948년 대한민국이 수립된 후, 1949년 8월 15일 서울은 대한민국의 수도로 공식적으로 선정되었습니다.</a:t>
            </a:r>
          </a:p>
          <a:p>
            <a:pPr algn="l">
              <a:lnSpc>
                <a:spcPct val="118000"/>
              </a:lnSpc>
              <a:spcBef>
                <a:spcPts val="600"/>
              </a:spcBef>
              <a:spcAft>
                <a:spcPts val="200"/>
              </a:spcAft>
            </a:pPr>
            <a:r>
              <a:rPr sz="1400" b="0" i="0">
                <a:solidFill>
                  <a:srgbClr val="16202C"/>
                </a:solidFill>
                <a:latin typeface="Segoe UI"/>
                <a:ea typeface="맑은 고딕"/>
                <a:cs typeface="맑은 고딕"/>
              </a:rPr>
              <a:t>▪  Qwen3 8B  (257tok)</a:t>
            </a:r>
          </a:p>
          <a:p>
            <a:pPr algn="l">
              <a:lnSpc>
                <a:spcPct val="118000"/>
              </a:lnSpc>
              <a:spcBef>
                <a:spcPts val="200"/>
              </a:spcBef>
              <a:spcAft>
                <a:spcPts val="100"/>
              </a:spcAft>
            </a:pPr>
            <a:r>
              <a:rPr sz="1280" b="0" i="0">
                <a:solidFill>
                  <a:srgbClr val="2C3A4B"/>
                </a:solidFill>
                <a:latin typeface="Segoe UI"/>
                <a:ea typeface="맑은 고딕"/>
                <a:cs typeface="맑은 고딕"/>
              </a:rPr>
              <a:t>–  대한민국의 수도는 서울입니다. 1394년 조선 왕조가 경기도 양주(현 서울)에 수도를 이전하면서 서울이 정치적 중심지로 자리 잡았습니다. 이후 한국 전쟁 중 대한민국 정부가 서울을 수도로 삼아 민주주의와 현대화의 상징으로 발전시켰습니다.</a:t>
            </a:r>
          </a:p>
          <a:p>
            <a:pPr algn="l">
              <a:lnSpc>
                <a:spcPct val="118000"/>
              </a:lnSpc>
              <a:spcBef>
                <a:spcPts val="600"/>
              </a:spcBef>
              <a:spcAft>
                <a:spcPts val="200"/>
              </a:spcAft>
            </a:pPr>
            <a:r>
              <a:rPr sz="1400" b="0" i="0">
                <a:solidFill>
                  <a:srgbClr val="16202C"/>
                </a:solidFill>
                <a:latin typeface="Segoe UI"/>
                <a:ea typeface="맑은 고딕"/>
                <a:cs typeface="맑은 고딕"/>
              </a:rPr>
              <a:t>▪  Qwen3 4B  (304tok)</a:t>
            </a:r>
          </a:p>
          <a:p>
            <a:pPr algn="l">
              <a:lnSpc>
                <a:spcPct val="118000"/>
              </a:lnSpc>
              <a:spcBef>
                <a:spcPts val="200"/>
              </a:spcBef>
              <a:spcAft>
                <a:spcPts val="100"/>
              </a:spcAft>
            </a:pPr>
            <a:r>
              <a:rPr sz="1280" b="0" i="0">
                <a:solidFill>
                  <a:srgbClr val="2C3A4B"/>
                </a:solidFill>
                <a:latin typeface="Segoe UI"/>
                <a:ea typeface="맑은 고딕"/>
                <a:cs typeface="맑은 고딕"/>
              </a:rPr>
              <a:t>–  대한민국의 수도는 서울이다. 1392년 조선 왕조가 수도를 서울로 이전하면서 정치, 문화 중심지로 확고히 자리잡았다. 1948년 한국 전쟁 이후 남한이 성립되면서 서울이 공식적으로 수도로 지정되어 현재의 대한민국 정부 중심지가 되었다. 20세기 후반에는 국제적 중심도시로서의 역할도 확대되었다.</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46304" cy="6858000"/>
          </a:xfrm>
          <a:prstGeom prst="rect">
            <a:avLst/>
          </a:prstGeom>
          <a:solidFill>
            <a:srgbClr val="0B5FC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3" name="TextBox 2"/>
          <p:cNvSpPr txBox="1"/>
          <p:nvPr/>
        </p:nvSpPr>
        <p:spPr>
          <a:xfrm>
            <a:off x="566928" y="384048"/>
            <a:ext cx="11057839" cy="713232"/>
          </a:xfrm>
          <a:prstGeom prst="rect">
            <a:avLst/>
          </a:prstGeom>
          <a:noFill/>
        </p:spPr>
        <p:txBody>
          <a:bodyPr wrap="square" anchor="t" lIns="0" rIns="0" tIns="0" bIns="0">
            <a:spAutoFit/>
          </a:bodyPr>
          <a:lstStyle/>
          <a:p>
            <a:pPr algn="l">
              <a:lnSpc>
                <a:spcPct val="118000"/>
              </a:lnSpc>
              <a:spcBef>
                <a:spcPts val="0"/>
              </a:spcBef>
              <a:spcAft>
                <a:spcPts val="0"/>
              </a:spcAft>
            </a:pPr>
            <a:r>
              <a:rPr sz="3000" b="1" i="0">
                <a:solidFill>
                  <a:srgbClr val="16202C"/>
                </a:solidFill>
                <a:latin typeface="Segoe UI"/>
                <a:ea typeface="맑은 고딕"/>
                <a:cs typeface="맑은 고딕"/>
              </a:rPr>
              <a:t>답변 원문: 사실 질문 (4)</a:t>
            </a:r>
          </a:p>
        </p:txBody>
      </p:sp>
      <p:cxnSp>
        <p:nvCxnSpPr>
          <p:cNvPr id="4" name="Connector 3"/>
          <p:cNvCxnSpPr/>
          <p:nvPr/>
        </p:nvCxnSpPr>
        <p:spPr>
          <a:xfrm>
            <a:off x="566928" y="1097280"/>
            <a:ext cx="11057839" cy="0"/>
          </a:xfrm>
          <a:prstGeom prst="line">
            <a:avLst/>
          </a:prstGeom>
          <a:ln w="15875">
            <a:solidFill>
              <a:srgbClr val="D6DEE7"/>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566928" y="6455664"/>
            <a:ext cx="9686239" cy="219456"/>
          </a:xfrm>
          <a:prstGeom prst="rect">
            <a:avLst/>
          </a:prstGeom>
          <a:noFill/>
        </p:spPr>
        <p:txBody>
          <a:bodyPr wrap="square" anchor="t" lIns="0" rIns="0" tIns="0" bIns="0">
            <a:spAutoFit/>
          </a:bodyPr>
          <a:lstStyle/>
          <a:p>
            <a:pPr algn="l">
              <a:lnSpc>
                <a:spcPct val="118000"/>
              </a:lnSpc>
              <a:spcBef>
                <a:spcPts val="0"/>
              </a:spcBef>
              <a:spcAft>
                <a:spcPts val="0"/>
              </a:spcAft>
            </a:pPr>
            <a:r>
              <a:rPr sz="950" b="0" i="0">
                <a:solidFill>
                  <a:srgbClr val="5B6B7B"/>
                </a:solidFill>
                <a:latin typeface="Segoe UI"/>
                <a:ea typeface="맑은 고딕"/>
                <a:cs typeface="맑은 고딕"/>
              </a:rPr>
              <a:t>RNGD 4장 서버, 2026-08-29 실측</a:t>
            </a:r>
          </a:p>
        </p:txBody>
      </p:sp>
      <p:sp>
        <p:nvSpPr>
          <p:cNvPr id="6" name="TextBox 5"/>
          <p:cNvSpPr txBox="1"/>
          <p:nvPr/>
        </p:nvSpPr>
        <p:spPr>
          <a:xfrm>
            <a:off x="10527487" y="6455664"/>
            <a:ext cx="1097280" cy="219456"/>
          </a:xfrm>
          <a:prstGeom prst="rect">
            <a:avLst/>
          </a:prstGeom>
          <a:noFill/>
        </p:spPr>
        <p:txBody>
          <a:bodyPr wrap="square" anchor="t" lIns="0" rIns="0" tIns="0" bIns="0">
            <a:spAutoFit/>
          </a:bodyPr>
          <a:lstStyle/>
          <a:p>
            <a:pPr algn="r">
              <a:lnSpc>
                <a:spcPct val="118000"/>
              </a:lnSpc>
              <a:spcBef>
                <a:spcPts val="0"/>
              </a:spcBef>
              <a:spcAft>
                <a:spcPts val="0"/>
              </a:spcAft>
            </a:pPr>
            <a:r>
              <a:rPr sz="950" b="0" i="0">
                <a:solidFill>
                  <a:srgbClr val="5B6B7B"/>
                </a:solidFill>
                <a:latin typeface="Segoe UI"/>
                <a:ea typeface="맑은 고딕"/>
                <a:cs typeface="맑은 고딕"/>
              </a:rPr>
              <a:t>14</a:t>
            </a:r>
          </a:p>
        </p:txBody>
      </p:sp>
      <p:sp>
        <p:nvSpPr>
          <p:cNvPr id="7" name="TextBox 6"/>
          <p:cNvSpPr txBox="1"/>
          <p:nvPr/>
        </p:nvSpPr>
        <p:spPr>
          <a:xfrm>
            <a:off x="566928" y="1316736"/>
            <a:ext cx="11057839" cy="4956048"/>
          </a:xfrm>
          <a:prstGeom prst="rect">
            <a:avLst/>
          </a:prstGeom>
          <a:noFill/>
        </p:spPr>
        <p:txBody>
          <a:bodyPr wrap="square" anchor="t" lIns="0" rIns="0" tIns="0" bIns="0">
            <a:spAutoFit/>
          </a:bodyPr>
          <a:lstStyle/>
          <a:p>
            <a:pPr algn="l">
              <a:lnSpc>
                <a:spcPct val="118000"/>
              </a:lnSpc>
              <a:spcBef>
                <a:spcPts val="200"/>
              </a:spcBef>
              <a:spcAft>
                <a:spcPts val="200"/>
              </a:spcAft>
            </a:pPr>
            <a:r>
              <a:rPr sz="1600" b="0" i="0">
                <a:solidFill>
                  <a:srgbClr val="16202C"/>
                </a:solidFill>
                <a:latin typeface="Segoe UI"/>
                <a:ea typeface="맑은 고딕"/>
                <a:cs typeface="맑은 고딕"/>
              </a:rPr>
              <a:t>▪  Qwen2.5 0.5B  (715tok)</a:t>
            </a:r>
          </a:p>
          <a:p>
            <a:pPr algn="l">
              <a:lnSpc>
                <a:spcPct val="118000"/>
              </a:lnSpc>
              <a:spcBef>
                <a:spcPts val="200"/>
              </a:spcBef>
              <a:spcAft>
                <a:spcPts val="100"/>
              </a:spcAft>
            </a:pPr>
            <a:r>
              <a:rPr sz="1480" b="0" i="0">
                <a:solidFill>
                  <a:srgbClr val="2C3A4B"/>
                </a:solidFill>
                <a:latin typeface="Segoe UI"/>
                <a:ea typeface="맑은 고딕"/>
                <a:cs typeface="맑은 고딕"/>
              </a:rPr>
              <a:t>–  대한민국의 수도는 서울입니다. 서울은 1950년 1월 1일에 도시화된 19세기의 도시로, 19세기 초부터 20세기 초까지 한국의 중심지로 유명해졌습니다. 서울의 도시화는 19세기 초부터 19세기 중반까지 진행되었으며, 이는 한국의 역사적 배경과 문화적 특징을 담고 있습니다.  1. 19세기 초: 서울은 한국의 중심지로 유명해졌습니다. 이 시기에는 서울은 전국의 중심지로, 전국의 교통과 경로를 통한 전국의 통합을 가능하게 했습니다.  2. 19세기 중반: 서울은 전국의 중심지로 유명해졌습니다. 이 시기에는 서울은 전국의 교통과 경로를 통한 전국의 통합을 가능하게 했습니다. 이 시기에는 서울은 전국의 교통과 경로를 통한 전국의 통합을 가능하게 했습니다.  3. 19세기 중: 서울은 전국의 중심지로 유명해졌습니다. 이 시기에는 서울은 전국의 교통과 경로를 통한 전국의 통합을 가능하게 했습니다. 이 시기에는 서울은 전국의 교통과 경로를 통한 전국의 통합을 가능하게 했습니다.  4. 19세기 후: 서울은 전국의 중심지로 유명해졌습니다. 이 시기에는 서울은 전국의 교통과 경로를 통한 전국의 통합을 가능하게 했습니다. 이 시기에는 서울은 전국의 교통과 경로를 통한 전국의 통합을 가능하게 했습니다.  5. 20세기 초: 서울은 전국의 중심지로 유명해졌습니다. 이 시기에는 서울은 전국의 교통과 경로를 통한 전국의 통합을 가능하게 했습니다. 이 시기에는 서울은 전국의 교통과 경로를 통한 전국의 통합을 가능하게 했습니다.  6. 20세기 중: 서울은 전국의 중심지로 유명해졌습니다. 이 시기에는 서울은 전국의 교통과 경로를 통한 전국의 통합을 가능하게 했습니다. 이 시기에는 서울은 전국의 교통과 경로를 통한 전국의 통합을 가능하게 했습니다.  7. 20세기 후: 서울은 전국의 중심지로 유명해졌습니다. 이 시기에는 서울은 전국의 교통과 경로를 통한 전국의 통합을 가능하게 했습니다. 이 시기에는 서울은 전국의 교통과 경로를 통한 전국의 통합을 가능하게 했습니다.  이러한 역사적 배경은 서울의 도시화와 통합에 대한 중요한 역할을 했습니다. 서울은 전국의 중심지로 유명해졌으며, 이는 한국의 역사적 배경과 문화적 특징을 담고 있습니다.</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46304" cy="6858000"/>
          </a:xfrm>
          <a:prstGeom prst="rect">
            <a:avLst/>
          </a:prstGeom>
          <a:solidFill>
            <a:srgbClr val="0B5FC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3" name="TextBox 2"/>
          <p:cNvSpPr txBox="1"/>
          <p:nvPr/>
        </p:nvSpPr>
        <p:spPr>
          <a:xfrm>
            <a:off x="566928" y="384048"/>
            <a:ext cx="11057839" cy="713232"/>
          </a:xfrm>
          <a:prstGeom prst="rect">
            <a:avLst/>
          </a:prstGeom>
          <a:noFill/>
        </p:spPr>
        <p:txBody>
          <a:bodyPr wrap="square" anchor="t" lIns="0" rIns="0" tIns="0" bIns="0">
            <a:spAutoFit/>
          </a:bodyPr>
          <a:lstStyle/>
          <a:p>
            <a:pPr algn="l">
              <a:lnSpc>
                <a:spcPct val="118000"/>
              </a:lnSpc>
              <a:spcBef>
                <a:spcPts val="0"/>
              </a:spcBef>
              <a:spcAft>
                <a:spcPts val="0"/>
              </a:spcAft>
            </a:pPr>
            <a:r>
              <a:rPr sz="3000" b="1" i="0">
                <a:solidFill>
                  <a:srgbClr val="16202C"/>
                </a:solidFill>
                <a:latin typeface="Segoe UI"/>
                <a:ea typeface="맑은 고딕"/>
                <a:cs typeface="맑은 고딕"/>
              </a:rPr>
              <a:t>답변 원문: 코드 작성 (1)</a:t>
            </a:r>
          </a:p>
        </p:txBody>
      </p:sp>
      <p:cxnSp>
        <p:nvCxnSpPr>
          <p:cNvPr id="4" name="Connector 3"/>
          <p:cNvCxnSpPr/>
          <p:nvPr/>
        </p:nvCxnSpPr>
        <p:spPr>
          <a:xfrm>
            <a:off x="566928" y="1097280"/>
            <a:ext cx="11057839" cy="0"/>
          </a:xfrm>
          <a:prstGeom prst="line">
            <a:avLst/>
          </a:prstGeom>
          <a:ln w="15875">
            <a:solidFill>
              <a:srgbClr val="D6DEE7"/>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566928" y="6455664"/>
            <a:ext cx="9686239" cy="219456"/>
          </a:xfrm>
          <a:prstGeom prst="rect">
            <a:avLst/>
          </a:prstGeom>
          <a:noFill/>
        </p:spPr>
        <p:txBody>
          <a:bodyPr wrap="square" anchor="t" lIns="0" rIns="0" tIns="0" bIns="0">
            <a:spAutoFit/>
          </a:bodyPr>
          <a:lstStyle/>
          <a:p>
            <a:pPr algn="l">
              <a:lnSpc>
                <a:spcPct val="118000"/>
              </a:lnSpc>
              <a:spcBef>
                <a:spcPts val="0"/>
              </a:spcBef>
              <a:spcAft>
                <a:spcPts val="0"/>
              </a:spcAft>
            </a:pPr>
            <a:r>
              <a:rPr sz="950" b="0" i="0">
                <a:solidFill>
                  <a:srgbClr val="5B6B7B"/>
                </a:solidFill>
                <a:latin typeface="Segoe UI"/>
                <a:ea typeface="맑은 고딕"/>
                <a:cs typeface="맑은 고딕"/>
              </a:rPr>
              <a:t>RNGD 4장 서버, 2026-08-29 실측</a:t>
            </a:r>
          </a:p>
        </p:txBody>
      </p:sp>
      <p:sp>
        <p:nvSpPr>
          <p:cNvPr id="6" name="TextBox 5"/>
          <p:cNvSpPr txBox="1"/>
          <p:nvPr/>
        </p:nvSpPr>
        <p:spPr>
          <a:xfrm>
            <a:off x="10527487" y="6455664"/>
            <a:ext cx="1097280" cy="219456"/>
          </a:xfrm>
          <a:prstGeom prst="rect">
            <a:avLst/>
          </a:prstGeom>
          <a:noFill/>
        </p:spPr>
        <p:txBody>
          <a:bodyPr wrap="square" anchor="t" lIns="0" rIns="0" tIns="0" bIns="0">
            <a:spAutoFit/>
          </a:bodyPr>
          <a:lstStyle/>
          <a:p>
            <a:pPr algn="r">
              <a:lnSpc>
                <a:spcPct val="118000"/>
              </a:lnSpc>
              <a:spcBef>
                <a:spcPts val="0"/>
              </a:spcBef>
              <a:spcAft>
                <a:spcPts val="0"/>
              </a:spcAft>
            </a:pPr>
            <a:r>
              <a:rPr sz="950" b="0" i="0">
                <a:solidFill>
                  <a:srgbClr val="5B6B7B"/>
                </a:solidFill>
                <a:latin typeface="Segoe UI"/>
                <a:ea typeface="맑은 고딕"/>
                <a:cs typeface="맑은 고딕"/>
              </a:rPr>
              <a:t>15</a:t>
            </a:r>
          </a:p>
        </p:txBody>
      </p:sp>
      <p:sp>
        <p:nvSpPr>
          <p:cNvPr id="7" name="TextBox 6"/>
          <p:cNvSpPr txBox="1"/>
          <p:nvPr/>
        </p:nvSpPr>
        <p:spPr>
          <a:xfrm>
            <a:off x="566928" y="1316736"/>
            <a:ext cx="11057839" cy="4956048"/>
          </a:xfrm>
          <a:prstGeom prst="rect">
            <a:avLst/>
          </a:prstGeom>
          <a:noFill/>
        </p:spPr>
        <p:txBody>
          <a:bodyPr wrap="square" anchor="t" lIns="0" rIns="0" tIns="0" bIns="0">
            <a:spAutoFit/>
          </a:bodyPr>
          <a:lstStyle/>
          <a:p>
            <a:pPr algn="l">
              <a:lnSpc>
                <a:spcPct val="118000"/>
              </a:lnSpc>
              <a:spcBef>
                <a:spcPts val="200"/>
              </a:spcBef>
              <a:spcAft>
                <a:spcPts val="200"/>
              </a:spcAft>
            </a:pPr>
            <a:r>
              <a:rPr sz="1900" b="0" i="0">
                <a:solidFill>
                  <a:srgbClr val="16202C"/>
                </a:solidFill>
                <a:latin typeface="Segoe UI"/>
                <a:ea typeface="맑은 고딕"/>
                <a:cs typeface="맑은 고딕"/>
              </a:rPr>
              <a:t>▪  gpt-oss 120B  (391tok)</a:t>
            </a:r>
          </a:p>
          <a:p>
            <a:pPr algn="l">
              <a:lnSpc>
                <a:spcPct val="118000"/>
              </a:lnSpc>
              <a:spcBef>
                <a:spcPts val="200"/>
              </a:spcBef>
              <a:spcAft>
                <a:spcPts val="100"/>
              </a:spcAft>
            </a:pPr>
            <a:r>
              <a:rPr sz="1780" b="0" i="0">
                <a:solidFill>
                  <a:srgbClr val="2C3A4B"/>
                </a:solidFill>
                <a:latin typeface="Segoe UI"/>
                <a:ea typeface="맑은 고딕"/>
                <a:cs typeface="맑은 고딕"/>
              </a:rPr>
              <a:t>–  아래는 **반복문(루프)**을 이용해 피보나치 수열의 n번째 항을 구하는 파이썬 함수입니다.   함수 바로 아래에 시간 복잡도를 한 줄로 적어 두었습니다.  ```python def fibonacci(n: int) -&gt; int:     """     n번째 피보나치 수를 반환한다.     n이 0이면 0, n이 1이면 1을 반환한다.     """     if n &lt; 0:         raise ValueError("n must be a non‑negative integer")     if n == 0:         return 0     if n == 1:         return 1      a, b = 0, 1          # F(0), F(1)     for _ in range(2, n + 1):         a, b = b, a + b   # 다음 항 계산     return b  # 시간 복잡도: O(n)   (반복문을 n‑1번 수행) ```  **설명**   - `a`와 `b`에 각각 `F(i‑2)`와 `F(i‑1)`을 저장하고, 루프를 돌면서 `F(i) = F(i‑1) + F(i‑2)`를 계산합니다.   - 루프는 `2`부터 `n`까지 한 번씩 실행되므로 전체 연산 횟수는 `n‑1`번이며, 이는 **선형 시간** `O(n)`에 해당합니다.</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46304" cy="6858000"/>
          </a:xfrm>
          <a:prstGeom prst="rect">
            <a:avLst/>
          </a:prstGeom>
          <a:solidFill>
            <a:srgbClr val="0B5FC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3" name="TextBox 2"/>
          <p:cNvSpPr txBox="1"/>
          <p:nvPr/>
        </p:nvSpPr>
        <p:spPr>
          <a:xfrm>
            <a:off x="566928" y="384048"/>
            <a:ext cx="11057839" cy="713232"/>
          </a:xfrm>
          <a:prstGeom prst="rect">
            <a:avLst/>
          </a:prstGeom>
          <a:noFill/>
        </p:spPr>
        <p:txBody>
          <a:bodyPr wrap="square" anchor="t" lIns="0" rIns="0" tIns="0" bIns="0">
            <a:spAutoFit/>
          </a:bodyPr>
          <a:lstStyle/>
          <a:p>
            <a:pPr algn="l">
              <a:lnSpc>
                <a:spcPct val="118000"/>
              </a:lnSpc>
              <a:spcBef>
                <a:spcPts val="0"/>
              </a:spcBef>
              <a:spcAft>
                <a:spcPts val="0"/>
              </a:spcAft>
            </a:pPr>
            <a:r>
              <a:rPr sz="3000" b="1" i="0">
                <a:solidFill>
                  <a:srgbClr val="16202C"/>
                </a:solidFill>
                <a:latin typeface="Segoe UI"/>
                <a:ea typeface="맑은 고딕"/>
                <a:cs typeface="맑은 고딕"/>
              </a:rPr>
              <a:t>답변 원문: 코드 작성 (2)</a:t>
            </a:r>
          </a:p>
        </p:txBody>
      </p:sp>
      <p:cxnSp>
        <p:nvCxnSpPr>
          <p:cNvPr id="4" name="Connector 3"/>
          <p:cNvCxnSpPr/>
          <p:nvPr/>
        </p:nvCxnSpPr>
        <p:spPr>
          <a:xfrm>
            <a:off x="566928" y="1097280"/>
            <a:ext cx="11057839" cy="0"/>
          </a:xfrm>
          <a:prstGeom prst="line">
            <a:avLst/>
          </a:prstGeom>
          <a:ln w="15875">
            <a:solidFill>
              <a:srgbClr val="D6DEE7"/>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566928" y="6455664"/>
            <a:ext cx="9686239" cy="219456"/>
          </a:xfrm>
          <a:prstGeom prst="rect">
            <a:avLst/>
          </a:prstGeom>
          <a:noFill/>
        </p:spPr>
        <p:txBody>
          <a:bodyPr wrap="square" anchor="t" lIns="0" rIns="0" tIns="0" bIns="0">
            <a:spAutoFit/>
          </a:bodyPr>
          <a:lstStyle/>
          <a:p>
            <a:pPr algn="l">
              <a:lnSpc>
                <a:spcPct val="118000"/>
              </a:lnSpc>
              <a:spcBef>
                <a:spcPts val="0"/>
              </a:spcBef>
              <a:spcAft>
                <a:spcPts val="0"/>
              </a:spcAft>
            </a:pPr>
            <a:r>
              <a:rPr sz="950" b="0" i="0">
                <a:solidFill>
                  <a:srgbClr val="5B6B7B"/>
                </a:solidFill>
                <a:latin typeface="Segoe UI"/>
                <a:ea typeface="맑은 고딕"/>
                <a:cs typeface="맑은 고딕"/>
              </a:rPr>
              <a:t>RNGD 4장 서버, 2026-08-29 실측</a:t>
            </a:r>
          </a:p>
        </p:txBody>
      </p:sp>
      <p:sp>
        <p:nvSpPr>
          <p:cNvPr id="6" name="TextBox 5"/>
          <p:cNvSpPr txBox="1"/>
          <p:nvPr/>
        </p:nvSpPr>
        <p:spPr>
          <a:xfrm>
            <a:off x="10527487" y="6455664"/>
            <a:ext cx="1097280" cy="219456"/>
          </a:xfrm>
          <a:prstGeom prst="rect">
            <a:avLst/>
          </a:prstGeom>
          <a:noFill/>
        </p:spPr>
        <p:txBody>
          <a:bodyPr wrap="square" anchor="t" lIns="0" rIns="0" tIns="0" bIns="0">
            <a:spAutoFit/>
          </a:bodyPr>
          <a:lstStyle/>
          <a:p>
            <a:pPr algn="r">
              <a:lnSpc>
                <a:spcPct val="118000"/>
              </a:lnSpc>
              <a:spcBef>
                <a:spcPts val="0"/>
              </a:spcBef>
              <a:spcAft>
                <a:spcPts val="0"/>
              </a:spcAft>
            </a:pPr>
            <a:r>
              <a:rPr sz="950" b="0" i="0">
                <a:solidFill>
                  <a:srgbClr val="5B6B7B"/>
                </a:solidFill>
                <a:latin typeface="Segoe UI"/>
                <a:ea typeface="맑은 고딕"/>
                <a:cs typeface="맑은 고딕"/>
              </a:rPr>
              <a:t>16</a:t>
            </a:r>
          </a:p>
        </p:txBody>
      </p:sp>
      <p:sp>
        <p:nvSpPr>
          <p:cNvPr id="7" name="TextBox 6"/>
          <p:cNvSpPr txBox="1"/>
          <p:nvPr/>
        </p:nvSpPr>
        <p:spPr>
          <a:xfrm>
            <a:off x="566928" y="1316736"/>
            <a:ext cx="11057839" cy="4956048"/>
          </a:xfrm>
          <a:prstGeom prst="rect">
            <a:avLst/>
          </a:prstGeom>
          <a:noFill/>
        </p:spPr>
        <p:txBody>
          <a:bodyPr wrap="square" anchor="t" lIns="0" rIns="0" tIns="0" bIns="0">
            <a:spAutoFit/>
          </a:bodyPr>
          <a:lstStyle/>
          <a:p>
            <a:pPr algn="l">
              <a:lnSpc>
                <a:spcPct val="118000"/>
              </a:lnSpc>
              <a:spcBef>
                <a:spcPts val="200"/>
              </a:spcBef>
              <a:spcAft>
                <a:spcPts val="200"/>
              </a:spcAft>
            </a:pPr>
            <a:r>
              <a:rPr sz="1900" b="0" i="0">
                <a:solidFill>
                  <a:srgbClr val="16202C"/>
                </a:solidFill>
                <a:latin typeface="Segoe UI"/>
                <a:ea typeface="맑은 고딕"/>
                <a:cs typeface="맑은 고딕"/>
              </a:rPr>
              <a:t>▪  Solar-Open 100B  (833tok)</a:t>
            </a:r>
          </a:p>
          <a:p>
            <a:pPr algn="l">
              <a:lnSpc>
                <a:spcPct val="118000"/>
              </a:lnSpc>
              <a:spcBef>
                <a:spcPts val="200"/>
              </a:spcBef>
              <a:spcAft>
                <a:spcPts val="100"/>
              </a:spcAft>
            </a:pPr>
            <a:r>
              <a:rPr sz="1780" b="0" i="0">
                <a:solidFill>
                  <a:srgbClr val="2C3A4B"/>
                </a:solidFill>
                <a:latin typeface="Segoe UI"/>
                <a:ea typeface="맑은 고딕"/>
                <a:cs typeface="맑은 고딕"/>
              </a:rPr>
              <a:t>–  아래는 **반복문(루프)**을 이용해 n번째 피보나치 수를 구하는 파이썬 함수 예시입니다.   시간 복잡도는 한 줄 주석으로 표시했습니다.  ```python def fibonacci(n: int) -&gt; int:     """     n번째 피보나치 수 (0-indexed)를 반환한다.     예: fibonacci(0) -&gt; 0, fibonacci(1) -&gt; 1, fibonacci(5) -&gt; 5     """     if n &lt; 0:         raise ValueError("n must be a non‑negative integer")     if n == 0:         return 0     a, b = 0, 1  # F(0), F(1)     for _ in range(2, n + 1):         a, b = b, a + b     return b  # F(n)  # Time complexity: O(n) ```  **설명**   - `a`와 `b`를 각각 `F(i‑2)`와 `F(i‑1)`에 해당하는 값으로 유지하면서 `i`를 2부터 `n`까지 순차적으로 업데이트합니다.   - 루프가 `n‑1`번 실행되므로 **시간 복잡도는 O(n)** 입니다.   - 추가적인 배열이나 재귀 호출 없이 두 변수만 사용하므로 **공간 복잡도는 O(1)** 입니다.    필요에 따라 `n`이 0일 때 0을 반환하도록 처리했으며, 음수 입력에 대해서는 `ValueError`를 발생시켜 안전하게 사용할 수 있습니다.</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46304" cy="6858000"/>
          </a:xfrm>
          <a:prstGeom prst="rect">
            <a:avLst/>
          </a:prstGeom>
          <a:solidFill>
            <a:srgbClr val="0B5FC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3" name="TextBox 2"/>
          <p:cNvSpPr txBox="1"/>
          <p:nvPr/>
        </p:nvSpPr>
        <p:spPr>
          <a:xfrm>
            <a:off x="566928" y="384048"/>
            <a:ext cx="11057839" cy="713232"/>
          </a:xfrm>
          <a:prstGeom prst="rect">
            <a:avLst/>
          </a:prstGeom>
          <a:noFill/>
        </p:spPr>
        <p:txBody>
          <a:bodyPr wrap="square" anchor="t" lIns="0" rIns="0" tIns="0" bIns="0">
            <a:spAutoFit/>
          </a:bodyPr>
          <a:lstStyle/>
          <a:p>
            <a:pPr algn="l">
              <a:lnSpc>
                <a:spcPct val="118000"/>
              </a:lnSpc>
              <a:spcBef>
                <a:spcPts val="0"/>
              </a:spcBef>
              <a:spcAft>
                <a:spcPts val="0"/>
              </a:spcAft>
            </a:pPr>
            <a:r>
              <a:rPr sz="3000" b="1" i="0">
                <a:solidFill>
                  <a:srgbClr val="16202C"/>
                </a:solidFill>
                <a:latin typeface="Segoe UI"/>
                <a:ea typeface="맑은 고딕"/>
                <a:cs typeface="맑은 고딕"/>
              </a:rPr>
              <a:t>답변 원문: 코드 작성 (3)</a:t>
            </a:r>
          </a:p>
        </p:txBody>
      </p:sp>
      <p:cxnSp>
        <p:nvCxnSpPr>
          <p:cNvPr id="4" name="Connector 3"/>
          <p:cNvCxnSpPr/>
          <p:nvPr/>
        </p:nvCxnSpPr>
        <p:spPr>
          <a:xfrm>
            <a:off x="566928" y="1097280"/>
            <a:ext cx="11057839" cy="0"/>
          </a:xfrm>
          <a:prstGeom prst="line">
            <a:avLst/>
          </a:prstGeom>
          <a:ln w="15875">
            <a:solidFill>
              <a:srgbClr val="D6DEE7"/>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566928" y="6455664"/>
            <a:ext cx="9686239" cy="219456"/>
          </a:xfrm>
          <a:prstGeom prst="rect">
            <a:avLst/>
          </a:prstGeom>
          <a:noFill/>
        </p:spPr>
        <p:txBody>
          <a:bodyPr wrap="square" anchor="t" lIns="0" rIns="0" tIns="0" bIns="0">
            <a:spAutoFit/>
          </a:bodyPr>
          <a:lstStyle/>
          <a:p>
            <a:pPr algn="l">
              <a:lnSpc>
                <a:spcPct val="118000"/>
              </a:lnSpc>
              <a:spcBef>
                <a:spcPts val="0"/>
              </a:spcBef>
              <a:spcAft>
                <a:spcPts val="0"/>
              </a:spcAft>
            </a:pPr>
            <a:r>
              <a:rPr sz="950" b="0" i="0">
                <a:solidFill>
                  <a:srgbClr val="5B6B7B"/>
                </a:solidFill>
                <a:latin typeface="Segoe UI"/>
                <a:ea typeface="맑은 고딕"/>
                <a:cs typeface="맑은 고딕"/>
              </a:rPr>
              <a:t>RNGD 4장 서버, 2026-08-29 실측</a:t>
            </a:r>
          </a:p>
        </p:txBody>
      </p:sp>
      <p:sp>
        <p:nvSpPr>
          <p:cNvPr id="6" name="TextBox 5"/>
          <p:cNvSpPr txBox="1"/>
          <p:nvPr/>
        </p:nvSpPr>
        <p:spPr>
          <a:xfrm>
            <a:off x="10527487" y="6455664"/>
            <a:ext cx="1097280" cy="219456"/>
          </a:xfrm>
          <a:prstGeom prst="rect">
            <a:avLst/>
          </a:prstGeom>
          <a:noFill/>
        </p:spPr>
        <p:txBody>
          <a:bodyPr wrap="square" anchor="t" lIns="0" rIns="0" tIns="0" bIns="0">
            <a:spAutoFit/>
          </a:bodyPr>
          <a:lstStyle/>
          <a:p>
            <a:pPr algn="r">
              <a:lnSpc>
                <a:spcPct val="118000"/>
              </a:lnSpc>
              <a:spcBef>
                <a:spcPts val="0"/>
              </a:spcBef>
              <a:spcAft>
                <a:spcPts val="0"/>
              </a:spcAft>
            </a:pPr>
            <a:r>
              <a:rPr sz="950" b="0" i="0">
                <a:solidFill>
                  <a:srgbClr val="5B6B7B"/>
                </a:solidFill>
                <a:latin typeface="Segoe UI"/>
                <a:ea typeface="맑은 고딕"/>
                <a:cs typeface="맑은 고딕"/>
              </a:rPr>
              <a:t>17</a:t>
            </a:r>
          </a:p>
        </p:txBody>
      </p:sp>
      <p:sp>
        <p:nvSpPr>
          <p:cNvPr id="7" name="TextBox 6"/>
          <p:cNvSpPr txBox="1"/>
          <p:nvPr/>
        </p:nvSpPr>
        <p:spPr>
          <a:xfrm>
            <a:off x="566928" y="1316736"/>
            <a:ext cx="11057839" cy="4956048"/>
          </a:xfrm>
          <a:prstGeom prst="rect">
            <a:avLst/>
          </a:prstGeom>
          <a:noFill/>
        </p:spPr>
        <p:txBody>
          <a:bodyPr wrap="square" anchor="t" lIns="0" rIns="0" tIns="0" bIns="0">
            <a:spAutoFit/>
          </a:bodyPr>
          <a:lstStyle/>
          <a:p>
            <a:pPr algn="l">
              <a:lnSpc>
                <a:spcPct val="118000"/>
              </a:lnSpc>
              <a:spcBef>
                <a:spcPts val="200"/>
              </a:spcBef>
              <a:spcAft>
                <a:spcPts val="200"/>
              </a:spcAft>
            </a:pPr>
            <a:r>
              <a:rPr sz="1800" b="0" i="0">
                <a:solidFill>
                  <a:srgbClr val="16202C"/>
                </a:solidFill>
                <a:latin typeface="Segoe UI"/>
                <a:ea typeface="맑은 고딕"/>
                <a:cs typeface="맑은 고딕"/>
              </a:rPr>
              <a:t>▪  K-EXAONE 236B  (1024tok)</a:t>
            </a:r>
          </a:p>
          <a:p>
            <a:pPr algn="l">
              <a:lnSpc>
                <a:spcPct val="118000"/>
              </a:lnSpc>
              <a:spcBef>
                <a:spcPts val="200"/>
              </a:spcBef>
              <a:spcAft>
                <a:spcPts val="100"/>
              </a:spcAft>
            </a:pPr>
            <a:r>
              <a:rPr sz="1680" b="0" i="0">
                <a:solidFill>
                  <a:srgbClr val="2C3A4B"/>
                </a:solidFill>
                <a:latin typeface="Segoe UI"/>
                <a:ea typeface="맑은 고딕"/>
                <a:cs typeface="맑은 고딕"/>
              </a:rPr>
              <a:t>–  (답변 없음 — 사고만 하고 예산이 끝났다)</a:t>
            </a:r>
          </a:p>
          <a:p>
            <a:pPr algn="l">
              <a:lnSpc>
                <a:spcPct val="118000"/>
              </a:lnSpc>
              <a:spcBef>
                <a:spcPts val="600"/>
              </a:spcBef>
              <a:spcAft>
                <a:spcPts val="200"/>
              </a:spcAft>
            </a:pPr>
            <a:r>
              <a:rPr sz="1800" b="0" i="0">
                <a:solidFill>
                  <a:srgbClr val="16202C"/>
                </a:solidFill>
                <a:latin typeface="Segoe UI"/>
                <a:ea typeface="맑은 고딕"/>
                <a:cs typeface="맑은 고딕"/>
              </a:rPr>
              <a:t>▪  Llama 3.3 70B  (67tok)</a:t>
            </a:r>
          </a:p>
          <a:p>
            <a:pPr algn="l">
              <a:lnSpc>
                <a:spcPct val="118000"/>
              </a:lnSpc>
              <a:spcBef>
                <a:spcPts val="200"/>
              </a:spcBef>
              <a:spcAft>
                <a:spcPts val="100"/>
              </a:spcAft>
            </a:pPr>
            <a:r>
              <a:rPr sz="1680" b="0" i="0">
                <a:solidFill>
                  <a:srgbClr val="2C3A4B"/>
                </a:solidFill>
                <a:latin typeface="Segoe UI"/>
                <a:ea typeface="맑은 고딕"/>
                <a:cs typeface="맑은 고딕"/>
              </a:rPr>
              <a:t>–  ```python def fibonacci(n):     if n &lt;= 1:         return n     a, b = 0, 1     for _ in range(2, n+1):         a, b = b, a + b     return b # 시간복잡도: O(n) ```</a:t>
            </a:r>
          </a:p>
          <a:p>
            <a:pPr algn="l">
              <a:lnSpc>
                <a:spcPct val="118000"/>
              </a:lnSpc>
              <a:spcBef>
                <a:spcPts val="600"/>
              </a:spcBef>
              <a:spcAft>
                <a:spcPts val="200"/>
              </a:spcAft>
            </a:pPr>
            <a:r>
              <a:rPr sz="1800" b="0" i="0">
                <a:solidFill>
                  <a:srgbClr val="16202C"/>
                </a:solidFill>
                <a:latin typeface="Segoe UI"/>
                <a:ea typeface="맑은 고딕"/>
                <a:cs typeface="맑은 고딕"/>
              </a:rPr>
              <a:t>▪  Qwen3 32B  (1024tok)</a:t>
            </a:r>
          </a:p>
          <a:p>
            <a:pPr algn="l">
              <a:lnSpc>
                <a:spcPct val="118000"/>
              </a:lnSpc>
              <a:spcBef>
                <a:spcPts val="200"/>
              </a:spcBef>
              <a:spcAft>
                <a:spcPts val="100"/>
              </a:spcAft>
            </a:pPr>
            <a:r>
              <a:rPr sz="1680" b="0" i="0">
                <a:solidFill>
                  <a:srgbClr val="2C3A4B"/>
                </a:solidFill>
                <a:latin typeface="Segoe UI"/>
                <a:ea typeface="맑은 고딕"/>
                <a:cs typeface="맑은 고딕"/>
              </a:rPr>
              <a:t>–  (답변 없음 — 사고만 하고 예산이 끝났다)</a:t>
            </a:r>
          </a:p>
          <a:p>
            <a:pPr algn="l">
              <a:lnSpc>
                <a:spcPct val="118000"/>
              </a:lnSpc>
              <a:spcBef>
                <a:spcPts val="600"/>
              </a:spcBef>
              <a:spcAft>
                <a:spcPts val="200"/>
              </a:spcAft>
            </a:pPr>
            <a:r>
              <a:rPr sz="1800" b="0" i="0">
                <a:solidFill>
                  <a:srgbClr val="16202C"/>
                </a:solidFill>
                <a:latin typeface="Segoe UI"/>
                <a:ea typeface="맑은 고딕"/>
                <a:cs typeface="맑은 고딕"/>
              </a:rPr>
              <a:t>▪  EXAONE 4.0 32B  (118tok)</a:t>
            </a:r>
          </a:p>
          <a:p>
            <a:pPr algn="l">
              <a:lnSpc>
                <a:spcPct val="118000"/>
              </a:lnSpc>
              <a:spcBef>
                <a:spcPts val="200"/>
              </a:spcBef>
              <a:spcAft>
                <a:spcPts val="100"/>
              </a:spcAft>
            </a:pPr>
            <a:r>
              <a:rPr sz="1680" b="0" i="0">
                <a:solidFill>
                  <a:srgbClr val="2C3A4B"/>
                </a:solidFill>
                <a:latin typeface="Segoe UI"/>
                <a:ea typeface="맑은 고딕"/>
                <a:cs typeface="맑은 고딕"/>
              </a:rPr>
              <a:t>–  다음은 파이썬으로 피보나치 수열의 n번째 항을 반복문으로 구하는 함수입니다:  ```python def fibonacci(n):     if n &lt;= 0:         return 0     elif n == 1:         return 1          a, b = 0, 1     for _ in range(2, n + 1):         a, b = b, a + b     return b ```  시간복잡도: **O(n)**</a:t>
            </a:r>
          </a:p>
          <a:p>
            <a:pPr algn="l">
              <a:lnSpc>
                <a:spcPct val="118000"/>
              </a:lnSpc>
              <a:spcBef>
                <a:spcPts val="600"/>
              </a:spcBef>
              <a:spcAft>
                <a:spcPts val="200"/>
              </a:spcAft>
            </a:pPr>
            <a:r>
              <a:rPr sz="1800" b="0" i="0">
                <a:solidFill>
                  <a:srgbClr val="16202C"/>
                </a:solidFill>
                <a:latin typeface="Segoe UI"/>
                <a:ea typeface="맑은 고딕"/>
                <a:cs typeface="맑은 고딕"/>
              </a:rPr>
              <a:t>▪  Qwen3-VL 32B  (68tok)</a:t>
            </a:r>
          </a:p>
          <a:p>
            <a:pPr algn="l">
              <a:lnSpc>
                <a:spcPct val="118000"/>
              </a:lnSpc>
              <a:spcBef>
                <a:spcPts val="200"/>
              </a:spcBef>
              <a:spcAft>
                <a:spcPts val="100"/>
              </a:spcAft>
            </a:pPr>
            <a:r>
              <a:rPr sz="1680" b="0" i="0">
                <a:solidFill>
                  <a:srgbClr val="2C3A4B"/>
                </a:solidFill>
                <a:latin typeface="Segoe UI"/>
                <a:ea typeface="맑은 고딕"/>
                <a:cs typeface="맑은 고딕"/>
              </a:rPr>
              <a:t>–  ```python def fibonacci(n):     if n &lt;= 1:         return n     a, b = 0, 1     for i in range(2, n + 1):         a, b = b, a + b     return b # 시간복잡도: O(n) ```</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46304" cy="6858000"/>
          </a:xfrm>
          <a:prstGeom prst="rect">
            <a:avLst/>
          </a:prstGeom>
          <a:solidFill>
            <a:srgbClr val="0B5FC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3" name="TextBox 2"/>
          <p:cNvSpPr txBox="1"/>
          <p:nvPr/>
        </p:nvSpPr>
        <p:spPr>
          <a:xfrm>
            <a:off x="566928" y="384048"/>
            <a:ext cx="11057839" cy="713232"/>
          </a:xfrm>
          <a:prstGeom prst="rect">
            <a:avLst/>
          </a:prstGeom>
          <a:noFill/>
        </p:spPr>
        <p:txBody>
          <a:bodyPr wrap="square" anchor="t" lIns="0" rIns="0" tIns="0" bIns="0">
            <a:spAutoFit/>
          </a:bodyPr>
          <a:lstStyle/>
          <a:p>
            <a:pPr algn="l">
              <a:lnSpc>
                <a:spcPct val="118000"/>
              </a:lnSpc>
              <a:spcBef>
                <a:spcPts val="0"/>
              </a:spcBef>
              <a:spcAft>
                <a:spcPts val="0"/>
              </a:spcAft>
            </a:pPr>
            <a:r>
              <a:rPr sz="3000" b="1" i="0">
                <a:solidFill>
                  <a:srgbClr val="16202C"/>
                </a:solidFill>
                <a:latin typeface="Segoe UI"/>
                <a:ea typeface="맑은 고딕"/>
                <a:cs typeface="맑은 고딕"/>
              </a:rPr>
              <a:t>답변 원문: 코드 작성 (4)</a:t>
            </a:r>
          </a:p>
        </p:txBody>
      </p:sp>
      <p:cxnSp>
        <p:nvCxnSpPr>
          <p:cNvPr id="4" name="Connector 3"/>
          <p:cNvCxnSpPr/>
          <p:nvPr/>
        </p:nvCxnSpPr>
        <p:spPr>
          <a:xfrm>
            <a:off x="566928" y="1097280"/>
            <a:ext cx="11057839" cy="0"/>
          </a:xfrm>
          <a:prstGeom prst="line">
            <a:avLst/>
          </a:prstGeom>
          <a:ln w="15875">
            <a:solidFill>
              <a:srgbClr val="D6DEE7"/>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566928" y="6455664"/>
            <a:ext cx="9686239" cy="219456"/>
          </a:xfrm>
          <a:prstGeom prst="rect">
            <a:avLst/>
          </a:prstGeom>
          <a:noFill/>
        </p:spPr>
        <p:txBody>
          <a:bodyPr wrap="square" anchor="t" lIns="0" rIns="0" tIns="0" bIns="0">
            <a:spAutoFit/>
          </a:bodyPr>
          <a:lstStyle/>
          <a:p>
            <a:pPr algn="l">
              <a:lnSpc>
                <a:spcPct val="118000"/>
              </a:lnSpc>
              <a:spcBef>
                <a:spcPts val="0"/>
              </a:spcBef>
              <a:spcAft>
                <a:spcPts val="0"/>
              </a:spcAft>
            </a:pPr>
            <a:r>
              <a:rPr sz="950" b="0" i="0">
                <a:solidFill>
                  <a:srgbClr val="5B6B7B"/>
                </a:solidFill>
                <a:latin typeface="Segoe UI"/>
                <a:ea typeface="맑은 고딕"/>
                <a:cs typeface="맑은 고딕"/>
              </a:rPr>
              <a:t>RNGD 4장 서버, 2026-08-29 실측</a:t>
            </a:r>
          </a:p>
        </p:txBody>
      </p:sp>
      <p:sp>
        <p:nvSpPr>
          <p:cNvPr id="6" name="TextBox 5"/>
          <p:cNvSpPr txBox="1"/>
          <p:nvPr/>
        </p:nvSpPr>
        <p:spPr>
          <a:xfrm>
            <a:off x="10527487" y="6455664"/>
            <a:ext cx="1097280" cy="219456"/>
          </a:xfrm>
          <a:prstGeom prst="rect">
            <a:avLst/>
          </a:prstGeom>
          <a:noFill/>
        </p:spPr>
        <p:txBody>
          <a:bodyPr wrap="square" anchor="t" lIns="0" rIns="0" tIns="0" bIns="0">
            <a:spAutoFit/>
          </a:bodyPr>
          <a:lstStyle/>
          <a:p>
            <a:pPr algn="r">
              <a:lnSpc>
                <a:spcPct val="118000"/>
              </a:lnSpc>
              <a:spcBef>
                <a:spcPts val="0"/>
              </a:spcBef>
              <a:spcAft>
                <a:spcPts val="0"/>
              </a:spcAft>
            </a:pPr>
            <a:r>
              <a:rPr sz="950" b="0" i="0">
                <a:solidFill>
                  <a:srgbClr val="5B6B7B"/>
                </a:solidFill>
                <a:latin typeface="Segoe UI"/>
                <a:ea typeface="맑은 고딕"/>
                <a:cs typeface="맑은 고딕"/>
              </a:rPr>
              <a:t>18</a:t>
            </a:r>
          </a:p>
        </p:txBody>
      </p:sp>
      <p:sp>
        <p:nvSpPr>
          <p:cNvPr id="7" name="TextBox 6"/>
          <p:cNvSpPr txBox="1"/>
          <p:nvPr/>
        </p:nvSpPr>
        <p:spPr>
          <a:xfrm>
            <a:off x="566928" y="1316736"/>
            <a:ext cx="11057839" cy="4956048"/>
          </a:xfrm>
          <a:prstGeom prst="rect">
            <a:avLst/>
          </a:prstGeom>
          <a:noFill/>
        </p:spPr>
        <p:txBody>
          <a:bodyPr wrap="square" anchor="t" lIns="0" rIns="0" tIns="0" bIns="0">
            <a:spAutoFit/>
          </a:bodyPr>
          <a:lstStyle/>
          <a:p>
            <a:pPr algn="l">
              <a:lnSpc>
                <a:spcPct val="118000"/>
              </a:lnSpc>
              <a:spcBef>
                <a:spcPts val="200"/>
              </a:spcBef>
              <a:spcAft>
                <a:spcPts val="200"/>
              </a:spcAft>
            </a:pPr>
            <a:r>
              <a:rPr sz="1900" b="0" i="0">
                <a:solidFill>
                  <a:srgbClr val="16202C"/>
                </a:solidFill>
                <a:latin typeface="Segoe UI"/>
                <a:ea typeface="맑은 고딕"/>
                <a:cs typeface="맑은 고딕"/>
              </a:rPr>
              <a:t>▪  Qwen3-Coder 30B  (91tok)</a:t>
            </a:r>
          </a:p>
          <a:p>
            <a:pPr algn="l">
              <a:lnSpc>
                <a:spcPct val="118000"/>
              </a:lnSpc>
              <a:spcBef>
                <a:spcPts val="200"/>
              </a:spcBef>
              <a:spcAft>
                <a:spcPts val="100"/>
              </a:spcAft>
            </a:pPr>
            <a:r>
              <a:rPr sz="1780" b="0" i="0">
                <a:solidFill>
                  <a:srgbClr val="2C3A4B"/>
                </a:solidFill>
                <a:latin typeface="Segoe UI"/>
                <a:ea typeface="맑은 고딕"/>
                <a:cs typeface="맑은 고딕"/>
              </a:rPr>
              <a:t>–  ```python def fibonacci(n):     if n &lt;= 1:         return n     a, b = 0, 1     for _ in range(2, n + 1):         a, b = b, a + b     return b  # 예시 사용: # print(fibonacci(10))  # 출력: 55  ```  시간복잡도: **O(n)**</a:t>
            </a:r>
          </a:p>
          <a:p>
            <a:pPr algn="l">
              <a:lnSpc>
                <a:spcPct val="118000"/>
              </a:lnSpc>
              <a:spcBef>
                <a:spcPts val="600"/>
              </a:spcBef>
              <a:spcAft>
                <a:spcPts val="200"/>
              </a:spcAft>
            </a:pPr>
            <a:r>
              <a:rPr sz="1900" b="0" i="0">
                <a:solidFill>
                  <a:srgbClr val="16202C"/>
                </a:solidFill>
                <a:latin typeface="Segoe UI"/>
                <a:ea typeface="맑은 고딕"/>
                <a:cs typeface="맑은 고딕"/>
              </a:rPr>
              <a:t>▪  A3B Instruct 2507  (70tok)</a:t>
            </a:r>
          </a:p>
          <a:p>
            <a:pPr algn="l">
              <a:lnSpc>
                <a:spcPct val="118000"/>
              </a:lnSpc>
              <a:spcBef>
                <a:spcPts val="200"/>
              </a:spcBef>
              <a:spcAft>
                <a:spcPts val="100"/>
              </a:spcAft>
            </a:pPr>
            <a:r>
              <a:rPr sz="1780" b="0" i="0">
                <a:solidFill>
                  <a:srgbClr val="2C3A4B"/>
                </a:solidFill>
                <a:latin typeface="Segoe UI"/>
                <a:ea typeface="맑은 고딕"/>
                <a:cs typeface="맑은 고딕"/>
              </a:rPr>
              <a:t>–  ```python def fibonacci_iterative(n):     if n &lt;= 1:         return n     a, b = 0, 1     for _ in range(2, n + 1):         a, b = b, a + b     return b  # 시간복잡도: O(n) ```</a:t>
            </a:r>
          </a:p>
          <a:p>
            <a:pPr algn="l">
              <a:lnSpc>
                <a:spcPct val="118000"/>
              </a:lnSpc>
              <a:spcBef>
                <a:spcPts val="600"/>
              </a:spcBef>
              <a:spcAft>
                <a:spcPts val="200"/>
              </a:spcAft>
            </a:pPr>
            <a:r>
              <a:rPr sz="1900" b="0" i="0">
                <a:solidFill>
                  <a:srgbClr val="16202C"/>
                </a:solidFill>
                <a:latin typeface="Segoe UI"/>
                <a:ea typeface="맑은 고딕"/>
                <a:cs typeface="맑은 고딕"/>
              </a:rPr>
              <a:t>▪  A3B Thinking 2507  (1024tok)</a:t>
            </a:r>
          </a:p>
          <a:p>
            <a:pPr algn="l">
              <a:lnSpc>
                <a:spcPct val="118000"/>
              </a:lnSpc>
              <a:spcBef>
                <a:spcPts val="200"/>
              </a:spcBef>
              <a:spcAft>
                <a:spcPts val="100"/>
              </a:spcAft>
            </a:pPr>
            <a:r>
              <a:rPr sz="1780" b="0" i="0">
                <a:solidFill>
                  <a:srgbClr val="2C3A4B"/>
                </a:solidFill>
                <a:latin typeface="Segoe UI"/>
                <a:ea typeface="맑은 고딕"/>
                <a:cs typeface="맑은 고딕"/>
              </a:rPr>
              <a:t>–  (답변 없음 — 사고만 하고 예산이 끝났다)</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46304" cy="6858000"/>
          </a:xfrm>
          <a:prstGeom prst="rect">
            <a:avLst/>
          </a:prstGeom>
          <a:solidFill>
            <a:srgbClr val="0B5FC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3" name="TextBox 2"/>
          <p:cNvSpPr txBox="1"/>
          <p:nvPr/>
        </p:nvSpPr>
        <p:spPr>
          <a:xfrm>
            <a:off x="566928" y="384048"/>
            <a:ext cx="11057839" cy="713232"/>
          </a:xfrm>
          <a:prstGeom prst="rect">
            <a:avLst/>
          </a:prstGeom>
          <a:noFill/>
        </p:spPr>
        <p:txBody>
          <a:bodyPr wrap="square" anchor="t" lIns="0" rIns="0" tIns="0" bIns="0">
            <a:spAutoFit/>
          </a:bodyPr>
          <a:lstStyle/>
          <a:p>
            <a:pPr algn="l">
              <a:lnSpc>
                <a:spcPct val="118000"/>
              </a:lnSpc>
              <a:spcBef>
                <a:spcPts val="0"/>
              </a:spcBef>
              <a:spcAft>
                <a:spcPts val="0"/>
              </a:spcAft>
            </a:pPr>
            <a:r>
              <a:rPr sz="3000" b="1" i="0">
                <a:solidFill>
                  <a:srgbClr val="16202C"/>
                </a:solidFill>
                <a:latin typeface="Segoe UI"/>
                <a:ea typeface="맑은 고딕"/>
                <a:cs typeface="맑은 고딕"/>
              </a:rPr>
              <a:t>답변 원문: 코드 작성 (5)</a:t>
            </a:r>
          </a:p>
        </p:txBody>
      </p:sp>
      <p:cxnSp>
        <p:nvCxnSpPr>
          <p:cNvPr id="4" name="Connector 3"/>
          <p:cNvCxnSpPr/>
          <p:nvPr/>
        </p:nvCxnSpPr>
        <p:spPr>
          <a:xfrm>
            <a:off x="566928" y="1097280"/>
            <a:ext cx="11057839" cy="0"/>
          </a:xfrm>
          <a:prstGeom prst="line">
            <a:avLst/>
          </a:prstGeom>
          <a:ln w="15875">
            <a:solidFill>
              <a:srgbClr val="D6DEE7"/>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566928" y="6455664"/>
            <a:ext cx="9686239" cy="219456"/>
          </a:xfrm>
          <a:prstGeom prst="rect">
            <a:avLst/>
          </a:prstGeom>
          <a:noFill/>
        </p:spPr>
        <p:txBody>
          <a:bodyPr wrap="square" anchor="t" lIns="0" rIns="0" tIns="0" bIns="0">
            <a:spAutoFit/>
          </a:bodyPr>
          <a:lstStyle/>
          <a:p>
            <a:pPr algn="l">
              <a:lnSpc>
                <a:spcPct val="118000"/>
              </a:lnSpc>
              <a:spcBef>
                <a:spcPts val="0"/>
              </a:spcBef>
              <a:spcAft>
                <a:spcPts val="0"/>
              </a:spcAft>
            </a:pPr>
            <a:r>
              <a:rPr sz="950" b="0" i="0">
                <a:solidFill>
                  <a:srgbClr val="5B6B7B"/>
                </a:solidFill>
                <a:latin typeface="Segoe UI"/>
                <a:ea typeface="맑은 고딕"/>
                <a:cs typeface="맑은 고딕"/>
              </a:rPr>
              <a:t>RNGD 4장 서버, 2026-08-29 실측</a:t>
            </a:r>
          </a:p>
        </p:txBody>
      </p:sp>
      <p:sp>
        <p:nvSpPr>
          <p:cNvPr id="6" name="TextBox 5"/>
          <p:cNvSpPr txBox="1"/>
          <p:nvPr/>
        </p:nvSpPr>
        <p:spPr>
          <a:xfrm>
            <a:off x="10527487" y="6455664"/>
            <a:ext cx="1097280" cy="219456"/>
          </a:xfrm>
          <a:prstGeom prst="rect">
            <a:avLst/>
          </a:prstGeom>
          <a:noFill/>
        </p:spPr>
        <p:txBody>
          <a:bodyPr wrap="square" anchor="t" lIns="0" rIns="0" tIns="0" bIns="0">
            <a:spAutoFit/>
          </a:bodyPr>
          <a:lstStyle/>
          <a:p>
            <a:pPr algn="r">
              <a:lnSpc>
                <a:spcPct val="118000"/>
              </a:lnSpc>
              <a:spcBef>
                <a:spcPts val="0"/>
              </a:spcBef>
              <a:spcAft>
                <a:spcPts val="0"/>
              </a:spcAft>
            </a:pPr>
            <a:r>
              <a:rPr sz="950" b="0" i="0">
                <a:solidFill>
                  <a:srgbClr val="5B6B7B"/>
                </a:solidFill>
                <a:latin typeface="Segoe UI"/>
                <a:ea typeface="맑은 고딕"/>
                <a:cs typeface="맑은 고딕"/>
              </a:rPr>
              <a:t>19</a:t>
            </a:r>
          </a:p>
        </p:txBody>
      </p:sp>
      <p:sp>
        <p:nvSpPr>
          <p:cNvPr id="7" name="TextBox 6"/>
          <p:cNvSpPr txBox="1"/>
          <p:nvPr/>
        </p:nvSpPr>
        <p:spPr>
          <a:xfrm>
            <a:off x="566928" y="1316736"/>
            <a:ext cx="11057839" cy="4956048"/>
          </a:xfrm>
          <a:prstGeom prst="rect">
            <a:avLst/>
          </a:prstGeom>
          <a:noFill/>
        </p:spPr>
        <p:txBody>
          <a:bodyPr wrap="square" anchor="t" lIns="0" rIns="0" tIns="0" bIns="0">
            <a:spAutoFit/>
          </a:bodyPr>
          <a:lstStyle/>
          <a:p>
            <a:pPr algn="l">
              <a:lnSpc>
                <a:spcPct val="118000"/>
              </a:lnSpc>
              <a:spcBef>
                <a:spcPts val="200"/>
              </a:spcBef>
              <a:spcAft>
                <a:spcPts val="200"/>
              </a:spcAft>
            </a:pPr>
            <a:r>
              <a:rPr sz="1900" b="0" i="0">
                <a:solidFill>
                  <a:srgbClr val="16202C"/>
                </a:solidFill>
                <a:latin typeface="Segoe UI"/>
                <a:ea typeface="맑은 고딕"/>
                <a:cs typeface="맑은 고딕"/>
              </a:rPr>
              <a:t>▪  Llama 3.1 8B  (291tok)</a:t>
            </a:r>
          </a:p>
          <a:p>
            <a:pPr algn="l">
              <a:lnSpc>
                <a:spcPct val="118000"/>
              </a:lnSpc>
              <a:spcBef>
                <a:spcPts val="200"/>
              </a:spcBef>
              <a:spcAft>
                <a:spcPts val="100"/>
              </a:spcAft>
            </a:pPr>
            <a:r>
              <a:rPr sz="1780" b="0" i="0">
                <a:solidFill>
                  <a:srgbClr val="2C3A4B"/>
                </a:solidFill>
                <a:latin typeface="Segoe UI"/>
                <a:ea typeface="맑은 고딕"/>
                <a:cs typeface="맑은 고딕"/>
              </a:rPr>
              <a:t>–  ### 피보나치 수열의 n번째 항을 구하는 함수  ```python def fibonacci(n):     """     피보나치 수열의 n번째 항을 구하는 함수.      Args:         n (int): 피보나치 수열의 항의 위치.      Returns:         int: 피보나치 수열의 n번째 항.     """     if n &lt;= 0:         raise ValueError("n은 1 이상의 정수여야 합니다.")     elif n == 1:         return 0     elif n == 2:         return 1     else:         a, b = 0, 1         for _ in range(2, n):             a, b = b, a + b         return b  # 시간복잡도: O(n) ```  ### 설명  이 함수는 피보나치 수열의 n번째 항을 구하는 데 사용됩니다. 피보나치 수열은 다음과 같은 규칙을 따릅니다.  *   0 번째 항은 0입니다. *   1 번째 항은 1입니다. *   n 번째 항은 (n-1) 번째 항과 (n-2) 번째 항의 합입니다.  이 함수는 이 규칙을 사용하여 n 번째 항을 계산합니다. 시간복잡도는 O(n)입니다.</a:t>
            </a:r>
          </a:p>
          <a:p>
            <a:pPr algn="l">
              <a:lnSpc>
                <a:spcPct val="118000"/>
              </a:lnSpc>
              <a:spcBef>
                <a:spcPts val="600"/>
              </a:spcBef>
              <a:spcAft>
                <a:spcPts val="200"/>
              </a:spcAft>
            </a:pPr>
            <a:r>
              <a:rPr sz="1900" b="0" i="0">
                <a:solidFill>
                  <a:srgbClr val="16202C"/>
                </a:solidFill>
                <a:latin typeface="Segoe UI"/>
                <a:ea typeface="맑은 고딕"/>
                <a:cs typeface="맑은 고딕"/>
              </a:rPr>
              <a:t>▪  Qwen3 8B  (1024tok)</a:t>
            </a:r>
          </a:p>
          <a:p>
            <a:pPr algn="l">
              <a:lnSpc>
                <a:spcPct val="118000"/>
              </a:lnSpc>
              <a:spcBef>
                <a:spcPts val="200"/>
              </a:spcBef>
              <a:spcAft>
                <a:spcPts val="100"/>
              </a:spcAft>
            </a:pPr>
            <a:r>
              <a:rPr sz="1780" b="0" i="0">
                <a:solidFill>
                  <a:srgbClr val="2C3A4B"/>
                </a:solidFill>
                <a:latin typeface="Segoe UI"/>
                <a:ea typeface="맑은 고딕"/>
                <a:cs typeface="맑은 고딕"/>
              </a:rPr>
              <a:t>–  (답변 없음 — 사고만 하고 예산이 끝났다)</a:t>
            </a:r>
          </a:p>
          <a:p>
            <a:pPr algn="l">
              <a:lnSpc>
                <a:spcPct val="118000"/>
              </a:lnSpc>
              <a:spcBef>
                <a:spcPts val="600"/>
              </a:spcBef>
              <a:spcAft>
                <a:spcPts val="200"/>
              </a:spcAft>
            </a:pPr>
            <a:r>
              <a:rPr sz="1900" b="0" i="0">
                <a:solidFill>
                  <a:srgbClr val="16202C"/>
                </a:solidFill>
                <a:latin typeface="Segoe UI"/>
                <a:ea typeface="맑은 고딕"/>
                <a:cs typeface="맑은 고딕"/>
              </a:rPr>
              <a:t>▪  Qwen3 4B  (1024tok)</a:t>
            </a:r>
          </a:p>
          <a:p>
            <a:pPr algn="l">
              <a:lnSpc>
                <a:spcPct val="118000"/>
              </a:lnSpc>
              <a:spcBef>
                <a:spcPts val="200"/>
              </a:spcBef>
              <a:spcAft>
                <a:spcPts val="100"/>
              </a:spcAft>
            </a:pPr>
            <a:r>
              <a:rPr sz="1780" b="0" i="0">
                <a:solidFill>
                  <a:srgbClr val="2C3A4B"/>
                </a:solidFill>
                <a:latin typeface="Segoe UI"/>
                <a:ea typeface="맑은 고딕"/>
                <a:cs typeface="맑은 고딕"/>
              </a:rPr>
              <a:t>–  (답변 없음 — 사고만 하고 예산이 끝났다)</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46304" cy="6858000"/>
          </a:xfrm>
          <a:prstGeom prst="rect">
            <a:avLst/>
          </a:prstGeom>
          <a:solidFill>
            <a:srgbClr val="0B5FC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3" name="TextBox 2"/>
          <p:cNvSpPr txBox="1"/>
          <p:nvPr/>
        </p:nvSpPr>
        <p:spPr>
          <a:xfrm>
            <a:off x="566928" y="384048"/>
            <a:ext cx="11057839" cy="713232"/>
          </a:xfrm>
          <a:prstGeom prst="rect">
            <a:avLst/>
          </a:prstGeom>
          <a:noFill/>
        </p:spPr>
        <p:txBody>
          <a:bodyPr wrap="square" anchor="t" lIns="0" rIns="0" tIns="0" bIns="0">
            <a:spAutoFit/>
          </a:bodyPr>
          <a:lstStyle/>
          <a:p>
            <a:pPr algn="l">
              <a:lnSpc>
                <a:spcPct val="118000"/>
              </a:lnSpc>
              <a:spcBef>
                <a:spcPts val="0"/>
              </a:spcBef>
              <a:spcAft>
                <a:spcPts val="0"/>
              </a:spcAft>
            </a:pPr>
            <a:r>
              <a:rPr sz="3000" b="1" i="0">
                <a:solidFill>
                  <a:srgbClr val="16202C"/>
                </a:solidFill>
                <a:latin typeface="Segoe UI"/>
                <a:ea typeface="맑은 고딕"/>
                <a:cs typeface="맑은 고딕"/>
              </a:rPr>
              <a:t>답변 원문: 코드 작성 (6)</a:t>
            </a:r>
          </a:p>
        </p:txBody>
      </p:sp>
      <p:cxnSp>
        <p:nvCxnSpPr>
          <p:cNvPr id="4" name="Connector 3"/>
          <p:cNvCxnSpPr/>
          <p:nvPr/>
        </p:nvCxnSpPr>
        <p:spPr>
          <a:xfrm>
            <a:off x="566928" y="1097280"/>
            <a:ext cx="11057839" cy="0"/>
          </a:xfrm>
          <a:prstGeom prst="line">
            <a:avLst/>
          </a:prstGeom>
          <a:ln w="15875">
            <a:solidFill>
              <a:srgbClr val="D6DEE7"/>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566928" y="6455664"/>
            <a:ext cx="9686239" cy="219456"/>
          </a:xfrm>
          <a:prstGeom prst="rect">
            <a:avLst/>
          </a:prstGeom>
          <a:noFill/>
        </p:spPr>
        <p:txBody>
          <a:bodyPr wrap="square" anchor="t" lIns="0" rIns="0" tIns="0" bIns="0">
            <a:spAutoFit/>
          </a:bodyPr>
          <a:lstStyle/>
          <a:p>
            <a:pPr algn="l">
              <a:lnSpc>
                <a:spcPct val="118000"/>
              </a:lnSpc>
              <a:spcBef>
                <a:spcPts val="0"/>
              </a:spcBef>
              <a:spcAft>
                <a:spcPts val="0"/>
              </a:spcAft>
            </a:pPr>
            <a:r>
              <a:rPr sz="950" b="0" i="0">
                <a:solidFill>
                  <a:srgbClr val="5B6B7B"/>
                </a:solidFill>
                <a:latin typeface="Segoe UI"/>
                <a:ea typeface="맑은 고딕"/>
                <a:cs typeface="맑은 고딕"/>
              </a:rPr>
              <a:t>RNGD 4장 서버, 2026-08-29 실측</a:t>
            </a:r>
          </a:p>
        </p:txBody>
      </p:sp>
      <p:sp>
        <p:nvSpPr>
          <p:cNvPr id="6" name="TextBox 5"/>
          <p:cNvSpPr txBox="1"/>
          <p:nvPr/>
        </p:nvSpPr>
        <p:spPr>
          <a:xfrm>
            <a:off x="10527487" y="6455664"/>
            <a:ext cx="1097280" cy="219456"/>
          </a:xfrm>
          <a:prstGeom prst="rect">
            <a:avLst/>
          </a:prstGeom>
          <a:noFill/>
        </p:spPr>
        <p:txBody>
          <a:bodyPr wrap="square" anchor="t" lIns="0" rIns="0" tIns="0" bIns="0">
            <a:spAutoFit/>
          </a:bodyPr>
          <a:lstStyle/>
          <a:p>
            <a:pPr algn="r">
              <a:lnSpc>
                <a:spcPct val="118000"/>
              </a:lnSpc>
              <a:spcBef>
                <a:spcPts val="0"/>
              </a:spcBef>
              <a:spcAft>
                <a:spcPts val="0"/>
              </a:spcAft>
            </a:pPr>
            <a:r>
              <a:rPr sz="950" b="0" i="0">
                <a:solidFill>
                  <a:srgbClr val="5B6B7B"/>
                </a:solidFill>
                <a:latin typeface="Segoe UI"/>
                <a:ea typeface="맑은 고딕"/>
                <a:cs typeface="맑은 고딕"/>
              </a:rPr>
              <a:t>20</a:t>
            </a:r>
          </a:p>
        </p:txBody>
      </p:sp>
      <p:sp>
        <p:nvSpPr>
          <p:cNvPr id="7" name="TextBox 6"/>
          <p:cNvSpPr txBox="1"/>
          <p:nvPr/>
        </p:nvSpPr>
        <p:spPr>
          <a:xfrm>
            <a:off x="566928" y="1316736"/>
            <a:ext cx="11057839" cy="4956048"/>
          </a:xfrm>
          <a:prstGeom prst="rect">
            <a:avLst/>
          </a:prstGeom>
          <a:noFill/>
        </p:spPr>
        <p:txBody>
          <a:bodyPr wrap="square" anchor="t" lIns="0" rIns="0" tIns="0" bIns="0">
            <a:spAutoFit/>
          </a:bodyPr>
          <a:lstStyle/>
          <a:p>
            <a:pPr algn="l">
              <a:lnSpc>
                <a:spcPct val="118000"/>
              </a:lnSpc>
              <a:spcBef>
                <a:spcPts val="200"/>
              </a:spcBef>
              <a:spcAft>
                <a:spcPts val="200"/>
              </a:spcAft>
            </a:pPr>
            <a:r>
              <a:rPr sz="1900" b="0" i="0">
                <a:solidFill>
                  <a:srgbClr val="16202C"/>
                </a:solidFill>
                <a:latin typeface="Segoe UI"/>
                <a:ea typeface="맑은 고딕"/>
                <a:cs typeface="맑은 고딕"/>
              </a:rPr>
              <a:t>▪  Qwen2.5 0.5B  (289tok)</a:t>
            </a:r>
          </a:p>
          <a:p>
            <a:pPr algn="l">
              <a:lnSpc>
                <a:spcPct val="118000"/>
              </a:lnSpc>
              <a:spcBef>
                <a:spcPts val="200"/>
              </a:spcBef>
              <a:spcAft>
                <a:spcPts val="100"/>
              </a:spcAft>
            </a:pPr>
            <a:r>
              <a:rPr sz="1780" b="0" i="0">
                <a:solidFill>
                  <a:srgbClr val="2C3A4B"/>
                </a:solidFill>
                <a:latin typeface="Segoe UI"/>
                <a:ea typeface="맑은 고딕"/>
                <a:cs typeface="맑은 고딕"/>
              </a:rPr>
              <a:t>–  파이썬으로 피보나치 수열의 n번째 항을 반복문으로 구하는 함수를 작성해 보겠습니다. 이 함수는 n에 해당하는 피보나치 수열의 n번째 항을 반환합니다. 시간복잡도는 O(1)입니다.  ```python def fibonacci(n):     if n &lt;= 1:         return n     else:         return fibonacci(n-1) + fibonacci(n-2) ```  이 함수의 주요 특징은 다음과 같습니다:  1. `n &lt;= 1`는 피보나치 수열의 0번째 항과 1번째 항을 반환합니다. 2. `n &gt; 1`는 피보나치 수열의 n번째 항을 반환합니다.  이 함수를 사용하면 다음과 같은 시간 복잡도로 피보나치 수열의 n번째 항을 구할 수 있습니다:  - O(1) 시간 복잡도: `fibonacci(0)`, `fibonacci(1)` - O(1) 시간 복잡도: `fibonacci(2)`, `fibonacci(3)` - O(1) 시간 복잡도: `fibonacci(4)`, `fibonacci(5)` - ... 이까지 계속해서  이 함수는 피보나치 수열의 n번째 항을 구하는 데 사용됩니다.</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46304" cy="6858000"/>
          </a:xfrm>
          <a:prstGeom prst="rect">
            <a:avLst/>
          </a:prstGeom>
          <a:solidFill>
            <a:srgbClr val="0B5FC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3" name="TextBox 2"/>
          <p:cNvSpPr txBox="1"/>
          <p:nvPr/>
        </p:nvSpPr>
        <p:spPr>
          <a:xfrm>
            <a:off x="566928" y="384048"/>
            <a:ext cx="11057839" cy="713232"/>
          </a:xfrm>
          <a:prstGeom prst="rect">
            <a:avLst/>
          </a:prstGeom>
          <a:noFill/>
        </p:spPr>
        <p:txBody>
          <a:bodyPr wrap="square" anchor="t" lIns="0" rIns="0" tIns="0" bIns="0">
            <a:spAutoFit/>
          </a:bodyPr>
          <a:lstStyle/>
          <a:p>
            <a:pPr algn="l">
              <a:lnSpc>
                <a:spcPct val="118000"/>
              </a:lnSpc>
              <a:spcBef>
                <a:spcPts val="0"/>
              </a:spcBef>
              <a:spcAft>
                <a:spcPts val="0"/>
              </a:spcAft>
            </a:pPr>
            <a:r>
              <a:rPr sz="3000" b="1" i="0">
                <a:solidFill>
                  <a:srgbClr val="16202C"/>
                </a:solidFill>
                <a:latin typeface="Segoe UI"/>
                <a:ea typeface="맑은 고딕"/>
                <a:cs typeface="맑은 고딕"/>
              </a:rPr>
              <a:t>답변 원문: 계산 추론 (1)</a:t>
            </a:r>
          </a:p>
        </p:txBody>
      </p:sp>
      <p:cxnSp>
        <p:nvCxnSpPr>
          <p:cNvPr id="4" name="Connector 3"/>
          <p:cNvCxnSpPr/>
          <p:nvPr/>
        </p:nvCxnSpPr>
        <p:spPr>
          <a:xfrm>
            <a:off x="566928" y="1097280"/>
            <a:ext cx="11057839" cy="0"/>
          </a:xfrm>
          <a:prstGeom prst="line">
            <a:avLst/>
          </a:prstGeom>
          <a:ln w="15875">
            <a:solidFill>
              <a:srgbClr val="D6DEE7"/>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566928" y="6455664"/>
            <a:ext cx="9686239" cy="219456"/>
          </a:xfrm>
          <a:prstGeom prst="rect">
            <a:avLst/>
          </a:prstGeom>
          <a:noFill/>
        </p:spPr>
        <p:txBody>
          <a:bodyPr wrap="square" anchor="t" lIns="0" rIns="0" tIns="0" bIns="0">
            <a:spAutoFit/>
          </a:bodyPr>
          <a:lstStyle/>
          <a:p>
            <a:pPr algn="l">
              <a:lnSpc>
                <a:spcPct val="118000"/>
              </a:lnSpc>
              <a:spcBef>
                <a:spcPts val="0"/>
              </a:spcBef>
              <a:spcAft>
                <a:spcPts val="0"/>
              </a:spcAft>
            </a:pPr>
            <a:r>
              <a:rPr sz="950" b="0" i="0">
                <a:solidFill>
                  <a:srgbClr val="5B6B7B"/>
                </a:solidFill>
                <a:latin typeface="Segoe UI"/>
                <a:ea typeface="맑은 고딕"/>
                <a:cs typeface="맑은 고딕"/>
              </a:rPr>
              <a:t>RNGD 4장 서버, 2026-08-29 실측</a:t>
            </a:r>
          </a:p>
        </p:txBody>
      </p:sp>
      <p:sp>
        <p:nvSpPr>
          <p:cNvPr id="6" name="TextBox 5"/>
          <p:cNvSpPr txBox="1"/>
          <p:nvPr/>
        </p:nvSpPr>
        <p:spPr>
          <a:xfrm>
            <a:off x="10527487" y="6455664"/>
            <a:ext cx="1097280" cy="219456"/>
          </a:xfrm>
          <a:prstGeom prst="rect">
            <a:avLst/>
          </a:prstGeom>
          <a:noFill/>
        </p:spPr>
        <p:txBody>
          <a:bodyPr wrap="square" anchor="t" lIns="0" rIns="0" tIns="0" bIns="0">
            <a:spAutoFit/>
          </a:bodyPr>
          <a:lstStyle/>
          <a:p>
            <a:pPr algn="r">
              <a:lnSpc>
                <a:spcPct val="118000"/>
              </a:lnSpc>
              <a:spcBef>
                <a:spcPts val="0"/>
              </a:spcBef>
              <a:spcAft>
                <a:spcPts val="0"/>
              </a:spcAft>
            </a:pPr>
            <a:r>
              <a:rPr sz="950" b="0" i="0">
                <a:solidFill>
                  <a:srgbClr val="5B6B7B"/>
                </a:solidFill>
                <a:latin typeface="Segoe UI"/>
                <a:ea typeface="맑은 고딕"/>
                <a:cs typeface="맑은 고딕"/>
              </a:rPr>
              <a:t>21</a:t>
            </a:r>
          </a:p>
        </p:txBody>
      </p:sp>
      <p:sp>
        <p:nvSpPr>
          <p:cNvPr id="7" name="TextBox 6"/>
          <p:cNvSpPr txBox="1"/>
          <p:nvPr/>
        </p:nvSpPr>
        <p:spPr>
          <a:xfrm>
            <a:off x="566928" y="1316736"/>
            <a:ext cx="11057839" cy="4956048"/>
          </a:xfrm>
          <a:prstGeom prst="rect">
            <a:avLst/>
          </a:prstGeom>
          <a:noFill/>
        </p:spPr>
        <p:txBody>
          <a:bodyPr wrap="square" anchor="t" lIns="0" rIns="0" tIns="0" bIns="0">
            <a:spAutoFit/>
          </a:bodyPr>
          <a:lstStyle/>
          <a:p>
            <a:pPr algn="l">
              <a:lnSpc>
                <a:spcPct val="118000"/>
              </a:lnSpc>
              <a:spcBef>
                <a:spcPts val="200"/>
              </a:spcBef>
              <a:spcAft>
                <a:spcPts val="200"/>
              </a:spcAft>
            </a:pPr>
            <a:r>
              <a:rPr sz="1900" b="0" i="0">
                <a:solidFill>
                  <a:srgbClr val="16202C"/>
                </a:solidFill>
                <a:latin typeface="Segoe UI"/>
                <a:ea typeface="맑은 고딕"/>
                <a:cs typeface="맑은 고딕"/>
              </a:rPr>
              <a:t>▪  gpt-oss 120B  (492tok)</a:t>
            </a:r>
          </a:p>
          <a:p>
            <a:pPr algn="l">
              <a:lnSpc>
                <a:spcPct val="118000"/>
              </a:lnSpc>
              <a:spcBef>
                <a:spcPts val="200"/>
              </a:spcBef>
              <a:spcAft>
                <a:spcPts val="100"/>
              </a:spcAft>
            </a:pPr>
            <a:r>
              <a:rPr sz="1780" b="0" i="0">
                <a:solidFill>
                  <a:srgbClr val="2C3A4B"/>
                </a:solidFill>
                <a:latin typeface="Segoe UI"/>
                <a:ea typeface="맑은 고딕"/>
                <a:cs typeface="맑은 고딕"/>
              </a:rPr>
              <a:t>–  **문제**   - 한 상자에 사과 12개가 들어갑니다.   - 총 사과 100개를 모두 담으려면 몇 개의 상자가 필요하고, 마지막 상자에 남는 사과는 몇 개인가요?  ---  ### 1. 전체 사과 수 ÷ 한 상자에 들어가는 사과 수    \[ \frac{100}{12}=8\text{…}4 \]  - **8** : 12개씩 가득 채울 수 있는 상자의 개수 (정수 부분)   - **4** : 나머지, 즉 마지막 상자에 남는 사과 수    ### 2. 필요한 상자 수    가득 채운 상자 8개 외에, 남은 사과 4개를 넣을 **추가 상자**가 하나 더 필요합니다.  \[ \text{필요한 상자 수}=8+1=9\text{개} \]  ### 3. 마지막 상자에 남는 사과 수    위 나머지 연산에서 구한 **4**가 바로 마지막 상자에 들어가는 사과 수입니다.  ---  ## 최종 답  - **필요한 상자 수:** **9개**   - **마지막 상자에 남는 사과:** **4개**    (계산 과정: 100 ÷ 12 = 8 remainder 4 → 8개의 가득 찬 상자 + 1개의 남은 사과 4개를 담는 상자)</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46304" cy="6858000"/>
          </a:xfrm>
          <a:prstGeom prst="rect">
            <a:avLst/>
          </a:prstGeom>
          <a:solidFill>
            <a:srgbClr val="0B5FC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3" name="TextBox 2"/>
          <p:cNvSpPr txBox="1"/>
          <p:nvPr/>
        </p:nvSpPr>
        <p:spPr>
          <a:xfrm>
            <a:off x="566928" y="384048"/>
            <a:ext cx="11057839" cy="713232"/>
          </a:xfrm>
          <a:prstGeom prst="rect">
            <a:avLst/>
          </a:prstGeom>
          <a:noFill/>
        </p:spPr>
        <p:txBody>
          <a:bodyPr wrap="square" anchor="t" lIns="0" rIns="0" tIns="0" bIns="0">
            <a:spAutoFit/>
          </a:bodyPr>
          <a:lstStyle/>
          <a:p>
            <a:pPr algn="l">
              <a:lnSpc>
                <a:spcPct val="118000"/>
              </a:lnSpc>
              <a:spcBef>
                <a:spcPts val="0"/>
              </a:spcBef>
              <a:spcAft>
                <a:spcPts val="0"/>
              </a:spcAft>
            </a:pPr>
            <a:r>
              <a:rPr sz="3000" b="1" i="0">
                <a:solidFill>
                  <a:srgbClr val="16202C"/>
                </a:solidFill>
                <a:latin typeface="Segoe UI"/>
                <a:ea typeface="맑은 고딕"/>
                <a:cs typeface="맑은 고딕"/>
              </a:rPr>
              <a:t>답변 원문: 계산 추론 (2)</a:t>
            </a:r>
          </a:p>
        </p:txBody>
      </p:sp>
      <p:cxnSp>
        <p:nvCxnSpPr>
          <p:cNvPr id="4" name="Connector 3"/>
          <p:cNvCxnSpPr/>
          <p:nvPr/>
        </p:nvCxnSpPr>
        <p:spPr>
          <a:xfrm>
            <a:off x="566928" y="1097280"/>
            <a:ext cx="11057839" cy="0"/>
          </a:xfrm>
          <a:prstGeom prst="line">
            <a:avLst/>
          </a:prstGeom>
          <a:ln w="15875">
            <a:solidFill>
              <a:srgbClr val="D6DEE7"/>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566928" y="6455664"/>
            <a:ext cx="9686239" cy="219456"/>
          </a:xfrm>
          <a:prstGeom prst="rect">
            <a:avLst/>
          </a:prstGeom>
          <a:noFill/>
        </p:spPr>
        <p:txBody>
          <a:bodyPr wrap="square" anchor="t" lIns="0" rIns="0" tIns="0" bIns="0">
            <a:spAutoFit/>
          </a:bodyPr>
          <a:lstStyle/>
          <a:p>
            <a:pPr algn="l">
              <a:lnSpc>
                <a:spcPct val="118000"/>
              </a:lnSpc>
              <a:spcBef>
                <a:spcPts val="0"/>
              </a:spcBef>
              <a:spcAft>
                <a:spcPts val="0"/>
              </a:spcAft>
            </a:pPr>
            <a:r>
              <a:rPr sz="950" b="0" i="0">
                <a:solidFill>
                  <a:srgbClr val="5B6B7B"/>
                </a:solidFill>
                <a:latin typeface="Segoe UI"/>
                <a:ea typeface="맑은 고딕"/>
                <a:cs typeface="맑은 고딕"/>
              </a:rPr>
              <a:t>RNGD 4장 서버, 2026-08-29 실측</a:t>
            </a:r>
          </a:p>
        </p:txBody>
      </p:sp>
      <p:sp>
        <p:nvSpPr>
          <p:cNvPr id="6" name="TextBox 5"/>
          <p:cNvSpPr txBox="1"/>
          <p:nvPr/>
        </p:nvSpPr>
        <p:spPr>
          <a:xfrm>
            <a:off x="10527487" y="6455664"/>
            <a:ext cx="1097280" cy="219456"/>
          </a:xfrm>
          <a:prstGeom prst="rect">
            <a:avLst/>
          </a:prstGeom>
          <a:noFill/>
        </p:spPr>
        <p:txBody>
          <a:bodyPr wrap="square" anchor="t" lIns="0" rIns="0" tIns="0" bIns="0">
            <a:spAutoFit/>
          </a:bodyPr>
          <a:lstStyle/>
          <a:p>
            <a:pPr algn="r">
              <a:lnSpc>
                <a:spcPct val="118000"/>
              </a:lnSpc>
              <a:spcBef>
                <a:spcPts val="0"/>
              </a:spcBef>
              <a:spcAft>
                <a:spcPts val="0"/>
              </a:spcAft>
            </a:pPr>
            <a:r>
              <a:rPr sz="950" b="0" i="0">
                <a:solidFill>
                  <a:srgbClr val="5B6B7B"/>
                </a:solidFill>
                <a:latin typeface="Segoe UI"/>
                <a:ea typeface="맑은 고딕"/>
                <a:cs typeface="맑은 고딕"/>
              </a:rPr>
              <a:t>22</a:t>
            </a:r>
          </a:p>
        </p:txBody>
      </p:sp>
      <p:sp>
        <p:nvSpPr>
          <p:cNvPr id="7" name="TextBox 6"/>
          <p:cNvSpPr txBox="1"/>
          <p:nvPr/>
        </p:nvSpPr>
        <p:spPr>
          <a:xfrm>
            <a:off x="566928" y="1316736"/>
            <a:ext cx="11057839" cy="4956048"/>
          </a:xfrm>
          <a:prstGeom prst="rect">
            <a:avLst/>
          </a:prstGeom>
          <a:noFill/>
        </p:spPr>
        <p:txBody>
          <a:bodyPr wrap="square" anchor="t" lIns="0" rIns="0" tIns="0" bIns="0">
            <a:spAutoFit/>
          </a:bodyPr>
          <a:lstStyle/>
          <a:p>
            <a:pPr algn="l">
              <a:lnSpc>
                <a:spcPct val="118000"/>
              </a:lnSpc>
              <a:spcBef>
                <a:spcPts val="200"/>
              </a:spcBef>
              <a:spcAft>
                <a:spcPts val="200"/>
              </a:spcAft>
            </a:pPr>
            <a:r>
              <a:rPr sz="1900" b="0" i="0">
                <a:solidFill>
                  <a:srgbClr val="16202C"/>
                </a:solidFill>
                <a:latin typeface="Segoe UI"/>
                <a:ea typeface="맑은 고딕"/>
                <a:cs typeface="맑은 고딕"/>
              </a:rPr>
              <a:t>▪  Solar-Open 100B  (1024tok)</a:t>
            </a:r>
          </a:p>
          <a:p>
            <a:pPr algn="l">
              <a:lnSpc>
                <a:spcPct val="118000"/>
              </a:lnSpc>
              <a:spcBef>
                <a:spcPts val="200"/>
              </a:spcBef>
              <a:spcAft>
                <a:spcPts val="100"/>
              </a:spcAft>
            </a:pPr>
            <a:r>
              <a:rPr sz="1780" b="0" i="0">
                <a:solidFill>
                  <a:srgbClr val="2C3A4B"/>
                </a:solidFill>
                <a:latin typeface="Segoe UI"/>
                <a:ea typeface="맑은 고딕"/>
                <a:cs typeface="맑은 고딕"/>
              </a:rPr>
              <a:t>–  **계산 과정**  1. **전체 사과 수를 한 상자에 들어가는 사과 수로 나눕니다.**      \[    100 \div 12 = 8 \text{ remainder } 4    \]  2. **정수 부분(몫)은 ‘가득 찬 상자’의 개수**      - 8개의 상자는 각각 12개의 사과를 담을 수 있습니다.      - 8 × 12 = 96개의 사과가 들어갑니다.  3. **나머지(잔여 사과)는 마지막 상자에 남게 됩니다.**      - 100 − 9</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46304" cy="6858000"/>
          </a:xfrm>
          <a:prstGeom prst="rect">
            <a:avLst/>
          </a:prstGeom>
          <a:solidFill>
            <a:srgbClr val="0B5FC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3" name="TextBox 2"/>
          <p:cNvSpPr txBox="1"/>
          <p:nvPr/>
        </p:nvSpPr>
        <p:spPr>
          <a:xfrm>
            <a:off x="566928" y="384048"/>
            <a:ext cx="11057839" cy="713232"/>
          </a:xfrm>
          <a:prstGeom prst="rect">
            <a:avLst/>
          </a:prstGeom>
          <a:noFill/>
        </p:spPr>
        <p:txBody>
          <a:bodyPr wrap="square" anchor="t" lIns="0" rIns="0" tIns="0" bIns="0">
            <a:spAutoFit/>
          </a:bodyPr>
          <a:lstStyle/>
          <a:p>
            <a:pPr algn="l">
              <a:lnSpc>
                <a:spcPct val="118000"/>
              </a:lnSpc>
              <a:spcBef>
                <a:spcPts val="0"/>
              </a:spcBef>
              <a:spcAft>
                <a:spcPts val="0"/>
              </a:spcAft>
            </a:pPr>
            <a:r>
              <a:rPr sz="3000" b="1" i="0">
                <a:solidFill>
                  <a:srgbClr val="16202C"/>
                </a:solidFill>
                <a:latin typeface="Segoe UI"/>
                <a:ea typeface="맑은 고딕"/>
                <a:cs typeface="맑은 고딕"/>
              </a:rPr>
              <a:t>답변 원문: 계산 추론 (3)</a:t>
            </a:r>
          </a:p>
        </p:txBody>
      </p:sp>
      <p:cxnSp>
        <p:nvCxnSpPr>
          <p:cNvPr id="4" name="Connector 3"/>
          <p:cNvCxnSpPr/>
          <p:nvPr/>
        </p:nvCxnSpPr>
        <p:spPr>
          <a:xfrm>
            <a:off x="566928" y="1097280"/>
            <a:ext cx="11057839" cy="0"/>
          </a:xfrm>
          <a:prstGeom prst="line">
            <a:avLst/>
          </a:prstGeom>
          <a:ln w="15875">
            <a:solidFill>
              <a:srgbClr val="D6DEE7"/>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566928" y="6455664"/>
            <a:ext cx="9686239" cy="219456"/>
          </a:xfrm>
          <a:prstGeom prst="rect">
            <a:avLst/>
          </a:prstGeom>
          <a:noFill/>
        </p:spPr>
        <p:txBody>
          <a:bodyPr wrap="square" anchor="t" lIns="0" rIns="0" tIns="0" bIns="0">
            <a:spAutoFit/>
          </a:bodyPr>
          <a:lstStyle/>
          <a:p>
            <a:pPr algn="l">
              <a:lnSpc>
                <a:spcPct val="118000"/>
              </a:lnSpc>
              <a:spcBef>
                <a:spcPts val="0"/>
              </a:spcBef>
              <a:spcAft>
                <a:spcPts val="0"/>
              </a:spcAft>
            </a:pPr>
            <a:r>
              <a:rPr sz="950" b="0" i="0">
                <a:solidFill>
                  <a:srgbClr val="5B6B7B"/>
                </a:solidFill>
                <a:latin typeface="Segoe UI"/>
                <a:ea typeface="맑은 고딕"/>
                <a:cs typeface="맑은 고딕"/>
              </a:rPr>
              <a:t>RNGD 4장 서버, 2026-08-29 실측</a:t>
            </a:r>
          </a:p>
        </p:txBody>
      </p:sp>
      <p:sp>
        <p:nvSpPr>
          <p:cNvPr id="6" name="TextBox 5"/>
          <p:cNvSpPr txBox="1"/>
          <p:nvPr/>
        </p:nvSpPr>
        <p:spPr>
          <a:xfrm>
            <a:off x="10527487" y="6455664"/>
            <a:ext cx="1097280" cy="219456"/>
          </a:xfrm>
          <a:prstGeom prst="rect">
            <a:avLst/>
          </a:prstGeom>
          <a:noFill/>
        </p:spPr>
        <p:txBody>
          <a:bodyPr wrap="square" anchor="t" lIns="0" rIns="0" tIns="0" bIns="0">
            <a:spAutoFit/>
          </a:bodyPr>
          <a:lstStyle/>
          <a:p>
            <a:pPr algn="r">
              <a:lnSpc>
                <a:spcPct val="118000"/>
              </a:lnSpc>
              <a:spcBef>
                <a:spcPts val="0"/>
              </a:spcBef>
              <a:spcAft>
                <a:spcPts val="0"/>
              </a:spcAft>
            </a:pPr>
            <a:r>
              <a:rPr sz="950" b="0" i="0">
                <a:solidFill>
                  <a:srgbClr val="5B6B7B"/>
                </a:solidFill>
                <a:latin typeface="Segoe UI"/>
                <a:ea typeface="맑은 고딕"/>
                <a:cs typeface="맑은 고딕"/>
              </a:rPr>
              <a:t>23</a:t>
            </a:r>
          </a:p>
        </p:txBody>
      </p:sp>
      <p:sp>
        <p:nvSpPr>
          <p:cNvPr id="7" name="TextBox 6"/>
          <p:cNvSpPr txBox="1"/>
          <p:nvPr/>
        </p:nvSpPr>
        <p:spPr>
          <a:xfrm>
            <a:off x="566928" y="1316736"/>
            <a:ext cx="11057839" cy="4956048"/>
          </a:xfrm>
          <a:prstGeom prst="rect">
            <a:avLst/>
          </a:prstGeom>
          <a:noFill/>
        </p:spPr>
        <p:txBody>
          <a:bodyPr wrap="square" anchor="t" lIns="0" rIns="0" tIns="0" bIns="0">
            <a:spAutoFit/>
          </a:bodyPr>
          <a:lstStyle/>
          <a:p>
            <a:pPr algn="l">
              <a:lnSpc>
                <a:spcPct val="118000"/>
              </a:lnSpc>
              <a:spcBef>
                <a:spcPts val="200"/>
              </a:spcBef>
              <a:spcAft>
                <a:spcPts val="200"/>
              </a:spcAft>
            </a:pPr>
            <a:r>
              <a:rPr sz="1900" b="0" i="0">
                <a:solidFill>
                  <a:srgbClr val="16202C"/>
                </a:solidFill>
                <a:latin typeface="Segoe UI"/>
                <a:ea typeface="맑은 고딕"/>
                <a:cs typeface="맑은 고딕"/>
              </a:rPr>
              <a:t>▪  K-EXAONE 236B  (999tok)</a:t>
            </a:r>
          </a:p>
          <a:p>
            <a:pPr algn="l">
              <a:lnSpc>
                <a:spcPct val="118000"/>
              </a:lnSpc>
              <a:spcBef>
                <a:spcPts val="200"/>
              </a:spcBef>
              <a:spcAft>
                <a:spcPts val="100"/>
              </a:spcAft>
            </a:pPr>
            <a:r>
              <a:rPr sz="1780" b="0" i="0">
                <a:solidFill>
                  <a:srgbClr val="2C3A4B"/>
                </a:solidFill>
                <a:latin typeface="Segoe UI"/>
                <a:ea typeface="맑은 고딕"/>
                <a:cs typeface="맑은 고딕"/>
              </a:rPr>
              <a:t>–  ### 문제 해결 과정  1. **문제 분석**      - 한 상자에 사과 12개를 담을 수 있습니다.      - 총 100개의 사과를 담을 때 필요한 상자 수와 마지막 상자에 남는 사과 수를 구해야 합니다.  2. **계산 방법**      - 100을 12로 나누어 **몫**과 **나머지**를 구합니다.        - 몫: 완전히 채워진 상자의 수        - 나머지: 마지막 상자에 남는 사과 수    3. **나눗셈 수행**      $$    100 \div 12 = 8 \text{ (몫)}, \quad \text{나머지 } 4    $$    - $ 12 \times 8 = 96 $      - $ 100 - 96 = 4 $    4. **해석**      - 8개의 상자는 완전히 채워집니다 (96개).      - 남은 4개의 사과를 담기 위해 **추가로 1개의 상자**가 필요합니다.      - 따라서 **총 9개의 상자**가 필요하며, **마지막 상자에는 4개**의 사과가 남습니다.  ---  ### 최종 답안   - **필요한 상자 수**: $ \boxed{9} $   - **마지막 상자에 남는 사과 수**: $ \boxed{4} $</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46304" cy="6858000"/>
          </a:xfrm>
          <a:prstGeom prst="rect">
            <a:avLst/>
          </a:prstGeom>
          <a:solidFill>
            <a:srgbClr val="0B5FC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3" name="TextBox 2"/>
          <p:cNvSpPr txBox="1"/>
          <p:nvPr/>
        </p:nvSpPr>
        <p:spPr>
          <a:xfrm>
            <a:off x="566928" y="384048"/>
            <a:ext cx="11057839" cy="713232"/>
          </a:xfrm>
          <a:prstGeom prst="rect">
            <a:avLst/>
          </a:prstGeom>
          <a:noFill/>
        </p:spPr>
        <p:txBody>
          <a:bodyPr wrap="square" anchor="t" lIns="0" rIns="0" tIns="0" bIns="0">
            <a:spAutoFit/>
          </a:bodyPr>
          <a:lstStyle/>
          <a:p>
            <a:pPr algn="l">
              <a:lnSpc>
                <a:spcPct val="118000"/>
              </a:lnSpc>
              <a:spcBef>
                <a:spcPts val="0"/>
              </a:spcBef>
              <a:spcAft>
                <a:spcPts val="0"/>
              </a:spcAft>
            </a:pPr>
            <a:r>
              <a:rPr sz="3000" b="1" i="0">
                <a:solidFill>
                  <a:srgbClr val="16202C"/>
                </a:solidFill>
                <a:latin typeface="Segoe UI"/>
                <a:ea typeface="맑은 고딕"/>
                <a:cs typeface="맑은 고딕"/>
              </a:rPr>
              <a:t>답변 원문: 계산 추론 (4)</a:t>
            </a:r>
          </a:p>
        </p:txBody>
      </p:sp>
      <p:cxnSp>
        <p:nvCxnSpPr>
          <p:cNvPr id="4" name="Connector 3"/>
          <p:cNvCxnSpPr/>
          <p:nvPr/>
        </p:nvCxnSpPr>
        <p:spPr>
          <a:xfrm>
            <a:off x="566928" y="1097280"/>
            <a:ext cx="11057839" cy="0"/>
          </a:xfrm>
          <a:prstGeom prst="line">
            <a:avLst/>
          </a:prstGeom>
          <a:ln w="15875">
            <a:solidFill>
              <a:srgbClr val="D6DEE7"/>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566928" y="6455664"/>
            <a:ext cx="9686239" cy="219456"/>
          </a:xfrm>
          <a:prstGeom prst="rect">
            <a:avLst/>
          </a:prstGeom>
          <a:noFill/>
        </p:spPr>
        <p:txBody>
          <a:bodyPr wrap="square" anchor="t" lIns="0" rIns="0" tIns="0" bIns="0">
            <a:spAutoFit/>
          </a:bodyPr>
          <a:lstStyle/>
          <a:p>
            <a:pPr algn="l">
              <a:lnSpc>
                <a:spcPct val="118000"/>
              </a:lnSpc>
              <a:spcBef>
                <a:spcPts val="0"/>
              </a:spcBef>
              <a:spcAft>
                <a:spcPts val="0"/>
              </a:spcAft>
            </a:pPr>
            <a:r>
              <a:rPr sz="950" b="0" i="0">
                <a:solidFill>
                  <a:srgbClr val="5B6B7B"/>
                </a:solidFill>
                <a:latin typeface="Segoe UI"/>
                <a:ea typeface="맑은 고딕"/>
                <a:cs typeface="맑은 고딕"/>
              </a:rPr>
              <a:t>RNGD 4장 서버, 2026-08-29 실측</a:t>
            </a:r>
          </a:p>
        </p:txBody>
      </p:sp>
      <p:sp>
        <p:nvSpPr>
          <p:cNvPr id="6" name="TextBox 5"/>
          <p:cNvSpPr txBox="1"/>
          <p:nvPr/>
        </p:nvSpPr>
        <p:spPr>
          <a:xfrm>
            <a:off x="10527487" y="6455664"/>
            <a:ext cx="1097280" cy="219456"/>
          </a:xfrm>
          <a:prstGeom prst="rect">
            <a:avLst/>
          </a:prstGeom>
          <a:noFill/>
        </p:spPr>
        <p:txBody>
          <a:bodyPr wrap="square" anchor="t" lIns="0" rIns="0" tIns="0" bIns="0">
            <a:spAutoFit/>
          </a:bodyPr>
          <a:lstStyle/>
          <a:p>
            <a:pPr algn="r">
              <a:lnSpc>
                <a:spcPct val="118000"/>
              </a:lnSpc>
              <a:spcBef>
                <a:spcPts val="0"/>
              </a:spcBef>
              <a:spcAft>
                <a:spcPts val="0"/>
              </a:spcAft>
            </a:pPr>
            <a:r>
              <a:rPr sz="950" b="0" i="0">
                <a:solidFill>
                  <a:srgbClr val="5B6B7B"/>
                </a:solidFill>
                <a:latin typeface="Segoe UI"/>
                <a:ea typeface="맑은 고딕"/>
                <a:cs typeface="맑은 고딕"/>
              </a:rPr>
              <a:t>24</a:t>
            </a:r>
          </a:p>
        </p:txBody>
      </p:sp>
      <p:sp>
        <p:nvSpPr>
          <p:cNvPr id="7" name="TextBox 6"/>
          <p:cNvSpPr txBox="1"/>
          <p:nvPr/>
        </p:nvSpPr>
        <p:spPr>
          <a:xfrm>
            <a:off x="566928" y="1316736"/>
            <a:ext cx="11057839" cy="4956048"/>
          </a:xfrm>
          <a:prstGeom prst="rect">
            <a:avLst/>
          </a:prstGeom>
          <a:noFill/>
        </p:spPr>
        <p:txBody>
          <a:bodyPr wrap="square" anchor="t" lIns="0" rIns="0" tIns="0" bIns="0">
            <a:spAutoFit/>
          </a:bodyPr>
          <a:lstStyle/>
          <a:p>
            <a:pPr algn="l">
              <a:lnSpc>
                <a:spcPct val="118000"/>
              </a:lnSpc>
              <a:spcBef>
                <a:spcPts val="200"/>
              </a:spcBef>
              <a:spcAft>
                <a:spcPts val="200"/>
              </a:spcAft>
            </a:pPr>
            <a:r>
              <a:rPr sz="1900" b="0" i="0">
                <a:solidFill>
                  <a:srgbClr val="16202C"/>
                </a:solidFill>
                <a:latin typeface="Segoe UI"/>
                <a:ea typeface="맑은 고딕"/>
                <a:cs typeface="맑은 고딕"/>
              </a:rPr>
              <a:t>▪  Llama 3.3 70B  (233tok)</a:t>
            </a:r>
          </a:p>
          <a:p>
            <a:pPr algn="l">
              <a:lnSpc>
                <a:spcPct val="118000"/>
              </a:lnSpc>
              <a:spcBef>
                <a:spcPts val="200"/>
              </a:spcBef>
              <a:spcAft>
                <a:spcPts val="100"/>
              </a:spcAft>
            </a:pPr>
            <a:r>
              <a:rPr sz="1780" b="0" i="0">
                <a:solidFill>
                  <a:srgbClr val="2C3A4B"/>
                </a:solidFill>
                <a:latin typeface="Segoe UI"/>
                <a:ea typeface="맑은 고딕"/>
                <a:cs typeface="맑은 고딕"/>
              </a:rPr>
              <a:t>–  사과 100개를 담으려면 필요한 상자의 수를 계산해 보겠습니다.  1. 사과 100개를 한 상자에 담을 수 있는 사과 개수인 12로 나눕니다. 100 ÷ 12 = 8.33  2. 상자의 수는 정수로만 표현할 수 있기 때문에, 8.33을 8로 반올림 내림합니다.     따라서 필요한 상자의 수는 9개입니다.  3. 마지막 상자에 담긴 사과의 수를 계산해 보겠습니다.    9개의 상자에 12개의 사과를 담으면, 9 x 12 = 108개의 사과를 담을 수 있습니다.    하지만 사과는 100개만 있으므로, 마지막 상자에는 100 - (8 x 12) = 100 - 96 = 4개의 사과가 담깁니다.  따라서 사과 100개를 담으려면 9개의 상자가 필요하고, 마지막 상자에는 4개의 사과가 남습니다.</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46304" cy="6858000"/>
          </a:xfrm>
          <a:prstGeom prst="rect">
            <a:avLst/>
          </a:prstGeom>
          <a:solidFill>
            <a:srgbClr val="0B5FC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3" name="TextBox 2"/>
          <p:cNvSpPr txBox="1"/>
          <p:nvPr/>
        </p:nvSpPr>
        <p:spPr>
          <a:xfrm>
            <a:off x="566928" y="384048"/>
            <a:ext cx="11057839" cy="713232"/>
          </a:xfrm>
          <a:prstGeom prst="rect">
            <a:avLst/>
          </a:prstGeom>
          <a:noFill/>
        </p:spPr>
        <p:txBody>
          <a:bodyPr wrap="square" anchor="t" lIns="0" rIns="0" tIns="0" bIns="0">
            <a:spAutoFit/>
          </a:bodyPr>
          <a:lstStyle/>
          <a:p>
            <a:pPr algn="l">
              <a:lnSpc>
                <a:spcPct val="118000"/>
              </a:lnSpc>
              <a:spcBef>
                <a:spcPts val="0"/>
              </a:spcBef>
              <a:spcAft>
                <a:spcPts val="0"/>
              </a:spcAft>
            </a:pPr>
            <a:r>
              <a:rPr sz="3000" b="1" i="0">
                <a:solidFill>
                  <a:srgbClr val="16202C"/>
                </a:solidFill>
                <a:latin typeface="Segoe UI"/>
                <a:ea typeface="맑은 고딕"/>
                <a:cs typeface="맑은 고딕"/>
              </a:rPr>
              <a:t>답변 원문: 계산 추론 (5)</a:t>
            </a:r>
          </a:p>
        </p:txBody>
      </p:sp>
      <p:cxnSp>
        <p:nvCxnSpPr>
          <p:cNvPr id="4" name="Connector 3"/>
          <p:cNvCxnSpPr/>
          <p:nvPr/>
        </p:nvCxnSpPr>
        <p:spPr>
          <a:xfrm>
            <a:off x="566928" y="1097280"/>
            <a:ext cx="11057839" cy="0"/>
          </a:xfrm>
          <a:prstGeom prst="line">
            <a:avLst/>
          </a:prstGeom>
          <a:ln w="15875">
            <a:solidFill>
              <a:srgbClr val="D6DEE7"/>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566928" y="6455664"/>
            <a:ext cx="9686239" cy="219456"/>
          </a:xfrm>
          <a:prstGeom prst="rect">
            <a:avLst/>
          </a:prstGeom>
          <a:noFill/>
        </p:spPr>
        <p:txBody>
          <a:bodyPr wrap="square" anchor="t" lIns="0" rIns="0" tIns="0" bIns="0">
            <a:spAutoFit/>
          </a:bodyPr>
          <a:lstStyle/>
          <a:p>
            <a:pPr algn="l">
              <a:lnSpc>
                <a:spcPct val="118000"/>
              </a:lnSpc>
              <a:spcBef>
                <a:spcPts val="0"/>
              </a:spcBef>
              <a:spcAft>
                <a:spcPts val="0"/>
              </a:spcAft>
            </a:pPr>
            <a:r>
              <a:rPr sz="950" b="0" i="0">
                <a:solidFill>
                  <a:srgbClr val="5B6B7B"/>
                </a:solidFill>
                <a:latin typeface="Segoe UI"/>
                <a:ea typeface="맑은 고딕"/>
                <a:cs typeface="맑은 고딕"/>
              </a:rPr>
              <a:t>RNGD 4장 서버, 2026-08-29 실측</a:t>
            </a:r>
          </a:p>
        </p:txBody>
      </p:sp>
      <p:sp>
        <p:nvSpPr>
          <p:cNvPr id="6" name="TextBox 5"/>
          <p:cNvSpPr txBox="1"/>
          <p:nvPr/>
        </p:nvSpPr>
        <p:spPr>
          <a:xfrm>
            <a:off x="10527487" y="6455664"/>
            <a:ext cx="1097280" cy="219456"/>
          </a:xfrm>
          <a:prstGeom prst="rect">
            <a:avLst/>
          </a:prstGeom>
          <a:noFill/>
        </p:spPr>
        <p:txBody>
          <a:bodyPr wrap="square" anchor="t" lIns="0" rIns="0" tIns="0" bIns="0">
            <a:spAutoFit/>
          </a:bodyPr>
          <a:lstStyle/>
          <a:p>
            <a:pPr algn="r">
              <a:lnSpc>
                <a:spcPct val="118000"/>
              </a:lnSpc>
              <a:spcBef>
                <a:spcPts val="0"/>
              </a:spcBef>
              <a:spcAft>
                <a:spcPts val="0"/>
              </a:spcAft>
            </a:pPr>
            <a:r>
              <a:rPr sz="950" b="0" i="0">
                <a:solidFill>
                  <a:srgbClr val="5B6B7B"/>
                </a:solidFill>
                <a:latin typeface="Segoe UI"/>
                <a:ea typeface="맑은 고딕"/>
                <a:cs typeface="맑은 고딕"/>
              </a:rPr>
              <a:t>25</a:t>
            </a:r>
          </a:p>
        </p:txBody>
      </p:sp>
      <p:sp>
        <p:nvSpPr>
          <p:cNvPr id="7" name="TextBox 6"/>
          <p:cNvSpPr txBox="1"/>
          <p:nvPr/>
        </p:nvSpPr>
        <p:spPr>
          <a:xfrm>
            <a:off x="566928" y="1316736"/>
            <a:ext cx="11057839" cy="4956048"/>
          </a:xfrm>
          <a:prstGeom prst="rect">
            <a:avLst/>
          </a:prstGeom>
          <a:noFill/>
        </p:spPr>
        <p:txBody>
          <a:bodyPr wrap="square" anchor="t" lIns="0" rIns="0" tIns="0" bIns="0">
            <a:spAutoFit/>
          </a:bodyPr>
          <a:lstStyle/>
          <a:p>
            <a:pPr algn="l">
              <a:lnSpc>
                <a:spcPct val="118000"/>
              </a:lnSpc>
              <a:spcBef>
                <a:spcPts val="200"/>
              </a:spcBef>
              <a:spcAft>
                <a:spcPts val="200"/>
              </a:spcAft>
            </a:pPr>
            <a:r>
              <a:rPr sz="1900" b="0" i="0">
                <a:solidFill>
                  <a:srgbClr val="16202C"/>
                </a:solidFill>
                <a:latin typeface="Segoe UI"/>
                <a:ea typeface="맑은 고딕"/>
                <a:cs typeface="맑은 고딕"/>
              </a:rPr>
              <a:t>▪  Qwen3 32B  (842tok)</a:t>
            </a:r>
          </a:p>
          <a:p>
            <a:pPr algn="l">
              <a:lnSpc>
                <a:spcPct val="118000"/>
              </a:lnSpc>
              <a:spcBef>
                <a:spcPts val="200"/>
              </a:spcBef>
              <a:spcAft>
                <a:spcPts val="100"/>
              </a:spcAft>
            </a:pPr>
            <a:r>
              <a:rPr sz="1780" b="0" i="0">
                <a:solidFill>
                  <a:srgbClr val="2C3A4B"/>
                </a:solidFill>
                <a:latin typeface="Segoe UI"/>
                <a:ea typeface="맑은 고딕"/>
                <a:cs typeface="맑은 고딕"/>
              </a:rPr>
              <a:t>–  사과 100개를 12개씩 담는 상자에 넣기 위해 필요한 상자의 수와 마지막 상자에 남는 사과 개수를 계산합니다.  1. **총 사과 수를 상자당 사과 수로 나누기**      $ 100 \div 12 = 8 $ (나눗셈의 몫)      나머지: $ 100 - (12 \times 8) = 4 $    2. **상자 수 계산**      - 8개의 상자로 96개(12×8)의 사과를 담을 수 있습니다.      - 남은 4개의 사과는 추가 상자에 담아야 하므로, 총 상자 수는 $ 8 + 1 = 9 $개입니다.    3. **마지막 상자의 사과 수**      마지막 상자에는 남은 4개의 사과가 담깁니다.    **최종 답:**   - **필요한 상자 수:** 9개   - **마지막 상자에 남는 사과 수:** 4개    $$ \boxed{9 \text{개의 상자 필요, 마지막 상자에 4개 남음}} $$</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46304" cy="6858000"/>
          </a:xfrm>
          <a:prstGeom prst="rect">
            <a:avLst/>
          </a:prstGeom>
          <a:solidFill>
            <a:srgbClr val="0B5FC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3" name="TextBox 2"/>
          <p:cNvSpPr txBox="1"/>
          <p:nvPr/>
        </p:nvSpPr>
        <p:spPr>
          <a:xfrm>
            <a:off x="566928" y="384048"/>
            <a:ext cx="11057839" cy="713232"/>
          </a:xfrm>
          <a:prstGeom prst="rect">
            <a:avLst/>
          </a:prstGeom>
          <a:noFill/>
        </p:spPr>
        <p:txBody>
          <a:bodyPr wrap="square" anchor="t" lIns="0" rIns="0" tIns="0" bIns="0">
            <a:spAutoFit/>
          </a:bodyPr>
          <a:lstStyle/>
          <a:p>
            <a:pPr algn="l">
              <a:lnSpc>
                <a:spcPct val="118000"/>
              </a:lnSpc>
              <a:spcBef>
                <a:spcPts val="0"/>
              </a:spcBef>
              <a:spcAft>
                <a:spcPts val="0"/>
              </a:spcAft>
            </a:pPr>
            <a:r>
              <a:rPr sz="3000" b="1" i="0">
                <a:solidFill>
                  <a:srgbClr val="16202C"/>
                </a:solidFill>
                <a:latin typeface="Segoe UI"/>
                <a:ea typeface="맑은 고딕"/>
                <a:cs typeface="맑은 고딕"/>
              </a:rPr>
              <a:t>답변 원문: 계산 추론 (6)</a:t>
            </a:r>
          </a:p>
        </p:txBody>
      </p:sp>
      <p:cxnSp>
        <p:nvCxnSpPr>
          <p:cNvPr id="4" name="Connector 3"/>
          <p:cNvCxnSpPr/>
          <p:nvPr/>
        </p:nvCxnSpPr>
        <p:spPr>
          <a:xfrm>
            <a:off x="566928" y="1097280"/>
            <a:ext cx="11057839" cy="0"/>
          </a:xfrm>
          <a:prstGeom prst="line">
            <a:avLst/>
          </a:prstGeom>
          <a:ln w="15875">
            <a:solidFill>
              <a:srgbClr val="D6DEE7"/>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566928" y="6455664"/>
            <a:ext cx="9686239" cy="219456"/>
          </a:xfrm>
          <a:prstGeom prst="rect">
            <a:avLst/>
          </a:prstGeom>
          <a:noFill/>
        </p:spPr>
        <p:txBody>
          <a:bodyPr wrap="square" anchor="t" lIns="0" rIns="0" tIns="0" bIns="0">
            <a:spAutoFit/>
          </a:bodyPr>
          <a:lstStyle/>
          <a:p>
            <a:pPr algn="l">
              <a:lnSpc>
                <a:spcPct val="118000"/>
              </a:lnSpc>
              <a:spcBef>
                <a:spcPts val="0"/>
              </a:spcBef>
              <a:spcAft>
                <a:spcPts val="0"/>
              </a:spcAft>
            </a:pPr>
            <a:r>
              <a:rPr sz="950" b="0" i="0">
                <a:solidFill>
                  <a:srgbClr val="5B6B7B"/>
                </a:solidFill>
                <a:latin typeface="Segoe UI"/>
                <a:ea typeface="맑은 고딕"/>
                <a:cs typeface="맑은 고딕"/>
              </a:rPr>
              <a:t>RNGD 4장 서버, 2026-08-29 실측</a:t>
            </a:r>
          </a:p>
        </p:txBody>
      </p:sp>
      <p:sp>
        <p:nvSpPr>
          <p:cNvPr id="6" name="TextBox 5"/>
          <p:cNvSpPr txBox="1"/>
          <p:nvPr/>
        </p:nvSpPr>
        <p:spPr>
          <a:xfrm>
            <a:off x="10527487" y="6455664"/>
            <a:ext cx="1097280" cy="219456"/>
          </a:xfrm>
          <a:prstGeom prst="rect">
            <a:avLst/>
          </a:prstGeom>
          <a:noFill/>
        </p:spPr>
        <p:txBody>
          <a:bodyPr wrap="square" anchor="t" lIns="0" rIns="0" tIns="0" bIns="0">
            <a:spAutoFit/>
          </a:bodyPr>
          <a:lstStyle/>
          <a:p>
            <a:pPr algn="r">
              <a:lnSpc>
                <a:spcPct val="118000"/>
              </a:lnSpc>
              <a:spcBef>
                <a:spcPts val="0"/>
              </a:spcBef>
              <a:spcAft>
                <a:spcPts val="0"/>
              </a:spcAft>
            </a:pPr>
            <a:r>
              <a:rPr sz="950" b="0" i="0">
                <a:solidFill>
                  <a:srgbClr val="5B6B7B"/>
                </a:solidFill>
                <a:latin typeface="Segoe UI"/>
                <a:ea typeface="맑은 고딕"/>
                <a:cs typeface="맑은 고딕"/>
              </a:rPr>
              <a:t>26</a:t>
            </a:r>
          </a:p>
        </p:txBody>
      </p:sp>
      <p:sp>
        <p:nvSpPr>
          <p:cNvPr id="7" name="TextBox 6"/>
          <p:cNvSpPr txBox="1"/>
          <p:nvPr/>
        </p:nvSpPr>
        <p:spPr>
          <a:xfrm>
            <a:off x="566928" y="1316736"/>
            <a:ext cx="11057839" cy="4956048"/>
          </a:xfrm>
          <a:prstGeom prst="rect">
            <a:avLst/>
          </a:prstGeom>
          <a:noFill/>
        </p:spPr>
        <p:txBody>
          <a:bodyPr wrap="square" anchor="t" lIns="0" rIns="0" tIns="0" bIns="0">
            <a:spAutoFit/>
          </a:bodyPr>
          <a:lstStyle/>
          <a:p>
            <a:pPr algn="l">
              <a:lnSpc>
                <a:spcPct val="118000"/>
              </a:lnSpc>
              <a:spcBef>
                <a:spcPts val="200"/>
              </a:spcBef>
              <a:spcAft>
                <a:spcPts val="200"/>
              </a:spcAft>
            </a:pPr>
            <a:r>
              <a:rPr sz="1900" b="0" i="0">
                <a:solidFill>
                  <a:srgbClr val="16202C"/>
                </a:solidFill>
                <a:latin typeface="Segoe UI"/>
                <a:ea typeface="맑은 고딕"/>
                <a:cs typeface="맑은 고딕"/>
              </a:rPr>
              <a:t>▪  EXAONE 4.0 32B  (213tok)</a:t>
            </a:r>
          </a:p>
          <a:p>
            <a:pPr algn="l">
              <a:lnSpc>
                <a:spcPct val="118000"/>
              </a:lnSpc>
              <a:spcBef>
                <a:spcPts val="200"/>
              </a:spcBef>
              <a:spcAft>
                <a:spcPts val="100"/>
              </a:spcAft>
            </a:pPr>
            <a:r>
              <a:rPr sz="1780" b="0" i="0">
                <a:solidFill>
                  <a:srgbClr val="2C3A4B"/>
                </a:solidFill>
                <a:latin typeface="Segoe UI"/>
                <a:ea typeface="맑은 고딕"/>
                <a:cs typeface="맑은 고딕"/>
              </a:rPr>
              <a:t>–  사과 100개를 상자에 담을 때 필요한 상자의 수와 마지막 상자에 남는 사과의 개수를 계산해 보겠습니다.  1. **상자 하나에 들어가는 사과의 수**: 12개 2. **총 사과의 수**: 100개  **계산 과정**: - 100을 12로 나누어 필요한 상자의 수를 구합니다.      \[   100 \div 12 = 8 \text{ 상자} \quad (\text{나머지 } 4)   \]      - **몫**: 8 상자   - **나머지**: 4개  **결론**: - **필요한 상자의 수**: 8개 - **마지막 상자에 남는 사과의 수**: 4개  \[ \boxed{8 \text{ 상자}, \ 4 \text{ 개}} \]</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46304" cy="6858000"/>
          </a:xfrm>
          <a:prstGeom prst="rect">
            <a:avLst/>
          </a:prstGeom>
          <a:solidFill>
            <a:srgbClr val="0B5FC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3" name="TextBox 2"/>
          <p:cNvSpPr txBox="1"/>
          <p:nvPr/>
        </p:nvSpPr>
        <p:spPr>
          <a:xfrm>
            <a:off x="566928" y="384048"/>
            <a:ext cx="11057839" cy="713232"/>
          </a:xfrm>
          <a:prstGeom prst="rect">
            <a:avLst/>
          </a:prstGeom>
          <a:noFill/>
        </p:spPr>
        <p:txBody>
          <a:bodyPr wrap="square" anchor="t" lIns="0" rIns="0" tIns="0" bIns="0">
            <a:spAutoFit/>
          </a:bodyPr>
          <a:lstStyle/>
          <a:p>
            <a:pPr algn="l">
              <a:lnSpc>
                <a:spcPct val="118000"/>
              </a:lnSpc>
              <a:spcBef>
                <a:spcPts val="0"/>
              </a:spcBef>
              <a:spcAft>
                <a:spcPts val="0"/>
              </a:spcAft>
            </a:pPr>
            <a:r>
              <a:rPr sz="3000" b="1" i="0">
                <a:solidFill>
                  <a:srgbClr val="16202C"/>
                </a:solidFill>
                <a:latin typeface="Segoe UI"/>
                <a:ea typeface="맑은 고딕"/>
                <a:cs typeface="맑은 고딕"/>
              </a:rPr>
              <a:t>답변 원문: 계산 추론 (7)</a:t>
            </a:r>
          </a:p>
        </p:txBody>
      </p:sp>
      <p:cxnSp>
        <p:nvCxnSpPr>
          <p:cNvPr id="4" name="Connector 3"/>
          <p:cNvCxnSpPr/>
          <p:nvPr/>
        </p:nvCxnSpPr>
        <p:spPr>
          <a:xfrm>
            <a:off x="566928" y="1097280"/>
            <a:ext cx="11057839" cy="0"/>
          </a:xfrm>
          <a:prstGeom prst="line">
            <a:avLst/>
          </a:prstGeom>
          <a:ln w="15875">
            <a:solidFill>
              <a:srgbClr val="D6DEE7"/>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566928" y="6455664"/>
            <a:ext cx="9686239" cy="219456"/>
          </a:xfrm>
          <a:prstGeom prst="rect">
            <a:avLst/>
          </a:prstGeom>
          <a:noFill/>
        </p:spPr>
        <p:txBody>
          <a:bodyPr wrap="square" anchor="t" lIns="0" rIns="0" tIns="0" bIns="0">
            <a:spAutoFit/>
          </a:bodyPr>
          <a:lstStyle/>
          <a:p>
            <a:pPr algn="l">
              <a:lnSpc>
                <a:spcPct val="118000"/>
              </a:lnSpc>
              <a:spcBef>
                <a:spcPts val="0"/>
              </a:spcBef>
              <a:spcAft>
                <a:spcPts val="0"/>
              </a:spcAft>
            </a:pPr>
            <a:r>
              <a:rPr sz="950" b="0" i="0">
                <a:solidFill>
                  <a:srgbClr val="5B6B7B"/>
                </a:solidFill>
                <a:latin typeface="Segoe UI"/>
                <a:ea typeface="맑은 고딕"/>
                <a:cs typeface="맑은 고딕"/>
              </a:rPr>
              <a:t>RNGD 4장 서버, 2026-08-29 실측</a:t>
            </a:r>
          </a:p>
        </p:txBody>
      </p:sp>
      <p:sp>
        <p:nvSpPr>
          <p:cNvPr id="6" name="TextBox 5"/>
          <p:cNvSpPr txBox="1"/>
          <p:nvPr/>
        </p:nvSpPr>
        <p:spPr>
          <a:xfrm>
            <a:off x="10527487" y="6455664"/>
            <a:ext cx="1097280" cy="219456"/>
          </a:xfrm>
          <a:prstGeom prst="rect">
            <a:avLst/>
          </a:prstGeom>
          <a:noFill/>
        </p:spPr>
        <p:txBody>
          <a:bodyPr wrap="square" anchor="t" lIns="0" rIns="0" tIns="0" bIns="0">
            <a:spAutoFit/>
          </a:bodyPr>
          <a:lstStyle/>
          <a:p>
            <a:pPr algn="r">
              <a:lnSpc>
                <a:spcPct val="118000"/>
              </a:lnSpc>
              <a:spcBef>
                <a:spcPts val="0"/>
              </a:spcBef>
              <a:spcAft>
                <a:spcPts val="0"/>
              </a:spcAft>
            </a:pPr>
            <a:r>
              <a:rPr sz="950" b="0" i="0">
                <a:solidFill>
                  <a:srgbClr val="5B6B7B"/>
                </a:solidFill>
                <a:latin typeface="Segoe UI"/>
                <a:ea typeface="맑은 고딕"/>
                <a:cs typeface="맑은 고딕"/>
              </a:rPr>
              <a:t>27</a:t>
            </a:r>
          </a:p>
        </p:txBody>
      </p:sp>
      <p:sp>
        <p:nvSpPr>
          <p:cNvPr id="7" name="TextBox 6"/>
          <p:cNvSpPr txBox="1"/>
          <p:nvPr/>
        </p:nvSpPr>
        <p:spPr>
          <a:xfrm>
            <a:off x="566928" y="1316736"/>
            <a:ext cx="11057839" cy="4956048"/>
          </a:xfrm>
          <a:prstGeom prst="rect">
            <a:avLst/>
          </a:prstGeom>
          <a:noFill/>
        </p:spPr>
        <p:txBody>
          <a:bodyPr wrap="square" anchor="t" lIns="0" rIns="0" tIns="0" bIns="0">
            <a:spAutoFit/>
          </a:bodyPr>
          <a:lstStyle/>
          <a:p>
            <a:pPr algn="l">
              <a:lnSpc>
                <a:spcPct val="118000"/>
              </a:lnSpc>
              <a:spcBef>
                <a:spcPts val="200"/>
              </a:spcBef>
              <a:spcAft>
                <a:spcPts val="200"/>
              </a:spcAft>
            </a:pPr>
            <a:r>
              <a:rPr sz="1900" b="0" i="0">
                <a:solidFill>
                  <a:srgbClr val="16202C"/>
                </a:solidFill>
                <a:latin typeface="Segoe UI"/>
                <a:ea typeface="맑은 고딕"/>
                <a:cs typeface="맑은 고딕"/>
              </a:rPr>
              <a:t>▪  Qwen3-VL 32B  (497tok)</a:t>
            </a:r>
          </a:p>
          <a:p>
            <a:pPr algn="l">
              <a:lnSpc>
                <a:spcPct val="118000"/>
              </a:lnSpc>
              <a:spcBef>
                <a:spcPts val="200"/>
              </a:spcBef>
              <a:spcAft>
                <a:spcPts val="100"/>
              </a:spcAft>
            </a:pPr>
            <a:r>
              <a:rPr sz="1780" b="0" i="0">
                <a:solidFill>
                  <a:srgbClr val="2C3A4B"/>
                </a:solidFill>
                <a:latin typeface="Segoe UI"/>
                <a:ea typeface="맑은 고딕"/>
                <a:cs typeface="맑은 고딕"/>
              </a:rPr>
              <a:t>–  주어진 문제는:  &gt; 한 상자에 사과가 12개 들어간다. 사과 100개를 담으려면 상자가 몇 개 필요하고, 마지막 상자에는 몇 개가 남는지 계산 과정을 보여줘.  ---  ### 계산 과정:  1. **총 사과 수**: 100개   2. **한 상자당 사과 수**: 12개    이 문제는 **나눗셈과 나머지**를 이용해 해결할 수 있습니다.  ---  ### 1. 상자 수 계산 (몫)  100을 12로 나누면:  \[ 100 \div 12 = 8 \text{ (몫)} \quad \text{나머지 } 4 \]  이유:   \(12 \times 8 = 96\)   \(100 - 96 = 4\)  즉, 8개의 상자로 96개를 담을 수 있고, 4개가 남습니다.  ---  ### 2. 마지막 상자에 들어가는 사과 수  남은 사과 4개는 **9번째 상자**에 담아야 하므로,   **마지막 상자에는 4개가 들어간다.**  ---  ### 3. 필요한 상자 수  8개의 상자로는 96개만 담을 수 있으므로,   **남은 4개를 담기 위해 1개 더 필요**합니다.  따라서, **총 상자 수 = 8 + 1 = 9개**  ---  ### ✅ 최종 답:  - **필요한 상자 수**: **9개**   - **마지막 상자에 들어가는 사과 수**: **4개**  ---  ### 📌 요약:  \[ 100 \div 12 = 8 \text{ (몫)}, \quad \text{나머지 } 4 \]  → 상자 8개로 96개 담고, 남은 4개는 9번째 상자에 담음.  ---  ✅ **정답: 상자 9개 필요, 마지막 상자에 4개 남음.**</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46304" cy="6858000"/>
          </a:xfrm>
          <a:prstGeom prst="rect">
            <a:avLst/>
          </a:prstGeom>
          <a:solidFill>
            <a:srgbClr val="0B5FC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3" name="TextBox 2"/>
          <p:cNvSpPr txBox="1"/>
          <p:nvPr/>
        </p:nvSpPr>
        <p:spPr>
          <a:xfrm>
            <a:off x="566928" y="384048"/>
            <a:ext cx="11057839" cy="713232"/>
          </a:xfrm>
          <a:prstGeom prst="rect">
            <a:avLst/>
          </a:prstGeom>
          <a:noFill/>
        </p:spPr>
        <p:txBody>
          <a:bodyPr wrap="square" anchor="t" lIns="0" rIns="0" tIns="0" bIns="0">
            <a:spAutoFit/>
          </a:bodyPr>
          <a:lstStyle/>
          <a:p>
            <a:pPr algn="l">
              <a:lnSpc>
                <a:spcPct val="118000"/>
              </a:lnSpc>
              <a:spcBef>
                <a:spcPts val="0"/>
              </a:spcBef>
              <a:spcAft>
                <a:spcPts val="0"/>
              </a:spcAft>
            </a:pPr>
            <a:r>
              <a:rPr sz="3000" b="1" i="0">
                <a:solidFill>
                  <a:srgbClr val="16202C"/>
                </a:solidFill>
                <a:latin typeface="Segoe UI"/>
                <a:ea typeface="맑은 고딕"/>
                <a:cs typeface="맑은 고딕"/>
              </a:rPr>
              <a:t>답변 원문: 계산 추론 (8)</a:t>
            </a:r>
          </a:p>
        </p:txBody>
      </p:sp>
      <p:cxnSp>
        <p:nvCxnSpPr>
          <p:cNvPr id="4" name="Connector 3"/>
          <p:cNvCxnSpPr/>
          <p:nvPr/>
        </p:nvCxnSpPr>
        <p:spPr>
          <a:xfrm>
            <a:off x="566928" y="1097280"/>
            <a:ext cx="11057839" cy="0"/>
          </a:xfrm>
          <a:prstGeom prst="line">
            <a:avLst/>
          </a:prstGeom>
          <a:ln w="15875">
            <a:solidFill>
              <a:srgbClr val="D6DEE7"/>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566928" y="6455664"/>
            <a:ext cx="9686239" cy="219456"/>
          </a:xfrm>
          <a:prstGeom prst="rect">
            <a:avLst/>
          </a:prstGeom>
          <a:noFill/>
        </p:spPr>
        <p:txBody>
          <a:bodyPr wrap="square" anchor="t" lIns="0" rIns="0" tIns="0" bIns="0">
            <a:spAutoFit/>
          </a:bodyPr>
          <a:lstStyle/>
          <a:p>
            <a:pPr algn="l">
              <a:lnSpc>
                <a:spcPct val="118000"/>
              </a:lnSpc>
              <a:spcBef>
                <a:spcPts val="0"/>
              </a:spcBef>
              <a:spcAft>
                <a:spcPts val="0"/>
              </a:spcAft>
            </a:pPr>
            <a:r>
              <a:rPr sz="950" b="0" i="0">
                <a:solidFill>
                  <a:srgbClr val="5B6B7B"/>
                </a:solidFill>
                <a:latin typeface="Segoe UI"/>
                <a:ea typeface="맑은 고딕"/>
                <a:cs typeface="맑은 고딕"/>
              </a:rPr>
              <a:t>RNGD 4장 서버, 2026-08-29 실측</a:t>
            </a:r>
          </a:p>
        </p:txBody>
      </p:sp>
      <p:sp>
        <p:nvSpPr>
          <p:cNvPr id="6" name="TextBox 5"/>
          <p:cNvSpPr txBox="1"/>
          <p:nvPr/>
        </p:nvSpPr>
        <p:spPr>
          <a:xfrm>
            <a:off x="10527487" y="6455664"/>
            <a:ext cx="1097280" cy="219456"/>
          </a:xfrm>
          <a:prstGeom prst="rect">
            <a:avLst/>
          </a:prstGeom>
          <a:noFill/>
        </p:spPr>
        <p:txBody>
          <a:bodyPr wrap="square" anchor="t" lIns="0" rIns="0" tIns="0" bIns="0">
            <a:spAutoFit/>
          </a:bodyPr>
          <a:lstStyle/>
          <a:p>
            <a:pPr algn="r">
              <a:lnSpc>
                <a:spcPct val="118000"/>
              </a:lnSpc>
              <a:spcBef>
                <a:spcPts val="0"/>
              </a:spcBef>
              <a:spcAft>
                <a:spcPts val="0"/>
              </a:spcAft>
            </a:pPr>
            <a:r>
              <a:rPr sz="950" b="0" i="0">
                <a:solidFill>
                  <a:srgbClr val="5B6B7B"/>
                </a:solidFill>
                <a:latin typeface="Segoe UI"/>
                <a:ea typeface="맑은 고딕"/>
                <a:cs typeface="맑은 고딕"/>
              </a:rPr>
              <a:t>28</a:t>
            </a:r>
          </a:p>
        </p:txBody>
      </p:sp>
      <p:sp>
        <p:nvSpPr>
          <p:cNvPr id="7" name="TextBox 6"/>
          <p:cNvSpPr txBox="1"/>
          <p:nvPr/>
        </p:nvSpPr>
        <p:spPr>
          <a:xfrm>
            <a:off x="566928" y="1316736"/>
            <a:ext cx="11057839" cy="4956048"/>
          </a:xfrm>
          <a:prstGeom prst="rect">
            <a:avLst/>
          </a:prstGeom>
          <a:noFill/>
        </p:spPr>
        <p:txBody>
          <a:bodyPr wrap="square" anchor="t" lIns="0" rIns="0" tIns="0" bIns="0">
            <a:spAutoFit/>
          </a:bodyPr>
          <a:lstStyle/>
          <a:p>
            <a:pPr algn="l">
              <a:lnSpc>
                <a:spcPct val="118000"/>
              </a:lnSpc>
              <a:spcBef>
                <a:spcPts val="200"/>
              </a:spcBef>
              <a:spcAft>
                <a:spcPts val="200"/>
              </a:spcAft>
            </a:pPr>
            <a:r>
              <a:rPr sz="1900" b="0" i="0">
                <a:solidFill>
                  <a:srgbClr val="16202C"/>
                </a:solidFill>
                <a:latin typeface="Segoe UI"/>
                <a:ea typeface="맑은 고딕"/>
                <a:cs typeface="맑은 고딕"/>
              </a:rPr>
              <a:t>▪  Qwen3-Coder 30B  (373tok)</a:t>
            </a:r>
          </a:p>
          <a:p>
            <a:pPr algn="l">
              <a:lnSpc>
                <a:spcPct val="118000"/>
              </a:lnSpc>
              <a:spcBef>
                <a:spcPts val="200"/>
              </a:spcBef>
              <a:spcAft>
                <a:spcPts val="100"/>
              </a:spcAft>
            </a:pPr>
            <a:r>
              <a:rPr sz="1780" b="0" i="0">
                <a:solidFill>
                  <a:srgbClr val="2C3A4B"/>
                </a:solidFill>
                <a:latin typeface="Segoe UI"/>
                <a:ea typeface="맑은 고딕"/>
                <a:cs typeface="맑은 고딕"/>
              </a:rPr>
              <a:t>–  사과 100개를 담으려고 하는데, 한 상자에 사과가 **12개**씩 들어간다고 하면,  ---  ### 1. **총 필요한 상자의 수 계산**  우선, 총 사과 수(100개)를 한 상자에 담을 수 있는 개수(12개)로 나누어 봅니다.  $$ \frac{100}{12} = 8.333... $$  이 결과는 **8.333...** 이므로,   정수로 표현하면 **8번 완전히 채워진 상자**와   남은 사과가 있는 **마지막 하나의 상자**가 필요합니다.  따라서, 전체적으로 필요한 상자는:  $$ \boxed{9 \text{개}} $$  ---  ### 2. **마지막 상자에 남는 사과의 수 계산**  이제 총 9개의 박스 중에서 앞의 8개는 모두 꽉 찼다고 가정하면:  - 앞의 8박스 × 12사과 = $8 \times 12 = \boxed{96} $사과  - 전체: $\boxed{100}$사과 → 남은 사과: $100 - 96 = \boxed{4}$사과  ---  ### ✅ 최종 답: - 필요한 **상자의 수**: $\boxed{9}$ 개   - 마지막 상자에는 $\boxed{4}$ 개의 사자가 남습니다.  ---   필요하다면 이 과정을 더 자세히 설명해 드릴게요!</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46304" cy="6858000"/>
          </a:xfrm>
          <a:prstGeom prst="rect">
            <a:avLst/>
          </a:prstGeom>
          <a:solidFill>
            <a:srgbClr val="0B5FC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3" name="TextBox 2"/>
          <p:cNvSpPr txBox="1"/>
          <p:nvPr/>
        </p:nvSpPr>
        <p:spPr>
          <a:xfrm>
            <a:off x="566928" y="384048"/>
            <a:ext cx="11057839" cy="713232"/>
          </a:xfrm>
          <a:prstGeom prst="rect">
            <a:avLst/>
          </a:prstGeom>
          <a:noFill/>
        </p:spPr>
        <p:txBody>
          <a:bodyPr wrap="square" anchor="t" lIns="0" rIns="0" tIns="0" bIns="0">
            <a:spAutoFit/>
          </a:bodyPr>
          <a:lstStyle/>
          <a:p>
            <a:pPr algn="l">
              <a:lnSpc>
                <a:spcPct val="118000"/>
              </a:lnSpc>
              <a:spcBef>
                <a:spcPts val="0"/>
              </a:spcBef>
              <a:spcAft>
                <a:spcPts val="0"/>
              </a:spcAft>
            </a:pPr>
            <a:r>
              <a:rPr sz="3000" b="1" i="0">
                <a:solidFill>
                  <a:srgbClr val="16202C"/>
                </a:solidFill>
                <a:latin typeface="Segoe UI"/>
                <a:ea typeface="맑은 고딕"/>
                <a:cs typeface="맑은 고딕"/>
              </a:rPr>
              <a:t>답변 원문: 계산 추론 (9)</a:t>
            </a:r>
          </a:p>
        </p:txBody>
      </p:sp>
      <p:cxnSp>
        <p:nvCxnSpPr>
          <p:cNvPr id="4" name="Connector 3"/>
          <p:cNvCxnSpPr/>
          <p:nvPr/>
        </p:nvCxnSpPr>
        <p:spPr>
          <a:xfrm>
            <a:off x="566928" y="1097280"/>
            <a:ext cx="11057839" cy="0"/>
          </a:xfrm>
          <a:prstGeom prst="line">
            <a:avLst/>
          </a:prstGeom>
          <a:ln w="15875">
            <a:solidFill>
              <a:srgbClr val="D6DEE7"/>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566928" y="6455664"/>
            <a:ext cx="9686239" cy="219456"/>
          </a:xfrm>
          <a:prstGeom prst="rect">
            <a:avLst/>
          </a:prstGeom>
          <a:noFill/>
        </p:spPr>
        <p:txBody>
          <a:bodyPr wrap="square" anchor="t" lIns="0" rIns="0" tIns="0" bIns="0">
            <a:spAutoFit/>
          </a:bodyPr>
          <a:lstStyle/>
          <a:p>
            <a:pPr algn="l">
              <a:lnSpc>
                <a:spcPct val="118000"/>
              </a:lnSpc>
              <a:spcBef>
                <a:spcPts val="0"/>
              </a:spcBef>
              <a:spcAft>
                <a:spcPts val="0"/>
              </a:spcAft>
            </a:pPr>
            <a:r>
              <a:rPr sz="950" b="0" i="0">
                <a:solidFill>
                  <a:srgbClr val="5B6B7B"/>
                </a:solidFill>
                <a:latin typeface="Segoe UI"/>
                <a:ea typeface="맑은 고딕"/>
                <a:cs typeface="맑은 고딕"/>
              </a:rPr>
              <a:t>RNGD 4장 서버, 2026-08-29 실측</a:t>
            </a:r>
          </a:p>
        </p:txBody>
      </p:sp>
      <p:sp>
        <p:nvSpPr>
          <p:cNvPr id="6" name="TextBox 5"/>
          <p:cNvSpPr txBox="1"/>
          <p:nvPr/>
        </p:nvSpPr>
        <p:spPr>
          <a:xfrm>
            <a:off x="10527487" y="6455664"/>
            <a:ext cx="1097280" cy="219456"/>
          </a:xfrm>
          <a:prstGeom prst="rect">
            <a:avLst/>
          </a:prstGeom>
          <a:noFill/>
        </p:spPr>
        <p:txBody>
          <a:bodyPr wrap="square" anchor="t" lIns="0" rIns="0" tIns="0" bIns="0">
            <a:spAutoFit/>
          </a:bodyPr>
          <a:lstStyle/>
          <a:p>
            <a:pPr algn="r">
              <a:lnSpc>
                <a:spcPct val="118000"/>
              </a:lnSpc>
              <a:spcBef>
                <a:spcPts val="0"/>
              </a:spcBef>
              <a:spcAft>
                <a:spcPts val="0"/>
              </a:spcAft>
            </a:pPr>
            <a:r>
              <a:rPr sz="950" b="0" i="0">
                <a:solidFill>
                  <a:srgbClr val="5B6B7B"/>
                </a:solidFill>
                <a:latin typeface="Segoe UI"/>
                <a:ea typeface="맑은 고딕"/>
                <a:cs typeface="맑은 고딕"/>
              </a:rPr>
              <a:t>29</a:t>
            </a:r>
          </a:p>
        </p:txBody>
      </p:sp>
      <p:sp>
        <p:nvSpPr>
          <p:cNvPr id="7" name="TextBox 6"/>
          <p:cNvSpPr txBox="1"/>
          <p:nvPr/>
        </p:nvSpPr>
        <p:spPr>
          <a:xfrm>
            <a:off x="566928" y="1316736"/>
            <a:ext cx="11057839" cy="4956048"/>
          </a:xfrm>
          <a:prstGeom prst="rect">
            <a:avLst/>
          </a:prstGeom>
          <a:noFill/>
        </p:spPr>
        <p:txBody>
          <a:bodyPr wrap="square" anchor="t" lIns="0" rIns="0" tIns="0" bIns="0">
            <a:spAutoFit/>
          </a:bodyPr>
          <a:lstStyle/>
          <a:p>
            <a:pPr algn="l">
              <a:lnSpc>
                <a:spcPct val="118000"/>
              </a:lnSpc>
              <a:spcBef>
                <a:spcPts val="200"/>
              </a:spcBef>
              <a:spcAft>
                <a:spcPts val="200"/>
              </a:spcAft>
            </a:pPr>
            <a:r>
              <a:rPr sz="1900" b="0" i="0">
                <a:solidFill>
                  <a:srgbClr val="16202C"/>
                </a:solidFill>
                <a:latin typeface="Segoe UI"/>
                <a:ea typeface="맑은 고딕"/>
                <a:cs typeface="맑은 고딕"/>
              </a:rPr>
              <a:t>▪  A3B Instruct 2507  (385tok)</a:t>
            </a:r>
          </a:p>
          <a:p>
            <a:pPr algn="l">
              <a:lnSpc>
                <a:spcPct val="118000"/>
              </a:lnSpc>
              <a:spcBef>
                <a:spcPts val="200"/>
              </a:spcBef>
              <a:spcAft>
                <a:spcPts val="100"/>
              </a:spcAft>
            </a:pPr>
            <a:r>
              <a:rPr sz="1780" b="0" i="0">
                <a:solidFill>
                  <a:srgbClr val="2C3A4B"/>
                </a:solidFill>
                <a:latin typeface="Segoe UI"/>
                <a:ea typeface="맑은 고딕"/>
                <a:cs typeface="맑은 고딕"/>
              </a:rPr>
              <a:t>–  사과 100개를 상자에 담으려고 합니다.   한 상자에 사과가 12개 들어간다고 했으므로,   100개를 12개씩 나누어 몇 개의 상자가 필요한지, 그리고 마지막 상자에 몇 개가 남는지 계산해 봅시다.  ---  ### 1. 전체 사과 수를 상자당 수로 나누기 \[ 100 \div 12 = 8 \text{ (몫)}, \quad \text{나머지 } 4 \]  계산 과정: - \(12 \times 8 = 96\) - \(100 - 96 = 4\)  즉, 12개씩 8개의 상자에 사과를 담으면 96개가 담기고,   남은 사과는 \(100 - 96 = 4\)개입니다.  ---  ### 2. 필요한 상자 수 8개의 상자로 96개를 담고,   남은 4개는 또 하나의 상자에 담아야 하므로,   총 상자 수는: \[ 8 + 1 = 9 \text{개} \]  ---  ### ✅ 최종 답변: - **필요한 상자 수**: 9개   - **마지막 상자에 남는 사과 수**: 4개  ---  ### 📌 정리: - 100 ÷ 12 = 8 (몫), 4 (나머지) - 따라서 9개의 상자가 필요하고, 마지막 상자에는 4개의 사과가 남는다.</a:t>
            </a:r>
          </a:p>
          <a:p>
            <a:pPr algn="l">
              <a:lnSpc>
                <a:spcPct val="118000"/>
              </a:lnSpc>
              <a:spcBef>
                <a:spcPts val="600"/>
              </a:spcBef>
              <a:spcAft>
                <a:spcPts val="200"/>
              </a:spcAft>
            </a:pPr>
            <a:r>
              <a:rPr sz="1900" b="0" i="0">
                <a:solidFill>
                  <a:srgbClr val="16202C"/>
                </a:solidFill>
                <a:latin typeface="Segoe UI"/>
                <a:ea typeface="맑은 고딕"/>
                <a:cs typeface="맑은 고딕"/>
              </a:rPr>
              <a:t>▪  A3B Thinking 2507  (1024tok)</a:t>
            </a:r>
          </a:p>
          <a:p>
            <a:pPr algn="l">
              <a:lnSpc>
                <a:spcPct val="118000"/>
              </a:lnSpc>
              <a:spcBef>
                <a:spcPts val="200"/>
              </a:spcBef>
              <a:spcAft>
                <a:spcPts val="100"/>
              </a:spcAft>
            </a:pPr>
            <a:r>
              <a:rPr sz="1780" b="0" i="0">
                <a:solidFill>
                  <a:srgbClr val="2C3A4B"/>
                </a:solidFill>
                <a:latin typeface="Segoe UI"/>
                <a:ea typeface="맑은 고딕"/>
                <a:cs typeface="맑은 고딕"/>
              </a:rPr>
              <a:t>–  (답변 없음 — 사고만 하고 예산이 끝났다)</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46304" cy="6858000"/>
          </a:xfrm>
          <a:prstGeom prst="rect">
            <a:avLst/>
          </a:prstGeom>
          <a:solidFill>
            <a:srgbClr val="0B5FC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3" name="TextBox 2"/>
          <p:cNvSpPr txBox="1"/>
          <p:nvPr/>
        </p:nvSpPr>
        <p:spPr>
          <a:xfrm>
            <a:off x="566928" y="384048"/>
            <a:ext cx="11057839" cy="713232"/>
          </a:xfrm>
          <a:prstGeom prst="rect">
            <a:avLst/>
          </a:prstGeom>
          <a:noFill/>
        </p:spPr>
        <p:txBody>
          <a:bodyPr wrap="square" anchor="t" lIns="0" rIns="0" tIns="0" bIns="0">
            <a:spAutoFit/>
          </a:bodyPr>
          <a:lstStyle/>
          <a:p>
            <a:pPr algn="l">
              <a:lnSpc>
                <a:spcPct val="118000"/>
              </a:lnSpc>
              <a:spcBef>
                <a:spcPts val="0"/>
              </a:spcBef>
              <a:spcAft>
                <a:spcPts val="0"/>
              </a:spcAft>
            </a:pPr>
            <a:r>
              <a:rPr sz="3000" b="1" i="0">
                <a:solidFill>
                  <a:srgbClr val="16202C"/>
                </a:solidFill>
                <a:latin typeface="Segoe UI"/>
                <a:ea typeface="맑은 고딕"/>
                <a:cs typeface="맑은 고딕"/>
              </a:rPr>
              <a:t>답변 원문: 계산 추론 (10)</a:t>
            </a:r>
          </a:p>
        </p:txBody>
      </p:sp>
      <p:cxnSp>
        <p:nvCxnSpPr>
          <p:cNvPr id="4" name="Connector 3"/>
          <p:cNvCxnSpPr/>
          <p:nvPr/>
        </p:nvCxnSpPr>
        <p:spPr>
          <a:xfrm>
            <a:off x="566928" y="1097280"/>
            <a:ext cx="11057839" cy="0"/>
          </a:xfrm>
          <a:prstGeom prst="line">
            <a:avLst/>
          </a:prstGeom>
          <a:ln w="15875">
            <a:solidFill>
              <a:srgbClr val="D6DEE7"/>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566928" y="6455664"/>
            <a:ext cx="9686239" cy="219456"/>
          </a:xfrm>
          <a:prstGeom prst="rect">
            <a:avLst/>
          </a:prstGeom>
          <a:noFill/>
        </p:spPr>
        <p:txBody>
          <a:bodyPr wrap="square" anchor="t" lIns="0" rIns="0" tIns="0" bIns="0">
            <a:spAutoFit/>
          </a:bodyPr>
          <a:lstStyle/>
          <a:p>
            <a:pPr algn="l">
              <a:lnSpc>
                <a:spcPct val="118000"/>
              </a:lnSpc>
              <a:spcBef>
                <a:spcPts val="0"/>
              </a:spcBef>
              <a:spcAft>
                <a:spcPts val="0"/>
              </a:spcAft>
            </a:pPr>
            <a:r>
              <a:rPr sz="950" b="0" i="0">
                <a:solidFill>
                  <a:srgbClr val="5B6B7B"/>
                </a:solidFill>
                <a:latin typeface="Segoe UI"/>
                <a:ea typeface="맑은 고딕"/>
                <a:cs typeface="맑은 고딕"/>
              </a:rPr>
              <a:t>RNGD 4장 서버, 2026-08-29 실측</a:t>
            </a:r>
          </a:p>
        </p:txBody>
      </p:sp>
      <p:sp>
        <p:nvSpPr>
          <p:cNvPr id="6" name="TextBox 5"/>
          <p:cNvSpPr txBox="1"/>
          <p:nvPr/>
        </p:nvSpPr>
        <p:spPr>
          <a:xfrm>
            <a:off x="10527487" y="6455664"/>
            <a:ext cx="1097280" cy="219456"/>
          </a:xfrm>
          <a:prstGeom prst="rect">
            <a:avLst/>
          </a:prstGeom>
          <a:noFill/>
        </p:spPr>
        <p:txBody>
          <a:bodyPr wrap="square" anchor="t" lIns="0" rIns="0" tIns="0" bIns="0">
            <a:spAutoFit/>
          </a:bodyPr>
          <a:lstStyle/>
          <a:p>
            <a:pPr algn="r">
              <a:lnSpc>
                <a:spcPct val="118000"/>
              </a:lnSpc>
              <a:spcBef>
                <a:spcPts val="0"/>
              </a:spcBef>
              <a:spcAft>
                <a:spcPts val="0"/>
              </a:spcAft>
            </a:pPr>
            <a:r>
              <a:rPr sz="950" b="0" i="0">
                <a:solidFill>
                  <a:srgbClr val="5B6B7B"/>
                </a:solidFill>
                <a:latin typeface="Segoe UI"/>
                <a:ea typeface="맑은 고딕"/>
                <a:cs typeface="맑은 고딕"/>
              </a:rPr>
              <a:t>30</a:t>
            </a:r>
          </a:p>
        </p:txBody>
      </p:sp>
      <p:sp>
        <p:nvSpPr>
          <p:cNvPr id="7" name="TextBox 6"/>
          <p:cNvSpPr txBox="1"/>
          <p:nvPr/>
        </p:nvSpPr>
        <p:spPr>
          <a:xfrm>
            <a:off x="566928" y="1316736"/>
            <a:ext cx="11057839" cy="4956048"/>
          </a:xfrm>
          <a:prstGeom prst="rect">
            <a:avLst/>
          </a:prstGeom>
          <a:noFill/>
        </p:spPr>
        <p:txBody>
          <a:bodyPr wrap="square" anchor="t" lIns="0" rIns="0" tIns="0" bIns="0">
            <a:spAutoFit/>
          </a:bodyPr>
          <a:lstStyle/>
          <a:p>
            <a:pPr algn="l">
              <a:lnSpc>
                <a:spcPct val="118000"/>
              </a:lnSpc>
              <a:spcBef>
                <a:spcPts val="200"/>
              </a:spcBef>
              <a:spcAft>
                <a:spcPts val="200"/>
              </a:spcAft>
            </a:pPr>
            <a:r>
              <a:rPr sz="1800" b="0" i="0">
                <a:solidFill>
                  <a:srgbClr val="16202C"/>
                </a:solidFill>
                <a:latin typeface="Segoe UI"/>
                <a:ea typeface="맑은 고딕"/>
                <a:cs typeface="맑은 고딕"/>
              </a:rPr>
              <a:t>▪  Llama 3.1 8B  (224tok)</a:t>
            </a:r>
          </a:p>
          <a:p>
            <a:pPr algn="l">
              <a:lnSpc>
                <a:spcPct val="118000"/>
              </a:lnSpc>
              <a:spcBef>
                <a:spcPts val="200"/>
              </a:spcBef>
              <a:spcAft>
                <a:spcPts val="100"/>
              </a:spcAft>
            </a:pPr>
            <a:r>
              <a:rPr sz="1680" b="0" i="0">
                <a:solidFill>
                  <a:srgbClr val="2C3A4B"/>
                </a:solidFill>
                <a:latin typeface="Segoe UI"/>
                <a:ea typeface="맑은 고딕"/>
                <a:cs typeface="맑은 고딕"/>
              </a:rPr>
              <a:t>–  사과 100개를 담으려면 상자가 몇 개 필요하는지 계산해 보겠습니다.  1. 한 상자에 사과가 12개 들어간다.  2. 100개의 사과를 담으려면, 100 ÷ 12 = 8.33 (소수점이 나온다. 소수점은 사과가 몇 개 남는지 의미한다.)  8.33은 8과 0.33으로 나누어질 수 있다. 8은 8개의 상자에 담을 수 있는 사과의 개수이고, 0.33은 마지막 상자에 남는 사과의 개수이다.  8개의 상자에 담을 수 있는 사과의 개수는 8 × 12 = 96개이다.  마지막 상자에는 100 - 96 = 4개의 사과가 남는다.  따라서, 사과 100개를 담으려면 8개의 상자가 필요하고, 마지막 상자에는 4개의 사과가 남는다.</a:t>
            </a:r>
          </a:p>
          <a:p>
            <a:pPr algn="l">
              <a:lnSpc>
                <a:spcPct val="118000"/>
              </a:lnSpc>
              <a:spcBef>
                <a:spcPts val="600"/>
              </a:spcBef>
              <a:spcAft>
                <a:spcPts val="200"/>
              </a:spcAft>
            </a:pPr>
            <a:r>
              <a:rPr sz="1800" b="0" i="0">
                <a:solidFill>
                  <a:srgbClr val="16202C"/>
                </a:solidFill>
                <a:latin typeface="Segoe UI"/>
                <a:ea typeface="맑은 고딕"/>
                <a:cs typeface="맑은 고딕"/>
              </a:rPr>
              <a:t>▪  Qwen3 8B  (1024tok)</a:t>
            </a:r>
          </a:p>
          <a:p>
            <a:pPr algn="l">
              <a:lnSpc>
                <a:spcPct val="118000"/>
              </a:lnSpc>
              <a:spcBef>
                <a:spcPts val="200"/>
              </a:spcBef>
              <a:spcAft>
                <a:spcPts val="100"/>
              </a:spcAft>
            </a:pPr>
            <a:r>
              <a:rPr sz="1680" b="0" i="0">
                <a:solidFill>
                  <a:srgbClr val="2C3A4B"/>
                </a:solidFill>
                <a:latin typeface="Segoe UI"/>
                <a:ea typeface="맑은 고딕"/>
                <a:cs typeface="맑은 고딕"/>
              </a:rPr>
              <a:t>–  사과 100개를 12개씩 담는 상자에 담으려면 다음과 같은 계산 과정을 따릅니다:  1. **총 사과 수 ÷ 상자당 사과 수 계산**      $ 100 \div 12 = 8 $ 나머지 $ 4 $      - 이는 8개의 상자가 12개씩 담을 수 있고, 남은 사과는 4개임을 의미합니다.  2. **필요한 상자 수 계산**      - 8개의 상자가 96개의 사과를 담고, 남은 4개의 사과는 추가로 1개의 상자를 필요로 합니다.      - 따라서 총 필요한 상자는 $ 8 + 1 = 9 $개입니다.  3. **마지막 상자에 남는 사과 수**      - 마지막 상자는 4개의 사과가 담깁니다.  **결과:**   - **필요한 상자 수:** 9개   - **마지막 상자에 남는</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46304" cy="6858000"/>
          </a:xfrm>
          <a:prstGeom prst="rect">
            <a:avLst/>
          </a:prstGeom>
          <a:solidFill>
            <a:srgbClr val="0B5FC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3" name="TextBox 2"/>
          <p:cNvSpPr txBox="1"/>
          <p:nvPr/>
        </p:nvSpPr>
        <p:spPr>
          <a:xfrm>
            <a:off x="566928" y="384048"/>
            <a:ext cx="11057839" cy="713232"/>
          </a:xfrm>
          <a:prstGeom prst="rect">
            <a:avLst/>
          </a:prstGeom>
          <a:noFill/>
        </p:spPr>
        <p:txBody>
          <a:bodyPr wrap="square" anchor="t" lIns="0" rIns="0" tIns="0" bIns="0">
            <a:spAutoFit/>
          </a:bodyPr>
          <a:lstStyle/>
          <a:p>
            <a:pPr algn="l">
              <a:lnSpc>
                <a:spcPct val="118000"/>
              </a:lnSpc>
              <a:spcBef>
                <a:spcPts val="0"/>
              </a:spcBef>
              <a:spcAft>
                <a:spcPts val="0"/>
              </a:spcAft>
            </a:pPr>
            <a:r>
              <a:rPr sz="3000" b="1" i="0">
                <a:solidFill>
                  <a:srgbClr val="16202C"/>
                </a:solidFill>
                <a:latin typeface="Segoe UI"/>
                <a:ea typeface="맑은 고딕"/>
                <a:cs typeface="맑은 고딕"/>
              </a:rPr>
              <a:t>답변 원문: 계산 추론 (11)</a:t>
            </a:r>
          </a:p>
        </p:txBody>
      </p:sp>
      <p:cxnSp>
        <p:nvCxnSpPr>
          <p:cNvPr id="4" name="Connector 3"/>
          <p:cNvCxnSpPr/>
          <p:nvPr/>
        </p:nvCxnSpPr>
        <p:spPr>
          <a:xfrm>
            <a:off x="566928" y="1097280"/>
            <a:ext cx="11057839" cy="0"/>
          </a:xfrm>
          <a:prstGeom prst="line">
            <a:avLst/>
          </a:prstGeom>
          <a:ln w="15875">
            <a:solidFill>
              <a:srgbClr val="D6DEE7"/>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566928" y="6455664"/>
            <a:ext cx="9686239" cy="219456"/>
          </a:xfrm>
          <a:prstGeom prst="rect">
            <a:avLst/>
          </a:prstGeom>
          <a:noFill/>
        </p:spPr>
        <p:txBody>
          <a:bodyPr wrap="square" anchor="t" lIns="0" rIns="0" tIns="0" bIns="0">
            <a:spAutoFit/>
          </a:bodyPr>
          <a:lstStyle/>
          <a:p>
            <a:pPr algn="l">
              <a:lnSpc>
                <a:spcPct val="118000"/>
              </a:lnSpc>
              <a:spcBef>
                <a:spcPts val="0"/>
              </a:spcBef>
              <a:spcAft>
                <a:spcPts val="0"/>
              </a:spcAft>
            </a:pPr>
            <a:r>
              <a:rPr sz="950" b="0" i="0">
                <a:solidFill>
                  <a:srgbClr val="5B6B7B"/>
                </a:solidFill>
                <a:latin typeface="Segoe UI"/>
                <a:ea typeface="맑은 고딕"/>
                <a:cs typeface="맑은 고딕"/>
              </a:rPr>
              <a:t>RNGD 4장 서버, 2026-08-29 실측</a:t>
            </a:r>
          </a:p>
        </p:txBody>
      </p:sp>
      <p:sp>
        <p:nvSpPr>
          <p:cNvPr id="6" name="TextBox 5"/>
          <p:cNvSpPr txBox="1"/>
          <p:nvPr/>
        </p:nvSpPr>
        <p:spPr>
          <a:xfrm>
            <a:off x="10527487" y="6455664"/>
            <a:ext cx="1097280" cy="219456"/>
          </a:xfrm>
          <a:prstGeom prst="rect">
            <a:avLst/>
          </a:prstGeom>
          <a:noFill/>
        </p:spPr>
        <p:txBody>
          <a:bodyPr wrap="square" anchor="t" lIns="0" rIns="0" tIns="0" bIns="0">
            <a:spAutoFit/>
          </a:bodyPr>
          <a:lstStyle/>
          <a:p>
            <a:pPr algn="r">
              <a:lnSpc>
                <a:spcPct val="118000"/>
              </a:lnSpc>
              <a:spcBef>
                <a:spcPts val="0"/>
              </a:spcBef>
              <a:spcAft>
                <a:spcPts val="0"/>
              </a:spcAft>
            </a:pPr>
            <a:r>
              <a:rPr sz="950" b="0" i="0">
                <a:solidFill>
                  <a:srgbClr val="5B6B7B"/>
                </a:solidFill>
                <a:latin typeface="Segoe UI"/>
                <a:ea typeface="맑은 고딕"/>
                <a:cs typeface="맑은 고딕"/>
              </a:rPr>
              <a:t>31</a:t>
            </a:r>
          </a:p>
        </p:txBody>
      </p:sp>
      <p:sp>
        <p:nvSpPr>
          <p:cNvPr id="7" name="TextBox 6"/>
          <p:cNvSpPr txBox="1"/>
          <p:nvPr/>
        </p:nvSpPr>
        <p:spPr>
          <a:xfrm>
            <a:off x="566928" y="1316736"/>
            <a:ext cx="11057839" cy="4956048"/>
          </a:xfrm>
          <a:prstGeom prst="rect">
            <a:avLst/>
          </a:prstGeom>
          <a:noFill/>
        </p:spPr>
        <p:txBody>
          <a:bodyPr wrap="square" anchor="t" lIns="0" rIns="0" tIns="0" bIns="0">
            <a:spAutoFit/>
          </a:bodyPr>
          <a:lstStyle/>
          <a:p>
            <a:pPr algn="l">
              <a:lnSpc>
                <a:spcPct val="118000"/>
              </a:lnSpc>
              <a:spcBef>
                <a:spcPts val="200"/>
              </a:spcBef>
              <a:spcAft>
                <a:spcPts val="200"/>
              </a:spcAft>
            </a:pPr>
            <a:r>
              <a:rPr sz="1900" b="0" i="0">
                <a:solidFill>
                  <a:srgbClr val="16202C"/>
                </a:solidFill>
                <a:latin typeface="Segoe UI"/>
                <a:ea typeface="맑은 고딕"/>
                <a:cs typeface="맑은 고딕"/>
              </a:rPr>
              <a:t>▪  Qwen3 4B  (1024tok)</a:t>
            </a:r>
          </a:p>
          <a:p>
            <a:pPr algn="l">
              <a:lnSpc>
                <a:spcPct val="118000"/>
              </a:lnSpc>
              <a:spcBef>
                <a:spcPts val="200"/>
              </a:spcBef>
              <a:spcAft>
                <a:spcPts val="100"/>
              </a:spcAft>
            </a:pPr>
            <a:r>
              <a:rPr sz="1780" b="0" i="0">
                <a:solidFill>
                  <a:srgbClr val="2C3A4B"/>
                </a:solidFill>
                <a:latin typeface="Segoe UI"/>
                <a:ea typeface="맑은 고딕"/>
                <a:cs typeface="맑은 고딕"/>
              </a:rPr>
              <a:t>–  100개의 사과를 12개씩 담는 상자에 담기려면 다음과 같은 계산 과정을 거칩니다:  1. **총 사과 수 ÷ 상자당 사과 수**      $ 100 \div 12 = 8 $ dư $ 4 $      - 12 × 8 = 96 (8개의 상자가 담을 수 있는 사과 수)      - 100 - 96 = 4 (남는 사과 수)  2. **상자 수 계산**      - 8개의 상자가 완전히 채워지고, 4개의 사과가 남는다.      - 마지막 상자에 4개의 사과가 남는다.      - 따라서 **9개의 상자가 필요**하며, **마지막 상자에는 4개의 사과가 남는다**.  **결과**:   - **필요한 상자 수**: 9개   - **마지막 상자에 남는</a:t>
            </a:r>
          </a:p>
          <a:p>
            <a:pPr algn="l">
              <a:lnSpc>
                <a:spcPct val="118000"/>
              </a:lnSpc>
              <a:spcBef>
                <a:spcPts val="600"/>
              </a:spcBef>
              <a:spcAft>
                <a:spcPts val="200"/>
              </a:spcAft>
            </a:pPr>
            <a:r>
              <a:rPr sz="1900" b="0" i="0">
                <a:solidFill>
                  <a:srgbClr val="16202C"/>
                </a:solidFill>
                <a:latin typeface="Segoe UI"/>
                <a:ea typeface="맑은 고딕"/>
                <a:cs typeface="맑은 고딕"/>
              </a:rPr>
              <a:t>▪  Qwen2.5 0.5B  (242tok)</a:t>
            </a:r>
          </a:p>
          <a:p>
            <a:pPr algn="l">
              <a:lnSpc>
                <a:spcPct val="118000"/>
              </a:lnSpc>
              <a:spcBef>
                <a:spcPts val="200"/>
              </a:spcBef>
              <a:spcAft>
                <a:spcPts val="100"/>
              </a:spcAft>
            </a:pPr>
            <a:r>
              <a:rPr sz="1780" b="0" i="0">
                <a:solidFill>
                  <a:srgbClr val="2C3A4B"/>
                </a:solidFill>
                <a:latin typeface="Segoe UI"/>
                <a:ea typeface="맑은 고딕"/>
                <a:cs typeface="맑은 고딕"/>
              </a:rPr>
              <a:t>–  이 문제를 해결하기 위해 필요한 계산 과정은 다음과 같습니다:  1. 상자에 사과가 12개 들어간다. 이는 상자에 사과의 수를 계산합니다.  2. 사과 100개를 담으려면 상자에 필요한 사과의 수를 계산합니다. 이를 구하기 위해 100을 나누어 봅니다.  3. 100을 나누어 봐서 나머지가 0이 되면, 상자에 필요한 사과의 수를 계산합니다. 이는 100을 나누어 봐서 나머지가 0이 되는 최소의 몇 개를 구합니다.  4. 마지막 상자에는 몇 개가 남는지 계산합니다. 이는 상자에 남은 사과의 수를 계산합니다. 이는 12을 뺀 나머지가 0이 되는 최소의 몇 개를 구합니다.  이 과정을 통해, 마지막 상자에는 8개가 남는 것입니다.</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46304" cy="6858000"/>
          </a:xfrm>
          <a:prstGeom prst="rect">
            <a:avLst/>
          </a:prstGeom>
          <a:solidFill>
            <a:srgbClr val="0B5FC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3" name="TextBox 2"/>
          <p:cNvSpPr txBox="1"/>
          <p:nvPr/>
        </p:nvSpPr>
        <p:spPr>
          <a:xfrm>
            <a:off x="566928" y="384048"/>
            <a:ext cx="11057839" cy="713232"/>
          </a:xfrm>
          <a:prstGeom prst="rect">
            <a:avLst/>
          </a:prstGeom>
          <a:noFill/>
        </p:spPr>
        <p:txBody>
          <a:bodyPr wrap="square" anchor="t" lIns="0" rIns="0" tIns="0" bIns="0">
            <a:spAutoFit/>
          </a:bodyPr>
          <a:lstStyle/>
          <a:p>
            <a:pPr algn="l">
              <a:lnSpc>
                <a:spcPct val="118000"/>
              </a:lnSpc>
              <a:spcBef>
                <a:spcPts val="0"/>
              </a:spcBef>
              <a:spcAft>
                <a:spcPts val="0"/>
              </a:spcAft>
            </a:pPr>
            <a:r>
              <a:rPr sz="3000" b="1" i="0">
                <a:solidFill>
                  <a:srgbClr val="16202C"/>
                </a:solidFill>
                <a:latin typeface="Segoe UI"/>
                <a:ea typeface="맑은 고딕"/>
                <a:cs typeface="맑은 고딕"/>
              </a:rPr>
              <a:t>답변 원문: 개념 설명 (1)</a:t>
            </a:r>
          </a:p>
        </p:txBody>
      </p:sp>
      <p:cxnSp>
        <p:nvCxnSpPr>
          <p:cNvPr id="4" name="Connector 3"/>
          <p:cNvCxnSpPr/>
          <p:nvPr/>
        </p:nvCxnSpPr>
        <p:spPr>
          <a:xfrm>
            <a:off x="566928" y="1097280"/>
            <a:ext cx="11057839" cy="0"/>
          </a:xfrm>
          <a:prstGeom prst="line">
            <a:avLst/>
          </a:prstGeom>
          <a:ln w="15875">
            <a:solidFill>
              <a:srgbClr val="D6DEE7"/>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566928" y="6455664"/>
            <a:ext cx="9686239" cy="219456"/>
          </a:xfrm>
          <a:prstGeom prst="rect">
            <a:avLst/>
          </a:prstGeom>
          <a:noFill/>
        </p:spPr>
        <p:txBody>
          <a:bodyPr wrap="square" anchor="t" lIns="0" rIns="0" tIns="0" bIns="0">
            <a:spAutoFit/>
          </a:bodyPr>
          <a:lstStyle/>
          <a:p>
            <a:pPr algn="l">
              <a:lnSpc>
                <a:spcPct val="118000"/>
              </a:lnSpc>
              <a:spcBef>
                <a:spcPts val="0"/>
              </a:spcBef>
              <a:spcAft>
                <a:spcPts val="0"/>
              </a:spcAft>
            </a:pPr>
            <a:r>
              <a:rPr sz="950" b="0" i="0">
                <a:solidFill>
                  <a:srgbClr val="5B6B7B"/>
                </a:solidFill>
                <a:latin typeface="Segoe UI"/>
                <a:ea typeface="맑은 고딕"/>
                <a:cs typeface="맑은 고딕"/>
              </a:rPr>
              <a:t>RNGD 4장 서버, 2026-08-29 실측</a:t>
            </a:r>
          </a:p>
        </p:txBody>
      </p:sp>
      <p:sp>
        <p:nvSpPr>
          <p:cNvPr id="6" name="TextBox 5"/>
          <p:cNvSpPr txBox="1"/>
          <p:nvPr/>
        </p:nvSpPr>
        <p:spPr>
          <a:xfrm>
            <a:off x="10527487" y="6455664"/>
            <a:ext cx="1097280" cy="219456"/>
          </a:xfrm>
          <a:prstGeom prst="rect">
            <a:avLst/>
          </a:prstGeom>
          <a:noFill/>
        </p:spPr>
        <p:txBody>
          <a:bodyPr wrap="square" anchor="t" lIns="0" rIns="0" tIns="0" bIns="0">
            <a:spAutoFit/>
          </a:bodyPr>
          <a:lstStyle/>
          <a:p>
            <a:pPr algn="r">
              <a:lnSpc>
                <a:spcPct val="118000"/>
              </a:lnSpc>
              <a:spcBef>
                <a:spcPts val="0"/>
              </a:spcBef>
              <a:spcAft>
                <a:spcPts val="0"/>
              </a:spcAft>
            </a:pPr>
            <a:r>
              <a:rPr sz="950" b="0" i="0">
                <a:solidFill>
                  <a:srgbClr val="5B6B7B"/>
                </a:solidFill>
                <a:latin typeface="Segoe UI"/>
                <a:ea typeface="맑은 고딕"/>
                <a:cs typeface="맑은 고딕"/>
              </a:rPr>
              <a:t>32</a:t>
            </a:r>
          </a:p>
        </p:txBody>
      </p:sp>
      <p:sp>
        <p:nvSpPr>
          <p:cNvPr id="7" name="TextBox 6"/>
          <p:cNvSpPr txBox="1"/>
          <p:nvPr/>
        </p:nvSpPr>
        <p:spPr>
          <a:xfrm>
            <a:off x="566928" y="1316736"/>
            <a:ext cx="11057839" cy="4956048"/>
          </a:xfrm>
          <a:prstGeom prst="rect">
            <a:avLst/>
          </a:prstGeom>
          <a:noFill/>
        </p:spPr>
        <p:txBody>
          <a:bodyPr wrap="square" anchor="t" lIns="0" rIns="0" tIns="0" bIns="0">
            <a:spAutoFit/>
          </a:bodyPr>
          <a:lstStyle/>
          <a:p>
            <a:pPr algn="l">
              <a:lnSpc>
                <a:spcPct val="118000"/>
              </a:lnSpc>
              <a:spcBef>
                <a:spcPts val="200"/>
              </a:spcBef>
              <a:spcAft>
                <a:spcPts val="200"/>
              </a:spcAft>
            </a:pPr>
            <a:r>
              <a:rPr sz="1400" b="0" i="0">
                <a:solidFill>
                  <a:srgbClr val="16202C"/>
                </a:solidFill>
                <a:latin typeface="Segoe UI"/>
                <a:ea typeface="맑은 고딕"/>
                <a:cs typeface="맑은 고딕"/>
              </a:rPr>
              <a:t>▪  gpt-oss 120B  (1024tok)</a:t>
            </a:r>
          </a:p>
          <a:p>
            <a:pPr algn="l">
              <a:lnSpc>
                <a:spcPct val="118000"/>
              </a:lnSpc>
              <a:spcBef>
                <a:spcPts val="200"/>
              </a:spcBef>
              <a:spcAft>
                <a:spcPts val="100"/>
              </a:spcAft>
            </a:pPr>
            <a:r>
              <a:rPr sz="1280" b="0" i="0">
                <a:solidFill>
                  <a:srgbClr val="2C3A4B"/>
                </a:solidFill>
                <a:latin typeface="Segoe UI"/>
                <a:ea typeface="맑은 고딕"/>
                <a:cs typeface="맑은 고딕"/>
              </a:rPr>
              <a:t>–  ## 트랜스포머의 **어텐션**이란?    ### 1. 핵심 아이디어   어텐션은 **“입력 전체 중에서 현재가 가장 필요로 하는 부분에 집중한다”**는 메커니즘입니다.   입력 문장(또는 시퀀스)의 모든 토큰을 동시에 바라보면서, 각 토큰이 **다른 토큰들과 얼마나 관련이 있는지**를 점수화하고, 그 점수에 따라 정보를 섞어 새로운 표현을 만들어냅니다.  - **Query (Q)** : “내가 지금 궁금한 것”   - **Key (K)** : “각 토큰이 가지고 있는 특징(키)”   - **Value (V)** : “키에 대응하는 실제 정보(값)”  `Q, K`(점곱) → **유사도 점수** → **softmax** 로 정규화 → **점수 × V** 를 모두 더하면 “내가 궁금한 것에 가장 관련 있는 정보”가 모여 새로운 벡터가 됩니다.    ---  ### 2. 비유: 도서관 사서와 책 찾기    &gt; **상황**: 당신은 도서관에서 “인공지능”에 관한 정보를 찾고 싶다.   &gt; **전통적인 방법(RNN 비유)**: 사서가 한 줄씩 책을 꺼내서 “이 책에 인공지능이 있나요?” 하고 물어보고, 답을 들은 뒤에야 다음 책을 확인한다. → **하나씩 순차적으로 진행**   &gt; **어텐션(Transformer 비유)**: 사서는 한 번에 모든 책을 테이블 위에 펼쳐 놓고, 각 책의 목차와 표지를 스캔한다. “인공지능”이라는 키워드와 가장 잘 맞는 책(키)들을 빠르게 찾아서, 그 책들의 핵심 내용(값)만 골라 모은다. → **전체를 동시에 살피면서 필요한 부분에만 집중**    이처럼 어텐션은 “전체를 한눈에 보고, 현재가 필요로 하는 부분에 가중치를 줘서 정보를 모은다”는 방식입니다.  ---  ### 3. 왜 **병렬화에 유리한가?** (RNN과 비교)  | 특성 | 순환신경망 (RNN) | 트랜스포머 (어텐션) | |------|----------------|-------------------| | **연산 흐름** | **시간 단계마다** 이전 은닉 상태를 사용 → **순차적** (t‑1 → t) | **전체 토큰을 동시에** Q, K, V 로 변환 → **동시 연산** | | **GPU/TPU 활용** | 한 단계가 끝나야 다음 단계가 시작될 수 있어 **GPU 코어를 충분히 활용하기 어려움** | 행렬 연산(매트릭스 곱, softmax)만 있으면 **수천, 수만 개 토큰을 한 번에** 처리 → **GPU/TPU의 대규모 병렬 연산에 최적** | | **메모리 접근 패턴** | 매 단계마다 작은 메모리(은닉 상태)만 사용 → **연속적인 메모리 접근** | 전체 입력을 한 번에 메모리에 올리고, **대규모 행렬을 한 번에 읽고 쓰기** → **메모리 대역폭을 효율적으로 사용** | | **학습 속도** | 순차적이라 **시간 복잡도 O(T)** (T = 시퀀스 길이) | 어텐션은 **O(T²)** (점곱 연산) 이지만 **병렬화** 덕분에 실제 실행 시간은 **O(T)** 에 가깝게 감소 | | **장점** | 긴 시퀀스에서도 메모리 사용량이 비교적 작음 (하지만 학습이 느림) | **빠른 학습, 추론**, **긴 의존관계**도 한 번에 잡아냄 |  #### 핵심 포인트 - **RNN**은</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46304" cy="6858000"/>
          </a:xfrm>
          <a:prstGeom prst="rect">
            <a:avLst/>
          </a:prstGeom>
          <a:solidFill>
            <a:srgbClr val="0B5FC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3" name="TextBox 2"/>
          <p:cNvSpPr txBox="1"/>
          <p:nvPr/>
        </p:nvSpPr>
        <p:spPr>
          <a:xfrm>
            <a:off x="566928" y="384048"/>
            <a:ext cx="11057839" cy="713232"/>
          </a:xfrm>
          <a:prstGeom prst="rect">
            <a:avLst/>
          </a:prstGeom>
          <a:noFill/>
        </p:spPr>
        <p:txBody>
          <a:bodyPr wrap="square" anchor="t" lIns="0" rIns="0" tIns="0" bIns="0">
            <a:spAutoFit/>
          </a:bodyPr>
          <a:lstStyle/>
          <a:p>
            <a:pPr algn="l">
              <a:lnSpc>
                <a:spcPct val="118000"/>
              </a:lnSpc>
              <a:spcBef>
                <a:spcPts val="0"/>
              </a:spcBef>
              <a:spcAft>
                <a:spcPts val="0"/>
              </a:spcAft>
            </a:pPr>
            <a:r>
              <a:rPr sz="3000" b="1" i="0">
                <a:solidFill>
                  <a:srgbClr val="16202C"/>
                </a:solidFill>
                <a:latin typeface="Segoe UI"/>
                <a:ea typeface="맑은 고딕"/>
                <a:cs typeface="맑은 고딕"/>
              </a:rPr>
              <a:t>답변 원문: 개념 설명 (2)</a:t>
            </a:r>
          </a:p>
        </p:txBody>
      </p:sp>
      <p:cxnSp>
        <p:nvCxnSpPr>
          <p:cNvPr id="4" name="Connector 3"/>
          <p:cNvCxnSpPr/>
          <p:nvPr/>
        </p:nvCxnSpPr>
        <p:spPr>
          <a:xfrm>
            <a:off x="566928" y="1097280"/>
            <a:ext cx="11057839" cy="0"/>
          </a:xfrm>
          <a:prstGeom prst="line">
            <a:avLst/>
          </a:prstGeom>
          <a:ln w="15875">
            <a:solidFill>
              <a:srgbClr val="D6DEE7"/>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566928" y="6455664"/>
            <a:ext cx="9686239" cy="219456"/>
          </a:xfrm>
          <a:prstGeom prst="rect">
            <a:avLst/>
          </a:prstGeom>
          <a:noFill/>
        </p:spPr>
        <p:txBody>
          <a:bodyPr wrap="square" anchor="t" lIns="0" rIns="0" tIns="0" bIns="0">
            <a:spAutoFit/>
          </a:bodyPr>
          <a:lstStyle/>
          <a:p>
            <a:pPr algn="l">
              <a:lnSpc>
                <a:spcPct val="118000"/>
              </a:lnSpc>
              <a:spcBef>
                <a:spcPts val="0"/>
              </a:spcBef>
              <a:spcAft>
                <a:spcPts val="0"/>
              </a:spcAft>
            </a:pPr>
            <a:r>
              <a:rPr sz="950" b="0" i="0">
                <a:solidFill>
                  <a:srgbClr val="5B6B7B"/>
                </a:solidFill>
                <a:latin typeface="Segoe UI"/>
                <a:ea typeface="맑은 고딕"/>
                <a:cs typeface="맑은 고딕"/>
              </a:rPr>
              <a:t>RNGD 4장 서버, 2026-08-29 실측</a:t>
            </a:r>
          </a:p>
        </p:txBody>
      </p:sp>
      <p:sp>
        <p:nvSpPr>
          <p:cNvPr id="6" name="TextBox 5"/>
          <p:cNvSpPr txBox="1"/>
          <p:nvPr/>
        </p:nvSpPr>
        <p:spPr>
          <a:xfrm>
            <a:off x="10527487" y="6455664"/>
            <a:ext cx="1097280" cy="219456"/>
          </a:xfrm>
          <a:prstGeom prst="rect">
            <a:avLst/>
          </a:prstGeom>
          <a:noFill/>
        </p:spPr>
        <p:txBody>
          <a:bodyPr wrap="square" anchor="t" lIns="0" rIns="0" tIns="0" bIns="0">
            <a:spAutoFit/>
          </a:bodyPr>
          <a:lstStyle/>
          <a:p>
            <a:pPr algn="r">
              <a:lnSpc>
                <a:spcPct val="118000"/>
              </a:lnSpc>
              <a:spcBef>
                <a:spcPts val="0"/>
              </a:spcBef>
              <a:spcAft>
                <a:spcPts val="0"/>
              </a:spcAft>
            </a:pPr>
            <a:r>
              <a:rPr sz="950" b="0" i="0">
                <a:solidFill>
                  <a:srgbClr val="5B6B7B"/>
                </a:solidFill>
                <a:latin typeface="Segoe UI"/>
                <a:ea typeface="맑은 고딕"/>
                <a:cs typeface="맑은 고딕"/>
              </a:rPr>
              <a:t>33</a:t>
            </a:r>
          </a:p>
        </p:txBody>
      </p:sp>
      <p:sp>
        <p:nvSpPr>
          <p:cNvPr id="7" name="TextBox 6"/>
          <p:cNvSpPr txBox="1"/>
          <p:nvPr/>
        </p:nvSpPr>
        <p:spPr>
          <a:xfrm>
            <a:off x="566928" y="1316736"/>
            <a:ext cx="11057839" cy="4956048"/>
          </a:xfrm>
          <a:prstGeom prst="rect">
            <a:avLst/>
          </a:prstGeom>
          <a:noFill/>
        </p:spPr>
        <p:txBody>
          <a:bodyPr wrap="square" anchor="t" lIns="0" rIns="0" tIns="0" bIns="0">
            <a:spAutoFit/>
          </a:bodyPr>
          <a:lstStyle/>
          <a:p>
            <a:pPr algn="l">
              <a:lnSpc>
                <a:spcPct val="118000"/>
              </a:lnSpc>
              <a:spcBef>
                <a:spcPts val="200"/>
              </a:spcBef>
              <a:spcAft>
                <a:spcPts val="200"/>
              </a:spcAft>
            </a:pPr>
            <a:r>
              <a:rPr sz="1600" b="0" i="0">
                <a:solidFill>
                  <a:srgbClr val="16202C"/>
                </a:solidFill>
                <a:latin typeface="Segoe UI"/>
                <a:ea typeface="맑은 고딕"/>
                <a:cs typeface="맑은 고딕"/>
              </a:rPr>
              <a:t>▪  Solar-Open 100B  (1024tok)</a:t>
            </a:r>
          </a:p>
          <a:p>
            <a:pPr algn="l">
              <a:lnSpc>
                <a:spcPct val="118000"/>
              </a:lnSpc>
              <a:spcBef>
                <a:spcPts val="200"/>
              </a:spcBef>
              <a:spcAft>
                <a:spcPts val="100"/>
              </a:spcAft>
            </a:pPr>
            <a:r>
              <a:rPr sz="1480" b="0" i="0">
                <a:solidFill>
                  <a:srgbClr val="2C3A4B"/>
                </a:solidFill>
                <a:latin typeface="Segoe UI"/>
                <a:ea typeface="맑은 고딕"/>
                <a:cs typeface="맑은 고딕"/>
              </a:rPr>
              <a:t>–  (답변 없음 — 사고만 하고 예산이 끝났다)</a:t>
            </a:r>
          </a:p>
          <a:p>
            <a:pPr algn="l">
              <a:lnSpc>
                <a:spcPct val="118000"/>
              </a:lnSpc>
              <a:spcBef>
                <a:spcPts val="600"/>
              </a:spcBef>
              <a:spcAft>
                <a:spcPts val="200"/>
              </a:spcAft>
            </a:pPr>
            <a:r>
              <a:rPr sz="1600" b="0" i="0">
                <a:solidFill>
                  <a:srgbClr val="16202C"/>
                </a:solidFill>
                <a:latin typeface="Segoe UI"/>
                <a:ea typeface="맑은 고딕"/>
                <a:cs typeface="맑은 고딕"/>
              </a:rPr>
              <a:t>▪  K-EXAONE 236B  (1024tok)</a:t>
            </a:r>
          </a:p>
          <a:p>
            <a:pPr algn="l">
              <a:lnSpc>
                <a:spcPct val="118000"/>
              </a:lnSpc>
              <a:spcBef>
                <a:spcPts val="200"/>
              </a:spcBef>
              <a:spcAft>
                <a:spcPts val="100"/>
              </a:spcAft>
            </a:pPr>
            <a:r>
              <a:rPr sz="1480" b="0" i="0">
                <a:solidFill>
                  <a:srgbClr val="2C3A4B"/>
                </a:solidFill>
                <a:latin typeface="Segoe UI"/>
                <a:ea typeface="맑은 고딕"/>
                <a:cs typeface="맑은 고딕"/>
              </a:rPr>
              <a:t>–  (답변 없음 — 사고만 하고 예산이 끝났다)</a:t>
            </a:r>
          </a:p>
          <a:p>
            <a:pPr algn="l">
              <a:lnSpc>
                <a:spcPct val="118000"/>
              </a:lnSpc>
              <a:spcBef>
                <a:spcPts val="600"/>
              </a:spcBef>
              <a:spcAft>
                <a:spcPts val="200"/>
              </a:spcAft>
            </a:pPr>
            <a:r>
              <a:rPr sz="1600" b="0" i="0">
                <a:solidFill>
                  <a:srgbClr val="16202C"/>
                </a:solidFill>
                <a:latin typeface="Segoe UI"/>
                <a:ea typeface="맑은 고딕"/>
                <a:cs typeface="맑은 고딕"/>
              </a:rPr>
              <a:t>▪  Llama 3.3 70B  (409tok)</a:t>
            </a:r>
          </a:p>
          <a:p>
            <a:pPr algn="l">
              <a:lnSpc>
                <a:spcPct val="118000"/>
              </a:lnSpc>
              <a:spcBef>
                <a:spcPts val="200"/>
              </a:spcBef>
              <a:spcAft>
                <a:spcPts val="100"/>
              </a:spcAft>
            </a:pPr>
            <a:r>
              <a:rPr sz="1480" b="0" i="0">
                <a:solidFill>
                  <a:srgbClr val="2C3A4B"/>
                </a:solidFill>
                <a:latin typeface="Segoe UI"/>
                <a:ea typeface="맑은 고딕"/>
                <a:cs typeface="맑은 고딕"/>
              </a:rPr>
              <a:t>–  트랜스포머의 어텐션은, 인공신경망에서 입력 데이터의 특정 부분에 집중하여 처리하는 기법입니다. 예를 들어, 한 문장을 번역하는 경우에, 문장의 각 단어에 다른 단어의 의미를 참고하여 번역을 더 정확하게 하는데 사용됩니다.  비유를 하나 들면, 어텐션은 한 방에 많은 사람들이 있는 상황에서, 특정 사람과 대화할 때 다른 사람들의 목소리는 무시하고, 그 사람의 목소리만 집중해서 들으려는 것과 같습니다. 이 경우, 다른 사람들의 목소리는 노이즈로 작용하지만, 어텐션은 그 노이즈를 필터링하여, 원하는 사람의 목소리만 집중해서 들을 수 있습니다.  순환신경망(RNN)과 비교했을 때, 트랜스포머의 어텐션은 병렬화에 더 유리합니다. 순환신경망은 시퀀스 데이터를 순차적으로 처리하기 때문에, 병렬화가 어렵습니다. 예를 들어, 문장을 번역하는 경우에, 순환신경망은 한 단어씩 순차적으로 처리해야 하기 때문에, 병렬화가 어려워서, 처리 속도가 느려질 수 있습니다.  반면에, 트랜스포머의 어텐션은 입력 데이터의 모든 부분을 동시에 처리할 수 있기 때문에, 병렬화가 더 쉽습니다. 예를 들어, 문장을 번역하는 경우에, 트랜스포머의 어텐션은 문장의 모든 단어를 동시에 처리할 수 있기 때문에, 병렬화가 더 쉽고, 처리 속도가 더 빠를 수 있습니다. 따라서, 트랜스포머의 어텐션은 대규모 데이터를 처리하는 경우에, 순환신경망보다 더 효율적일 수 있습니다.</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46304" cy="6858000"/>
          </a:xfrm>
          <a:prstGeom prst="rect">
            <a:avLst/>
          </a:prstGeom>
          <a:solidFill>
            <a:srgbClr val="0B5FC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3" name="TextBox 2"/>
          <p:cNvSpPr txBox="1"/>
          <p:nvPr/>
        </p:nvSpPr>
        <p:spPr>
          <a:xfrm>
            <a:off x="566928" y="384048"/>
            <a:ext cx="11057839" cy="713232"/>
          </a:xfrm>
          <a:prstGeom prst="rect">
            <a:avLst/>
          </a:prstGeom>
          <a:noFill/>
        </p:spPr>
        <p:txBody>
          <a:bodyPr wrap="square" anchor="t" lIns="0" rIns="0" tIns="0" bIns="0">
            <a:spAutoFit/>
          </a:bodyPr>
          <a:lstStyle/>
          <a:p>
            <a:pPr algn="l">
              <a:lnSpc>
                <a:spcPct val="118000"/>
              </a:lnSpc>
              <a:spcBef>
                <a:spcPts val="0"/>
              </a:spcBef>
              <a:spcAft>
                <a:spcPts val="0"/>
              </a:spcAft>
            </a:pPr>
            <a:r>
              <a:rPr sz="3000" b="1" i="0">
                <a:solidFill>
                  <a:srgbClr val="16202C"/>
                </a:solidFill>
                <a:latin typeface="Segoe UI"/>
                <a:ea typeface="맑은 고딕"/>
                <a:cs typeface="맑은 고딕"/>
              </a:rPr>
              <a:t>답변 원문: 개념 설명 (3)</a:t>
            </a:r>
          </a:p>
        </p:txBody>
      </p:sp>
      <p:cxnSp>
        <p:nvCxnSpPr>
          <p:cNvPr id="4" name="Connector 3"/>
          <p:cNvCxnSpPr/>
          <p:nvPr/>
        </p:nvCxnSpPr>
        <p:spPr>
          <a:xfrm>
            <a:off x="566928" y="1097280"/>
            <a:ext cx="11057839" cy="0"/>
          </a:xfrm>
          <a:prstGeom prst="line">
            <a:avLst/>
          </a:prstGeom>
          <a:ln w="15875">
            <a:solidFill>
              <a:srgbClr val="D6DEE7"/>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566928" y="6455664"/>
            <a:ext cx="9686239" cy="219456"/>
          </a:xfrm>
          <a:prstGeom prst="rect">
            <a:avLst/>
          </a:prstGeom>
          <a:noFill/>
        </p:spPr>
        <p:txBody>
          <a:bodyPr wrap="square" anchor="t" lIns="0" rIns="0" tIns="0" bIns="0">
            <a:spAutoFit/>
          </a:bodyPr>
          <a:lstStyle/>
          <a:p>
            <a:pPr algn="l">
              <a:lnSpc>
                <a:spcPct val="118000"/>
              </a:lnSpc>
              <a:spcBef>
                <a:spcPts val="0"/>
              </a:spcBef>
              <a:spcAft>
                <a:spcPts val="0"/>
              </a:spcAft>
            </a:pPr>
            <a:r>
              <a:rPr sz="950" b="0" i="0">
                <a:solidFill>
                  <a:srgbClr val="5B6B7B"/>
                </a:solidFill>
                <a:latin typeface="Segoe UI"/>
                <a:ea typeface="맑은 고딕"/>
                <a:cs typeface="맑은 고딕"/>
              </a:rPr>
              <a:t>RNGD 4장 서버, 2026-08-29 실측</a:t>
            </a:r>
          </a:p>
        </p:txBody>
      </p:sp>
      <p:sp>
        <p:nvSpPr>
          <p:cNvPr id="6" name="TextBox 5"/>
          <p:cNvSpPr txBox="1"/>
          <p:nvPr/>
        </p:nvSpPr>
        <p:spPr>
          <a:xfrm>
            <a:off x="10527487" y="6455664"/>
            <a:ext cx="1097280" cy="219456"/>
          </a:xfrm>
          <a:prstGeom prst="rect">
            <a:avLst/>
          </a:prstGeom>
          <a:noFill/>
        </p:spPr>
        <p:txBody>
          <a:bodyPr wrap="square" anchor="t" lIns="0" rIns="0" tIns="0" bIns="0">
            <a:spAutoFit/>
          </a:bodyPr>
          <a:lstStyle/>
          <a:p>
            <a:pPr algn="r">
              <a:lnSpc>
                <a:spcPct val="118000"/>
              </a:lnSpc>
              <a:spcBef>
                <a:spcPts val="0"/>
              </a:spcBef>
              <a:spcAft>
                <a:spcPts val="0"/>
              </a:spcAft>
            </a:pPr>
            <a:r>
              <a:rPr sz="950" b="0" i="0">
                <a:solidFill>
                  <a:srgbClr val="5B6B7B"/>
                </a:solidFill>
                <a:latin typeface="Segoe UI"/>
                <a:ea typeface="맑은 고딕"/>
                <a:cs typeface="맑은 고딕"/>
              </a:rPr>
              <a:t>34</a:t>
            </a:r>
          </a:p>
        </p:txBody>
      </p:sp>
      <p:sp>
        <p:nvSpPr>
          <p:cNvPr id="7" name="TextBox 6"/>
          <p:cNvSpPr txBox="1"/>
          <p:nvPr/>
        </p:nvSpPr>
        <p:spPr>
          <a:xfrm>
            <a:off x="566928" y="1316736"/>
            <a:ext cx="11057839" cy="4956048"/>
          </a:xfrm>
          <a:prstGeom prst="rect">
            <a:avLst/>
          </a:prstGeom>
          <a:noFill/>
        </p:spPr>
        <p:txBody>
          <a:bodyPr wrap="square" anchor="t" lIns="0" rIns="0" tIns="0" bIns="0">
            <a:spAutoFit/>
          </a:bodyPr>
          <a:lstStyle/>
          <a:p>
            <a:pPr algn="l">
              <a:lnSpc>
                <a:spcPct val="118000"/>
              </a:lnSpc>
              <a:spcBef>
                <a:spcPts val="200"/>
              </a:spcBef>
              <a:spcAft>
                <a:spcPts val="200"/>
              </a:spcAft>
            </a:pPr>
            <a:r>
              <a:rPr sz="1800" b="0" i="0">
                <a:solidFill>
                  <a:srgbClr val="16202C"/>
                </a:solidFill>
                <a:latin typeface="Segoe UI"/>
                <a:ea typeface="맑은 고딕"/>
                <a:cs typeface="맑은 고딕"/>
              </a:rPr>
              <a:t>▪  Qwen3 32B  (1024tok)</a:t>
            </a:r>
          </a:p>
          <a:p>
            <a:pPr algn="l">
              <a:lnSpc>
                <a:spcPct val="118000"/>
              </a:lnSpc>
              <a:spcBef>
                <a:spcPts val="200"/>
              </a:spcBef>
              <a:spcAft>
                <a:spcPts val="100"/>
              </a:spcAft>
            </a:pPr>
            <a:r>
              <a:rPr sz="1680" b="0" i="0">
                <a:solidFill>
                  <a:srgbClr val="2C3A4B"/>
                </a:solidFill>
                <a:latin typeface="Segoe UI"/>
                <a:ea typeface="맑은 고딕"/>
                <a:cs typeface="맑은 고딕"/>
              </a:rPr>
              <a:t>–  트랜스포머의 **어텐션**(Attention)은 모델이 입력 데이터(예: 문장)의 각 부분이 다른 부분과 얼마나 관련이 있는지를 학습하는 방식입니다. 처음 배우는 사람에게 쉽게 설명하기 위해 **"책 읽기" 비유**를 사용해볼게요.  ---  ### 📚 **비유: 책 읽기와 어텐션** 상상해보세요. 당신이 한 권의 책을 읽고 있고, 현재 페이지에 있는 문장에서 어떤 단어가 중요한지 판단해야 합니다. 예를 들어, 문장이   **"고양이가 밥을 먹고, 그 후에 잔다."** 라고 해보죠.   - "고양이"는 "잔다"와 직접 연결되어 있고,   - "밥"은 "먹고"와 관련이 있습니다.    이때 어텐션은 **모델이 각 단어가 다른 단어와 얼마나 관련이 있는지를 계산**하는 과정입니다. 마치 당신이 읽을 때, 중요한 단어에 주의를 기울이고, 덜 중요한 단어는 덜 집중하는 것처럼요. 트랜스포머는 모든 단어가 서로를 "보며" 어떤 단어가 중요한지 학습합니다.  ---  ### 🚀 **왜 순환신경망(RNN)보다 병렬화에 유리한가요?** RNN은 **한 번에 하나의 단어만 처리**합니다. 예를 들어, "고양이가 밥을 먹고 잔다"를 처리할 때, RNN은   1. "고양이" → 2. "가" → 3. "밥" → 4. "을" → 5. "먹고" → 6. "잔다"   순서대로 처리해야 하죠. 이는 **시간이 오래 걸리고, 병렬 처리가 어려움**입니다.  반면, 트랜스포머의 어텐션은 **모든 단어를 동시에 처리**할 수 있습니다.   - "고양이"는 "잔다"를, "밥"은 "먹고"를 동시에 "보며" 관련성을 계산합니다.   - 마치 책을 읽을 때, 한 페이지 전체를 한 번에 읽고 중요한 부분을 골라내는 것처럼요.    이렇게 **병렬 처리가 가능**하기 때문에, 트랜스포머는 RNN보다 훨씬 빠르고, 긴 문장의 의미를 더 잘 이해할 수 있습니다.  ---  ### 🧠 요약 - **어텐</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46304" cy="6858000"/>
          </a:xfrm>
          <a:prstGeom prst="rect">
            <a:avLst/>
          </a:prstGeom>
          <a:solidFill>
            <a:srgbClr val="0B5FC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3" name="TextBox 2"/>
          <p:cNvSpPr txBox="1"/>
          <p:nvPr/>
        </p:nvSpPr>
        <p:spPr>
          <a:xfrm>
            <a:off x="566928" y="384048"/>
            <a:ext cx="11057839" cy="713232"/>
          </a:xfrm>
          <a:prstGeom prst="rect">
            <a:avLst/>
          </a:prstGeom>
          <a:noFill/>
        </p:spPr>
        <p:txBody>
          <a:bodyPr wrap="square" anchor="t" lIns="0" rIns="0" tIns="0" bIns="0">
            <a:spAutoFit/>
          </a:bodyPr>
          <a:lstStyle/>
          <a:p>
            <a:pPr algn="l">
              <a:lnSpc>
                <a:spcPct val="118000"/>
              </a:lnSpc>
              <a:spcBef>
                <a:spcPts val="0"/>
              </a:spcBef>
              <a:spcAft>
                <a:spcPts val="0"/>
              </a:spcAft>
            </a:pPr>
            <a:r>
              <a:rPr sz="3000" b="1" i="0">
                <a:solidFill>
                  <a:srgbClr val="16202C"/>
                </a:solidFill>
                <a:latin typeface="Segoe UI"/>
                <a:ea typeface="맑은 고딕"/>
                <a:cs typeface="맑은 고딕"/>
              </a:rPr>
              <a:t>답변 원문: 개념 설명 (4)</a:t>
            </a:r>
          </a:p>
        </p:txBody>
      </p:sp>
      <p:cxnSp>
        <p:nvCxnSpPr>
          <p:cNvPr id="4" name="Connector 3"/>
          <p:cNvCxnSpPr/>
          <p:nvPr/>
        </p:nvCxnSpPr>
        <p:spPr>
          <a:xfrm>
            <a:off x="566928" y="1097280"/>
            <a:ext cx="11057839" cy="0"/>
          </a:xfrm>
          <a:prstGeom prst="line">
            <a:avLst/>
          </a:prstGeom>
          <a:ln w="15875">
            <a:solidFill>
              <a:srgbClr val="D6DEE7"/>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566928" y="6455664"/>
            <a:ext cx="9686239" cy="219456"/>
          </a:xfrm>
          <a:prstGeom prst="rect">
            <a:avLst/>
          </a:prstGeom>
          <a:noFill/>
        </p:spPr>
        <p:txBody>
          <a:bodyPr wrap="square" anchor="t" lIns="0" rIns="0" tIns="0" bIns="0">
            <a:spAutoFit/>
          </a:bodyPr>
          <a:lstStyle/>
          <a:p>
            <a:pPr algn="l">
              <a:lnSpc>
                <a:spcPct val="118000"/>
              </a:lnSpc>
              <a:spcBef>
                <a:spcPts val="0"/>
              </a:spcBef>
              <a:spcAft>
                <a:spcPts val="0"/>
              </a:spcAft>
            </a:pPr>
            <a:r>
              <a:rPr sz="950" b="0" i="0">
                <a:solidFill>
                  <a:srgbClr val="5B6B7B"/>
                </a:solidFill>
                <a:latin typeface="Segoe UI"/>
                <a:ea typeface="맑은 고딕"/>
                <a:cs typeface="맑은 고딕"/>
              </a:rPr>
              <a:t>RNGD 4장 서버, 2026-08-29 실측</a:t>
            </a:r>
          </a:p>
        </p:txBody>
      </p:sp>
      <p:sp>
        <p:nvSpPr>
          <p:cNvPr id="6" name="TextBox 5"/>
          <p:cNvSpPr txBox="1"/>
          <p:nvPr/>
        </p:nvSpPr>
        <p:spPr>
          <a:xfrm>
            <a:off x="10527487" y="6455664"/>
            <a:ext cx="1097280" cy="219456"/>
          </a:xfrm>
          <a:prstGeom prst="rect">
            <a:avLst/>
          </a:prstGeom>
          <a:noFill/>
        </p:spPr>
        <p:txBody>
          <a:bodyPr wrap="square" anchor="t" lIns="0" rIns="0" tIns="0" bIns="0">
            <a:spAutoFit/>
          </a:bodyPr>
          <a:lstStyle/>
          <a:p>
            <a:pPr algn="r">
              <a:lnSpc>
                <a:spcPct val="118000"/>
              </a:lnSpc>
              <a:spcBef>
                <a:spcPts val="0"/>
              </a:spcBef>
              <a:spcAft>
                <a:spcPts val="0"/>
              </a:spcAft>
            </a:pPr>
            <a:r>
              <a:rPr sz="950" b="0" i="0">
                <a:solidFill>
                  <a:srgbClr val="5B6B7B"/>
                </a:solidFill>
                <a:latin typeface="Segoe UI"/>
                <a:ea typeface="맑은 고딕"/>
                <a:cs typeface="맑은 고딕"/>
              </a:rPr>
              <a:t>35</a:t>
            </a:r>
          </a:p>
        </p:txBody>
      </p:sp>
      <p:sp>
        <p:nvSpPr>
          <p:cNvPr id="7" name="TextBox 6"/>
          <p:cNvSpPr txBox="1"/>
          <p:nvPr/>
        </p:nvSpPr>
        <p:spPr>
          <a:xfrm>
            <a:off x="566928" y="1316736"/>
            <a:ext cx="11057839" cy="4956048"/>
          </a:xfrm>
          <a:prstGeom prst="rect">
            <a:avLst/>
          </a:prstGeom>
          <a:noFill/>
        </p:spPr>
        <p:txBody>
          <a:bodyPr wrap="square" anchor="t" lIns="0" rIns="0" tIns="0" bIns="0">
            <a:spAutoFit/>
          </a:bodyPr>
          <a:lstStyle/>
          <a:p>
            <a:pPr algn="l">
              <a:lnSpc>
                <a:spcPct val="118000"/>
              </a:lnSpc>
              <a:spcBef>
                <a:spcPts val="200"/>
              </a:spcBef>
              <a:spcAft>
                <a:spcPts val="200"/>
              </a:spcAft>
            </a:pPr>
            <a:r>
              <a:rPr sz="1900" b="0" i="0">
                <a:solidFill>
                  <a:srgbClr val="16202C"/>
                </a:solidFill>
                <a:latin typeface="Segoe UI"/>
                <a:ea typeface="맑은 고딕"/>
                <a:cs typeface="맑은 고딕"/>
              </a:rPr>
              <a:t>▪  EXAONE 4.0 32B  (385tok)</a:t>
            </a:r>
          </a:p>
          <a:p>
            <a:pPr algn="l">
              <a:lnSpc>
                <a:spcPct val="118000"/>
              </a:lnSpc>
              <a:spcBef>
                <a:spcPts val="200"/>
              </a:spcBef>
              <a:spcAft>
                <a:spcPts val="100"/>
              </a:spcAft>
            </a:pPr>
            <a:r>
              <a:rPr sz="1780" b="0" i="0">
                <a:solidFill>
                  <a:srgbClr val="2C3A4B"/>
                </a:solidFill>
                <a:latin typeface="Segoe UI"/>
                <a:ea typeface="맑은 고딕"/>
                <a:cs typeface="맑은 고딕"/>
              </a:rPr>
              <a:t>–  ### 트랜스포머의 어텐션(Attention)을 비유로 설명해드릴게요!  **비유: 시험 공부를 할 때의 "집중"**   시험 문제를 풀 때, 모든 과목을 동시에 공부하는 대신 **현재 필요한 부분에 집중**하는 것과 비슷합니다.   예를 들어, 수학 시험에서는 공식과 계산에, 역사 시험에서는 연대기와 사건에 각각 다른 비중을 두고 공부하죠.   어텐션은 이처럼 **입력 데이터의 중요한 부분에 "집중"**해 관련 정보를 가중치로 선택하는 메커니즘입니다.  ---  ### 순환신경망(RNN) vs. 트랜스포머: 병렬화 차이   1. **RNN의 한계**:      - RNN은 입력을 **순차적으로 처리**합니다.      - 예) 문장 "I love NLP"를 분석할 때, "I" → "love" → "NLP" 순으로 계산하므로 병렬화가 어렵습니다.      - 긴 문장에서는 계산 시간이 늘어납니다.    2. **트랜스포머의 장점**:      - 어텐션은 모든 단어를 **한 번에 처리**합니다.      - 예) "I", "love", "NLP"를 동시에 분석해 서로의 관계를 계산합니다.      - GPU/TPU로 병렬 처리가 가능해 **빠른 학습**이 가능합니다.    ---  ### 요약   - **어텐션**: 중요한 정보에 집중하는 "스마트 필터".   - **병렬화**: RNN은 순차적이라 느리고, 트랜스포머는 동시 처리로 효율적입니다.    이해가 되셨나요? 😊</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46304" cy="6858000"/>
          </a:xfrm>
          <a:prstGeom prst="rect">
            <a:avLst/>
          </a:prstGeom>
          <a:solidFill>
            <a:srgbClr val="0B5FC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3" name="TextBox 2"/>
          <p:cNvSpPr txBox="1"/>
          <p:nvPr/>
        </p:nvSpPr>
        <p:spPr>
          <a:xfrm>
            <a:off x="566928" y="384048"/>
            <a:ext cx="11057839" cy="713232"/>
          </a:xfrm>
          <a:prstGeom prst="rect">
            <a:avLst/>
          </a:prstGeom>
          <a:noFill/>
        </p:spPr>
        <p:txBody>
          <a:bodyPr wrap="square" anchor="t" lIns="0" rIns="0" tIns="0" bIns="0">
            <a:spAutoFit/>
          </a:bodyPr>
          <a:lstStyle/>
          <a:p>
            <a:pPr algn="l">
              <a:lnSpc>
                <a:spcPct val="118000"/>
              </a:lnSpc>
              <a:spcBef>
                <a:spcPts val="0"/>
              </a:spcBef>
              <a:spcAft>
                <a:spcPts val="0"/>
              </a:spcAft>
            </a:pPr>
            <a:r>
              <a:rPr sz="3000" b="1" i="0">
                <a:solidFill>
                  <a:srgbClr val="16202C"/>
                </a:solidFill>
                <a:latin typeface="Segoe UI"/>
                <a:ea typeface="맑은 고딕"/>
                <a:cs typeface="맑은 고딕"/>
              </a:rPr>
              <a:t>답변 원문: 개념 설명 (5)</a:t>
            </a:r>
          </a:p>
        </p:txBody>
      </p:sp>
      <p:cxnSp>
        <p:nvCxnSpPr>
          <p:cNvPr id="4" name="Connector 3"/>
          <p:cNvCxnSpPr/>
          <p:nvPr/>
        </p:nvCxnSpPr>
        <p:spPr>
          <a:xfrm>
            <a:off x="566928" y="1097280"/>
            <a:ext cx="11057839" cy="0"/>
          </a:xfrm>
          <a:prstGeom prst="line">
            <a:avLst/>
          </a:prstGeom>
          <a:ln w="15875">
            <a:solidFill>
              <a:srgbClr val="D6DEE7"/>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566928" y="6455664"/>
            <a:ext cx="9686239" cy="219456"/>
          </a:xfrm>
          <a:prstGeom prst="rect">
            <a:avLst/>
          </a:prstGeom>
          <a:noFill/>
        </p:spPr>
        <p:txBody>
          <a:bodyPr wrap="square" anchor="t" lIns="0" rIns="0" tIns="0" bIns="0">
            <a:spAutoFit/>
          </a:bodyPr>
          <a:lstStyle/>
          <a:p>
            <a:pPr algn="l">
              <a:lnSpc>
                <a:spcPct val="118000"/>
              </a:lnSpc>
              <a:spcBef>
                <a:spcPts val="0"/>
              </a:spcBef>
              <a:spcAft>
                <a:spcPts val="0"/>
              </a:spcAft>
            </a:pPr>
            <a:r>
              <a:rPr sz="950" b="0" i="0">
                <a:solidFill>
                  <a:srgbClr val="5B6B7B"/>
                </a:solidFill>
                <a:latin typeface="Segoe UI"/>
                <a:ea typeface="맑은 고딕"/>
                <a:cs typeface="맑은 고딕"/>
              </a:rPr>
              <a:t>RNGD 4장 서버, 2026-08-29 실측</a:t>
            </a:r>
          </a:p>
        </p:txBody>
      </p:sp>
      <p:sp>
        <p:nvSpPr>
          <p:cNvPr id="6" name="TextBox 5"/>
          <p:cNvSpPr txBox="1"/>
          <p:nvPr/>
        </p:nvSpPr>
        <p:spPr>
          <a:xfrm>
            <a:off x="10527487" y="6455664"/>
            <a:ext cx="1097280" cy="219456"/>
          </a:xfrm>
          <a:prstGeom prst="rect">
            <a:avLst/>
          </a:prstGeom>
          <a:noFill/>
        </p:spPr>
        <p:txBody>
          <a:bodyPr wrap="square" anchor="t" lIns="0" rIns="0" tIns="0" bIns="0">
            <a:spAutoFit/>
          </a:bodyPr>
          <a:lstStyle/>
          <a:p>
            <a:pPr algn="r">
              <a:lnSpc>
                <a:spcPct val="118000"/>
              </a:lnSpc>
              <a:spcBef>
                <a:spcPts val="0"/>
              </a:spcBef>
              <a:spcAft>
                <a:spcPts val="0"/>
              </a:spcAft>
            </a:pPr>
            <a:r>
              <a:rPr sz="950" b="0" i="0">
                <a:solidFill>
                  <a:srgbClr val="5B6B7B"/>
                </a:solidFill>
                <a:latin typeface="Segoe UI"/>
                <a:ea typeface="맑은 고딕"/>
                <a:cs typeface="맑은 고딕"/>
              </a:rPr>
              <a:t>36</a:t>
            </a:r>
          </a:p>
        </p:txBody>
      </p:sp>
      <p:sp>
        <p:nvSpPr>
          <p:cNvPr id="7" name="TextBox 6"/>
          <p:cNvSpPr txBox="1"/>
          <p:nvPr/>
        </p:nvSpPr>
        <p:spPr>
          <a:xfrm>
            <a:off x="566928" y="1316736"/>
            <a:ext cx="11057839" cy="4956048"/>
          </a:xfrm>
          <a:prstGeom prst="rect">
            <a:avLst/>
          </a:prstGeom>
          <a:noFill/>
        </p:spPr>
        <p:txBody>
          <a:bodyPr wrap="square" anchor="t" lIns="0" rIns="0" tIns="0" bIns="0">
            <a:spAutoFit/>
          </a:bodyPr>
          <a:lstStyle/>
          <a:p>
            <a:pPr algn="l">
              <a:lnSpc>
                <a:spcPct val="118000"/>
              </a:lnSpc>
              <a:spcBef>
                <a:spcPts val="200"/>
              </a:spcBef>
              <a:spcAft>
                <a:spcPts val="200"/>
              </a:spcAft>
            </a:pPr>
            <a:r>
              <a:rPr sz="1300" b="0" i="0">
                <a:solidFill>
                  <a:srgbClr val="16202C"/>
                </a:solidFill>
                <a:latin typeface="Segoe UI"/>
                <a:ea typeface="맑은 고딕"/>
                <a:cs typeface="맑은 고딕"/>
              </a:rPr>
              <a:t>▪  Qwen3-VL 32B  (1014tok)</a:t>
            </a:r>
          </a:p>
          <a:p>
            <a:pPr algn="l">
              <a:lnSpc>
                <a:spcPct val="118000"/>
              </a:lnSpc>
              <a:spcBef>
                <a:spcPts val="200"/>
              </a:spcBef>
              <a:spcAft>
                <a:spcPts val="100"/>
              </a:spcAft>
            </a:pPr>
            <a:r>
              <a:rPr sz="1180" b="0" i="0">
                <a:solidFill>
                  <a:srgbClr val="2C3A4B"/>
                </a:solidFill>
                <a:latin typeface="Segoe UI"/>
                <a:ea typeface="맑은 고딕"/>
                <a:cs typeface="맑은 고딕"/>
              </a:rPr>
              <a:t>–  물론이죠! 트랜스포머의 **어텐션**(Attention)을 처음 배우는 사람에게 설명하기 위해, **비유**를 하나 들어보겠습니다.  ---  ## 🌟 비유: "책을 읽는 친구와 그의 집중력"  상상해보세요. 당신이 친구와 함께 긴 이야기를 읽고 있습니다. 이 이야기는 100페이지짜리 책이에요. 친구는 각 페이지를 읽을 때마다 **"이 페이지가 중요한가?"**, **"이 부분은 다음 페이지와 어떻게 연결되나?"**, **"이 문장은 전체 이야기에 어떤 영향을 주나?"** 라고 생각하며 집중합니다.  이 친구가 하는 일은 바로 **어텐션**입니다.  - **어텐션**은 "어떤 부분에 집중할지"를 결정하는 기계입니다. - 예를 들어, "그녀는 창문을 열고 바깥을 바라보았다"라는 문장에서, "창문"이라는 단어가 중요한지, "바깥"이 중요한지, 아니면 "그녀"가 중요한지를 판단합니다. - 그리고 그 판단을 바탕으로, **다른 단어들과의 관계를 이해**합니다. 예를 들어, "그녀"가 "창문을 열었다"는 행동을 했고, 그 행동이 "바깥을 바라보았다"는 결과를 낳았다는 걸 알 수 있어요.  이렇게 **어떤 단어가 다른 단어와 얼마나 관련이 있는지**를 계산하는 것이 바로 **어텐션 메커니즘**입니다.  ---  ## 🧠 왜 순환신경망(RNN)보다 병렬화에 유리할까?  이제 RNN과 트랜스포머의 차이를 비유로 설명해볼게요.  ### 🌀 RNN: "한 줄씩 읽는 사람"  RNN은 마치 **한 줄씩 책을 읽는 사람** 같아요.   첫 번째 문장을 읽고, 그 기억을 가지고 두 번째 문장을 읽고, 그 기억을 가지고 세 번째 문장을 읽는 식이에요.  - 장점: 순서를 잘 이해할 수 있음 (예: "그녀는 창문을 열고 바깥을 바라보았다" → 순서 중요) - 단점: **병렬화가 안 됨**. 한 줄을 읽어야 다음 줄을 읽을 수 있으니까, 컴퓨터가 여러 줄을 동시에 처리할 수 없어요. → **느리고 비효율적**  ### 🌐 트랜스포머: "모든 페이지를 한 번에 보는 사람"  트랜스포머는 **모든 페이지를 한 번에 보고, 어떤 부분이 중요한지 판단하는 사람** 같아요.  - 어텐션을 통해 **모든 단어가 서로를 보고 관계를 계산**합니다. - 예를 들어, "그녀"와 "창문"이 어떤 관계인지, "바깥"과 "바라보았다"가 어떤 관계인지, **모든 조합을 동시에 계산**합니다. - 그래서 **모든 단어를 동시에 처리**할 수 있어요 → **병렬화 가능**  ---  ## ✅ 요약  | 항목 | RNN | 트랜스포머 | |------|-----|------------| | 처리 방식 | 순차적 (한 단어씩) | 병렬적 (모든 단어 동시) | | 어텐션 사용 여부 | 없음 | 있음 (핵심) | | 속도 | 느림 | 빠름 | | 긴 문장 처리 | 어려움 (기억이 흐려짐) | 쉬움 (모든 단어 관계를 직접 계산) |  ---  ## 💡 마무리  &gt; **어텐션은 "무엇에 집중할지"를 결정하는 지능적인 렌즈**입니다.   &gt; 트랜스포머는 이 렌즈를 통해 **모든 단어를 동시에 보고, 서로의 관계를 이해**합니다.   &gt; 그래서 RNN처럼 하나씩 읽는 게 아니라, **모든 것을 한 번에 처리**할 수 있어 **빠르고 효율적**이죠.  ---  이렇게 비유로 이해하면, 어텐션이 왜 중요한지, 트랜스포머가 왜 혁신적인지 더 잘 느껴지겠죠? 😊</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46304" cy="6858000"/>
          </a:xfrm>
          <a:prstGeom prst="rect">
            <a:avLst/>
          </a:prstGeom>
          <a:solidFill>
            <a:srgbClr val="0B5FC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3" name="TextBox 2"/>
          <p:cNvSpPr txBox="1"/>
          <p:nvPr/>
        </p:nvSpPr>
        <p:spPr>
          <a:xfrm>
            <a:off x="566928" y="384048"/>
            <a:ext cx="11057839" cy="713232"/>
          </a:xfrm>
          <a:prstGeom prst="rect">
            <a:avLst/>
          </a:prstGeom>
          <a:noFill/>
        </p:spPr>
        <p:txBody>
          <a:bodyPr wrap="square" anchor="t" lIns="0" rIns="0" tIns="0" bIns="0">
            <a:spAutoFit/>
          </a:bodyPr>
          <a:lstStyle/>
          <a:p>
            <a:pPr algn="l">
              <a:lnSpc>
                <a:spcPct val="118000"/>
              </a:lnSpc>
              <a:spcBef>
                <a:spcPts val="0"/>
              </a:spcBef>
              <a:spcAft>
                <a:spcPts val="0"/>
              </a:spcAft>
            </a:pPr>
            <a:r>
              <a:rPr sz="3000" b="1" i="0">
                <a:solidFill>
                  <a:srgbClr val="16202C"/>
                </a:solidFill>
                <a:latin typeface="Segoe UI"/>
                <a:ea typeface="맑은 고딕"/>
                <a:cs typeface="맑은 고딕"/>
              </a:rPr>
              <a:t>답변 원문: 개념 설명 (6)</a:t>
            </a:r>
          </a:p>
        </p:txBody>
      </p:sp>
      <p:cxnSp>
        <p:nvCxnSpPr>
          <p:cNvPr id="4" name="Connector 3"/>
          <p:cNvCxnSpPr/>
          <p:nvPr/>
        </p:nvCxnSpPr>
        <p:spPr>
          <a:xfrm>
            <a:off x="566928" y="1097280"/>
            <a:ext cx="11057839" cy="0"/>
          </a:xfrm>
          <a:prstGeom prst="line">
            <a:avLst/>
          </a:prstGeom>
          <a:ln w="15875">
            <a:solidFill>
              <a:srgbClr val="D6DEE7"/>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566928" y="6455664"/>
            <a:ext cx="9686239" cy="219456"/>
          </a:xfrm>
          <a:prstGeom prst="rect">
            <a:avLst/>
          </a:prstGeom>
          <a:noFill/>
        </p:spPr>
        <p:txBody>
          <a:bodyPr wrap="square" anchor="t" lIns="0" rIns="0" tIns="0" bIns="0">
            <a:spAutoFit/>
          </a:bodyPr>
          <a:lstStyle/>
          <a:p>
            <a:pPr algn="l">
              <a:lnSpc>
                <a:spcPct val="118000"/>
              </a:lnSpc>
              <a:spcBef>
                <a:spcPts val="0"/>
              </a:spcBef>
              <a:spcAft>
                <a:spcPts val="0"/>
              </a:spcAft>
            </a:pPr>
            <a:r>
              <a:rPr sz="950" b="0" i="0">
                <a:solidFill>
                  <a:srgbClr val="5B6B7B"/>
                </a:solidFill>
                <a:latin typeface="Segoe UI"/>
                <a:ea typeface="맑은 고딕"/>
                <a:cs typeface="맑은 고딕"/>
              </a:rPr>
              <a:t>RNGD 4장 서버, 2026-08-29 실측</a:t>
            </a:r>
          </a:p>
        </p:txBody>
      </p:sp>
      <p:sp>
        <p:nvSpPr>
          <p:cNvPr id="6" name="TextBox 5"/>
          <p:cNvSpPr txBox="1"/>
          <p:nvPr/>
        </p:nvSpPr>
        <p:spPr>
          <a:xfrm>
            <a:off x="10527487" y="6455664"/>
            <a:ext cx="1097280" cy="219456"/>
          </a:xfrm>
          <a:prstGeom prst="rect">
            <a:avLst/>
          </a:prstGeom>
          <a:noFill/>
        </p:spPr>
        <p:txBody>
          <a:bodyPr wrap="square" anchor="t" lIns="0" rIns="0" tIns="0" bIns="0">
            <a:spAutoFit/>
          </a:bodyPr>
          <a:lstStyle/>
          <a:p>
            <a:pPr algn="r">
              <a:lnSpc>
                <a:spcPct val="118000"/>
              </a:lnSpc>
              <a:spcBef>
                <a:spcPts val="0"/>
              </a:spcBef>
              <a:spcAft>
                <a:spcPts val="0"/>
              </a:spcAft>
            </a:pPr>
            <a:r>
              <a:rPr sz="950" b="0" i="0">
                <a:solidFill>
                  <a:srgbClr val="5B6B7B"/>
                </a:solidFill>
                <a:latin typeface="Segoe UI"/>
                <a:ea typeface="맑은 고딕"/>
                <a:cs typeface="맑은 고딕"/>
              </a:rPr>
              <a:t>37</a:t>
            </a:r>
          </a:p>
        </p:txBody>
      </p:sp>
      <p:sp>
        <p:nvSpPr>
          <p:cNvPr id="7" name="TextBox 6"/>
          <p:cNvSpPr txBox="1"/>
          <p:nvPr/>
        </p:nvSpPr>
        <p:spPr>
          <a:xfrm>
            <a:off x="566928" y="1316736"/>
            <a:ext cx="11057839" cy="4956048"/>
          </a:xfrm>
          <a:prstGeom prst="rect">
            <a:avLst/>
          </a:prstGeom>
          <a:noFill/>
        </p:spPr>
        <p:txBody>
          <a:bodyPr wrap="square" anchor="t" lIns="0" rIns="0" tIns="0" bIns="0">
            <a:spAutoFit/>
          </a:bodyPr>
          <a:lstStyle/>
          <a:p>
            <a:pPr algn="l">
              <a:lnSpc>
                <a:spcPct val="118000"/>
              </a:lnSpc>
              <a:spcBef>
                <a:spcPts val="200"/>
              </a:spcBef>
              <a:spcAft>
                <a:spcPts val="200"/>
              </a:spcAft>
            </a:pPr>
            <a:r>
              <a:rPr sz="1500" b="0" i="0">
                <a:solidFill>
                  <a:srgbClr val="16202C"/>
                </a:solidFill>
                <a:latin typeface="Segoe UI"/>
                <a:ea typeface="맑은 고딕"/>
                <a:cs typeface="맑은 고딕"/>
              </a:rPr>
              <a:t>▪  Qwen3-Coder 30B  (800tok)</a:t>
            </a:r>
          </a:p>
          <a:p>
            <a:pPr algn="l">
              <a:lnSpc>
                <a:spcPct val="118000"/>
              </a:lnSpc>
              <a:spcBef>
                <a:spcPts val="200"/>
              </a:spcBef>
              <a:spcAft>
                <a:spcPts val="100"/>
              </a:spcAft>
            </a:pPr>
            <a:r>
              <a:rPr sz="1380" b="0" i="0">
                <a:solidFill>
                  <a:srgbClr val="2C3A4B"/>
                </a:solidFill>
                <a:latin typeface="Segoe UI"/>
                <a:ea typeface="맑은 고딕"/>
                <a:cs typeface="맑은 고딕"/>
              </a:rPr>
              <a:t>–  물론입니다! 트랜스포머의 **어텐션**(Attention)을 처음 배우는 사람에게 설명해보겠습니다.  ---  ## 🧠 1. 어텐션이란 무엇인가요?  **어텐션**(Attention)은 **"중심을 두고 집중하기"** 라는 뜻입니다.  예를 들어, **한 문장을 읽을 때**, 우리가 어떤 단어에 더 많은 주의를 기울이는 것처럼,   **트랜스포머 모델도 문장이나 시퀀스에서 중요한 부분에 더 많은 "집중"을 하도록 설계되어 있습니다.**  ### 🔍 비유로 설명하자면:  &gt; **어텐션은 마치 '다양한 정보들 중에서 가장 중요한 것만 골라서 보여주는' 기능입니다.**  예를 들어,   &gt; "나는 학교에 가야 해요."라는 문장을 보면,   &gt; "학교"라는 단어가 중요하다고 느낄 수 있죠?   &gt; 이때 어텐션은 "학교"라는 단어가 다른 단어들(나는, 가야 해요 등)보다 더 중요하다고 판단하고, &gt; 그 정보를 강조해서 사용합니다.  ---  ## 🧠 2. 왜 순환신경망(RNN)보다 병렬화에 유리할까요?  이제 왜 트랜스포머의 어텐션이 RNN보다 **병렬화**(Parallelization)에 유리한지 알아봅시다.  ### 🔁 RNN(순환신경망): 순차적 처리  RNN은 입력 데이터가 하나씩 차례대로 처리됩니다. - 예: "나는 학교에 가야 해요." - 첫 번째 단어: '나' → 다음 단어: '는' - 이전 출력이 다음 입력으로 연결됨 → 계산이 순차적으로 진행됨  👉 그래서 RNN은 **하나씩 처리해야 하기 때문에**, 병렬로 계산하기 어렵습니다.  ### ✅ 트랜스포머 + 어テン션: 모든 요소 동시에 비교  트랜스포머에서는 모든 단어들이 동시에 비교됩니다. - 예: “나는 학교에 가야 해요.”에서 각각의 단어들이 서로 다른 위치와 관계를 확인하면서, - 전체 문장에서 어떤 부분이 중요한지를 동시에 판단합니다.    👉 그래서 각각의 연산들이 독립적으로 이루어질 수 있어, **병렬로 처리할 수 있어서 속도 향상이 가능합니다!**  ---  ## 📌 요약 정리  | 항목 | RNN | 트랜스포머 + 어テン션 | |------|-----|------------------------| | 데이터 처리 방식 | 순차적 (하나씩) | 동시 다발적 (모두 한 번에) | | 병렬화 가능성 | 낮음 | 높음 | | 집중력 표현 방식 | 시간 흐름 따라 변화 | 각 요소 간 관계로 결정 | | 장점 (속도/성능) | 간단하지만 느림 | 빠르고 강력함 |  ---  ## 💡 결론  트랜스포머의 어텐션은 마치 ‘사람처럼 주변 정보 중에서 중요한 것만 골라서 생각하는’ 능력을 갖춘 것입니다. 그리고 이 방법 덕분에 여러 작업들을 동시에 할 수 있어 컴퓨터 성능도 향상되고, 자연언語 이해 능력도 매우 좋아집니다!  필요하시면 그림이나 예시 코드도 추가로 드릴게요 😊</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46304" cy="6858000"/>
          </a:xfrm>
          <a:prstGeom prst="rect">
            <a:avLst/>
          </a:prstGeom>
          <a:solidFill>
            <a:srgbClr val="0B5FC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3" name="TextBox 2"/>
          <p:cNvSpPr txBox="1"/>
          <p:nvPr/>
        </p:nvSpPr>
        <p:spPr>
          <a:xfrm>
            <a:off x="566928" y="384048"/>
            <a:ext cx="11057839" cy="713232"/>
          </a:xfrm>
          <a:prstGeom prst="rect">
            <a:avLst/>
          </a:prstGeom>
          <a:noFill/>
        </p:spPr>
        <p:txBody>
          <a:bodyPr wrap="square" anchor="t" lIns="0" rIns="0" tIns="0" bIns="0">
            <a:spAutoFit/>
          </a:bodyPr>
          <a:lstStyle/>
          <a:p>
            <a:pPr algn="l">
              <a:lnSpc>
                <a:spcPct val="118000"/>
              </a:lnSpc>
              <a:spcBef>
                <a:spcPts val="0"/>
              </a:spcBef>
              <a:spcAft>
                <a:spcPts val="0"/>
              </a:spcAft>
            </a:pPr>
            <a:r>
              <a:rPr sz="3000" b="1" i="0">
                <a:solidFill>
                  <a:srgbClr val="16202C"/>
                </a:solidFill>
                <a:latin typeface="Segoe UI"/>
                <a:ea typeface="맑은 고딕"/>
                <a:cs typeface="맑은 고딕"/>
              </a:rPr>
              <a:t>답변 원문: 개념 설명 (7)</a:t>
            </a:r>
          </a:p>
        </p:txBody>
      </p:sp>
      <p:cxnSp>
        <p:nvCxnSpPr>
          <p:cNvPr id="4" name="Connector 3"/>
          <p:cNvCxnSpPr/>
          <p:nvPr/>
        </p:nvCxnSpPr>
        <p:spPr>
          <a:xfrm>
            <a:off x="566928" y="1097280"/>
            <a:ext cx="11057839" cy="0"/>
          </a:xfrm>
          <a:prstGeom prst="line">
            <a:avLst/>
          </a:prstGeom>
          <a:ln w="15875">
            <a:solidFill>
              <a:srgbClr val="D6DEE7"/>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566928" y="6455664"/>
            <a:ext cx="9686239" cy="219456"/>
          </a:xfrm>
          <a:prstGeom prst="rect">
            <a:avLst/>
          </a:prstGeom>
          <a:noFill/>
        </p:spPr>
        <p:txBody>
          <a:bodyPr wrap="square" anchor="t" lIns="0" rIns="0" tIns="0" bIns="0">
            <a:spAutoFit/>
          </a:bodyPr>
          <a:lstStyle/>
          <a:p>
            <a:pPr algn="l">
              <a:lnSpc>
                <a:spcPct val="118000"/>
              </a:lnSpc>
              <a:spcBef>
                <a:spcPts val="0"/>
              </a:spcBef>
              <a:spcAft>
                <a:spcPts val="0"/>
              </a:spcAft>
            </a:pPr>
            <a:r>
              <a:rPr sz="950" b="0" i="0">
                <a:solidFill>
                  <a:srgbClr val="5B6B7B"/>
                </a:solidFill>
                <a:latin typeface="Segoe UI"/>
                <a:ea typeface="맑은 고딕"/>
                <a:cs typeface="맑은 고딕"/>
              </a:rPr>
              <a:t>RNGD 4장 서버, 2026-08-29 실측</a:t>
            </a:r>
          </a:p>
        </p:txBody>
      </p:sp>
      <p:sp>
        <p:nvSpPr>
          <p:cNvPr id="6" name="TextBox 5"/>
          <p:cNvSpPr txBox="1"/>
          <p:nvPr/>
        </p:nvSpPr>
        <p:spPr>
          <a:xfrm>
            <a:off x="10527487" y="6455664"/>
            <a:ext cx="1097280" cy="219456"/>
          </a:xfrm>
          <a:prstGeom prst="rect">
            <a:avLst/>
          </a:prstGeom>
          <a:noFill/>
        </p:spPr>
        <p:txBody>
          <a:bodyPr wrap="square" anchor="t" lIns="0" rIns="0" tIns="0" bIns="0">
            <a:spAutoFit/>
          </a:bodyPr>
          <a:lstStyle/>
          <a:p>
            <a:pPr algn="r">
              <a:lnSpc>
                <a:spcPct val="118000"/>
              </a:lnSpc>
              <a:spcBef>
                <a:spcPts val="0"/>
              </a:spcBef>
              <a:spcAft>
                <a:spcPts val="0"/>
              </a:spcAft>
            </a:pPr>
            <a:r>
              <a:rPr sz="950" b="0" i="0">
                <a:solidFill>
                  <a:srgbClr val="5B6B7B"/>
                </a:solidFill>
                <a:latin typeface="Segoe UI"/>
                <a:ea typeface="맑은 고딕"/>
                <a:cs typeface="맑은 고딕"/>
              </a:rPr>
              <a:t>38</a:t>
            </a:r>
          </a:p>
        </p:txBody>
      </p:sp>
      <p:sp>
        <p:nvSpPr>
          <p:cNvPr id="7" name="TextBox 6"/>
          <p:cNvSpPr txBox="1"/>
          <p:nvPr/>
        </p:nvSpPr>
        <p:spPr>
          <a:xfrm>
            <a:off x="566928" y="1316736"/>
            <a:ext cx="11057839" cy="4956048"/>
          </a:xfrm>
          <a:prstGeom prst="rect">
            <a:avLst/>
          </a:prstGeom>
          <a:noFill/>
        </p:spPr>
        <p:txBody>
          <a:bodyPr wrap="square" anchor="t" lIns="0" rIns="0" tIns="0" bIns="0">
            <a:spAutoFit/>
          </a:bodyPr>
          <a:lstStyle/>
          <a:p>
            <a:pPr algn="l">
              <a:lnSpc>
                <a:spcPct val="118000"/>
              </a:lnSpc>
              <a:spcBef>
                <a:spcPts val="200"/>
              </a:spcBef>
              <a:spcAft>
                <a:spcPts val="200"/>
              </a:spcAft>
            </a:pPr>
            <a:r>
              <a:rPr sz="1300" b="0" i="0">
                <a:solidFill>
                  <a:srgbClr val="16202C"/>
                </a:solidFill>
                <a:latin typeface="Segoe UI"/>
                <a:ea typeface="맑은 고딕"/>
                <a:cs typeface="맑은 고딕"/>
              </a:rPr>
              <a:t>▪  A3B Instruct 2507  (1024tok)</a:t>
            </a:r>
          </a:p>
          <a:p>
            <a:pPr algn="l">
              <a:lnSpc>
                <a:spcPct val="118000"/>
              </a:lnSpc>
              <a:spcBef>
                <a:spcPts val="200"/>
              </a:spcBef>
              <a:spcAft>
                <a:spcPts val="100"/>
              </a:spcAft>
            </a:pPr>
            <a:r>
              <a:rPr sz="1180" b="0" i="0">
                <a:solidFill>
                  <a:srgbClr val="2C3A4B"/>
                </a:solidFill>
                <a:latin typeface="Segoe UI"/>
                <a:ea typeface="맑은 고딕"/>
                <a:cs typeface="맑은 고딕"/>
              </a:rPr>
              <a:t>–  물론이죠! 트랜스포머의 **어텐션**(Attention)을 처음 배우는 사람에게 쉽게 설명해볼게요. 비유도 하나 들고, 왜 순환신경망(RNN)보다 **병렬화에 더 유리한지도** 설명할게요.  ---  ### 🌟 비유로 이해하기: "책을 읽는 학생과 선생님"  상상해봐요.   당신은 책을 읽는 학생이고, 선생님은 당신이 이해할 수 있도록 **중요한 문장에만 집중**해 설명해 주는 사람입니다.  - 책의 문장은 하나씩 차례로 읽어야 하는데, **어떤 문장이 지금 이해에 가장 도움이 되는지** 선생님이 판단해 줍니다. - 예를 들어, "그는 어제 도서관에서 책을 읽었다"라는 문장이 나왔을 때,     "그는"이라는 대명사가 무엇을 가리키는지 알기 위해,     **"어제 도서관에서 책을 읽었다"** 라는 문장이 가장 중요한 정보일 수 있죠.  👉 이때 선생님이 **"어떤 문장이 지금 중요한지"** 를 판단하고, 그 문장에 **더 많은 주의를 기울이는 것**이 바로 **어텐션**(Attention)입니다.  ---  ### 🔍 어텐션의 핵심은? - **입력 문장의 각 단어(또는 토큰)가 서로 얼마나 관련이 있는지**를 계산해,     각 단어가 현재 단어를 이해하는 데 **어느 정도 기여하는지**를 수치로 표현하는 것. - 이 수치를 **가중치**(weight)라고 부르고, 그 가중치를 바탕으로 정보를 조합해 새로운 표현을 만듭니다.  &gt; 예: "그는 어제 도서관에서 책을 읽었다"   &gt; → "그는"이 "도서관에서 책을 읽었다"는 문장과 높은 어텐션을 가짐 → "그는"이 도서관에서 책을 읽었다는 걸 알 수 있음.  ---  ### 🔄 순환신경망(RNN) vs 트랜스포머: 병렬화의 차이  #### 🔹 RNN의 문제점 (순차적 처리) - RNN은 문장을 **한 글자씩, 한 단어씩 차례로 처리**합니다. - 예: "나는 책을 읽는다" → "나", "는", "책", "을", "읽는다" → 순서대로 하나씩 처리. - **이전 단어의 결과가 다음 단어를 계산하는 데 필요**하므로,     **모든 단어가 순서대로 기다려야** 합니다.  👉 그래서 **병렬 처리가 불가능**해요.   → CPU/GPU가 한 번에 여러 단어를 처리할 수 없음 → 느림.  #### 🔹 트랜스포머의 장점 (전체 문장 동시 처리) - 트랜스포머는 **모든 단어를 동시에** 처리합니다. - 어텐션 메커니즘을 통해, **모든 단어가 서로의 정보를 볼 수 있음**. - 예: "그는 어제 도서관에서 책을 읽었다"     → "그는", "어제", "도서관", "책", "읽었다"가 **한 번에 모두 고려됨**.  👉 그래서 **모든 단어를 동시에 계산할 수 있음** → **병렬 처리 가능**!  ---  ### ✅ 요약  | 항목 | RNN | 트랜스포머 | |------|-----|------------| | 처리 방식 | 순차적 (한 단어씩) | 병렬적 (모든 단어 동시에) | | 어텐션 사용 | 없음 (또는 제한적) | 핵심 기능 | | 병렬화 가능성 | 낮음 (느림) | 높음 (빠름) | | 비유 | 선생님이 하나씩 설명해 줌 | 선생님이 전체 책을 보고 핵심만 알려줌 |  ---  ### 🎯 결론  &gt; **어텐션은 "어떤 정보가 지금 가장 중요한지"를 판단하는 능력**이에요.   &gt; 트랜스포머는 이 어텐션을 통해 **모든 단어를 동시에 고려**하면서도,</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46304" cy="6858000"/>
          </a:xfrm>
          <a:prstGeom prst="rect">
            <a:avLst/>
          </a:prstGeom>
          <a:solidFill>
            <a:srgbClr val="0B5FC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3" name="TextBox 2"/>
          <p:cNvSpPr txBox="1"/>
          <p:nvPr/>
        </p:nvSpPr>
        <p:spPr>
          <a:xfrm>
            <a:off x="566928" y="384048"/>
            <a:ext cx="11057839" cy="713232"/>
          </a:xfrm>
          <a:prstGeom prst="rect">
            <a:avLst/>
          </a:prstGeom>
          <a:noFill/>
        </p:spPr>
        <p:txBody>
          <a:bodyPr wrap="square" anchor="t" lIns="0" rIns="0" tIns="0" bIns="0">
            <a:spAutoFit/>
          </a:bodyPr>
          <a:lstStyle/>
          <a:p>
            <a:pPr algn="l">
              <a:lnSpc>
                <a:spcPct val="118000"/>
              </a:lnSpc>
              <a:spcBef>
                <a:spcPts val="0"/>
              </a:spcBef>
              <a:spcAft>
                <a:spcPts val="0"/>
              </a:spcAft>
            </a:pPr>
            <a:r>
              <a:rPr sz="3000" b="1" i="0">
                <a:solidFill>
                  <a:srgbClr val="16202C"/>
                </a:solidFill>
                <a:latin typeface="Segoe UI"/>
                <a:ea typeface="맑은 고딕"/>
                <a:cs typeface="맑은 고딕"/>
              </a:rPr>
              <a:t>답변 원문: 개념 설명 (8)</a:t>
            </a:r>
          </a:p>
        </p:txBody>
      </p:sp>
      <p:cxnSp>
        <p:nvCxnSpPr>
          <p:cNvPr id="4" name="Connector 3"/>
          <p:cNvCxnSpPr/>
          <p:nvPr/>
        </p:nvCxnSpPr>
        <p:spPr>
          <a:xfrm>
            <a:off x="566928" y="1097280"/>
            <a:ext cx="11057839" cy="0"/>
          </a:xfrm>
          <a:prstGeom prst="line">
            <a:avLst/>
          </a:prstGeom>
          <a:ln w="15875">
            <a:solidFill>
              <a:srgbClr val="D6DEE7"/>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566928" y="6455664"/>
            <a:ext cx="9686239" cy="219456"/>
          </a:xfrm>
          <a:prstGeom prst="rect">
            <a:avLst/>
          </a:prstGeom>
          <a:noFill/>
        </p:spPr>
        <p:txBody>
          <a:bodyPr wrap="square" anchor="t" lIns="0" rIns="0" tIns="0" bIns="0">
            <a:spAutoFit/>
          </a:bodyPr>
          <a:lstStyle/>
          <a:p>
            <a:pPr algn="l">
              <a:lnSpc>
                <a:spcPct val="118000"/>
              </a:lnSpc>
              <a:spcBef>
                <a:spcPts val="0"/>
              </a:spcBef>
              <a:spcAft>
                <a:spcPts val="0"/>
              </a:spcAft>
            </a:pPr>
            <a:r>
              <a:rPr sz="950" b="0" i="0">
                <a:solidFill>
                  <a:srgbClr val="5B6B7B"/>
                </a:solidFill>
                <a:latin typeface="Segoe UI"/>
                <a:ea typeface="맑은 고딕"/>
                <a:cs typeface="맑은 고딕"/>
              </a:rPr>
              <a:t>RNGD 4장 서버, 2026-08-29 실측</a:t>
            </a:r>
          </a:p>
        </p:txBody>
      </p:sp>
      <p:sp>
        <p:nvSpPr>
          <p:cNvPr id="6" name="TextBox 5"/>
          <p:cNvSpPr txBox="1"/>
          <p:nvPr/>
        </p:nvSpPr>
        <p:spPr>
          <a:xfrm>
            <a:off x="10527487" y="6455664"/>
            <a:ext cx="1097280" cy="219456"/>
          </a:xfrm>
          <a:prstGeom prst="rect">
            <a:avLst/>
          </a:prstGeom>
          <a:noFill/>
        </p:spPr>
        <p:txBody>
          <a:bodyPr wrap="square" anchor="t" lIns="0" rIns="0" tIns="0" bIns="0">
            <a:spAutoFit/>
          </a:bodyPr>
          <a:lstStyle/>
          <a:p>
            <a:pPr algn="r">
              <a:lnSpc>
                <a:spcPct val="118000"/>
              </a:lnSpc>
              <a:spcBef>
                <a:spcPts val="0"/>
              </a:spcBef>
              <a:spcAft>
                <a:spcPts val="0"/>
              </a:spcAft>
            </a:pPr>
            <a:r>
              <a:rPr sz="950" b="0" i="0">
                <a:solidFill>
                  <a:srgbClr val="5B6B7B"/>
                </a:solidFill>
                <a:latin typeface="Segoe UI"/>
                <a:ea typeface="맑은 고딕"/>
                <a:cs typeface="맑은 고딕"/>
              </a:rPr>
              <a:t>39</a:t>
            </a:r>
          </a:p>
        </p:txBody>
      </p:sp>
      <p:sp>
        <p:nvSpPr>
          <p:cNvPr id="7" name="TextBox 6"/>
          <p:cNvSpPr txBox="1"/>
          <p:nvPr/>
        </p:nvSpPr>
        <p:spPr>
          <a:xfrm>
            <a:off x="566928" y="1316736"/>
            <a:ext cx="11057839" cy="4956048"/>
          </a:xfrm>
          <a:prstGeom prst="rect">
            <a:avLst/>
          </a:prstGeom>
          <a:noFill/>
        </p:spPr>
        <p:txBody>
          <a:bodyPr wrap="square" anchor="t" lIns="0" rIns="0" tIns="0" bIns="0">
            <a:spAutoFit/>
          </a:bodyPr>
          <a:lstStyle/>
          <a:p>
            <a:pPr algn="l">
              <a:lnSpc>
                <a:spcPct val="118000"/>
              </a:lnSpc>
              <a:spcBef>
                <a:spcPts val="200"/>
              </a:spcBef>
              <a:spcAft>
                <a:spcPts val="200"/>
              </a:spcAft>
            </a:pPr>
            <a:r>
              <a:rPr sz="1900" b="0" i="0">
                <a:solidFill>
                  <a:srgbClr val="16202C"/>
                </a:solidFill>
                <a:latin typeface="Segoe UI"/>
                <a:ea typeface="맑은 고딕"/>
                <a:cs typeface="맑은 고딕"/>
              </a:rPr>
              <a:t>▪  A3B Thinking 2507  (1024tok)</a:t>
            </a:r>
          </a:p>
          <a:p>
            <a:pPr algn="l">
              <a:lnSpc>
                <a:spcPct val="118000"/>
              </a:lnSpc>
              <a:spcBef>
                <a:spcPts val="200"/>
              </a:spcBef>
              <a:spcAft>
                <a:spcPts val="100"/>
              </a:spcAft>
            </a:pPr>
            <a:r>
              <a:rPr sz="1780" b="0" i="0">
                <a:solidFill>
                  <a:srgbClr val="2C3A4B"/>
                </a:solidFill>
                <a:latin typeface="Segoe UI"/>
                <a:ea typeface="맑은 고딕"/>
                <a:cs typeface="맑은 고딕"/>
              </a:rPr>
              <a:t>–  (답변 없음 — 사고만 하고 예산이 끝났다)</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46304" cy="6858000"/>
          </a:xfrm>
          <a:prstGeom prst="rect">
            <a:avLst/>
          </a:prstGeom>
          <a:solidFill>
            <a:srgbClr val="0B5FC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3" name="TextBox 2"/>
          <p:cNvSpPr txBox="1"/>
          <p:nvPr/>
        </p:nvSpPr>
        <p:spPr>
          <a:xfrm>
            <a:off x="566928" y="384048"/>
            <a:ext cx="11057839" cy="713232"/>
          </a:xfrm>
          <a:prstGeom prst="rect">
            <a:avLst/>
          </a:prstGeom>
          <a:noFill/>
        </p:spPr>
        <p:txBody>
          <a:bodyPr wrap="square" anchor="t" lIns="0" rIns="0" tIns="0" bIns="0">
            <a:spAutoFit/>
          </a:bodyPr>
          <a:lstStyle/>
          <a:p>
            <a:pPr algn="l">
              <a:lnSpc>
                <a:spcPct val="118000"/>
              </a:lnSpc>
              <a:spcBef>
                <a:spcPts val="0"/>
              </a:spcBef>
              <a:spcAft>
                <a:spcPts val="0"/>
              </a:spcAft>
            </a:pPr>
            <a:r>
              <a:rPr sz="3000" b="1" i="0">
                <a:solidFill>
                  <a:srgbClr val="16202C"/>
                </a:solidFill>
                <a:latin typeface="Segoe UI"/>
                <a:ea typeface="맑은 고딕"/>
                <a:cs typeface="맑은 고딕"/>
              </a:rPr>
              <a:t>답변 원문: 개념 설명 (9)</a:t>
            </a:r>
          </a:p>
        </p:txBody>
      </p:sp>
      <p:cxnSp>
        <p:nvCxnSpPr>
          <p:cNvPr id="4" name="Connector 3"/>
          <p:cNvCxnSpPr/>
          <p:nvPr/>
        </p:nvCxnSpPr>
        <p:spPr>
          <a:xfrm>
            <a:off x="566928" y="1097280"/>
            <a:ext cx="11057839" cy="0"/>
          </a:xfrm>
          <a:prstGeom prst="line">
            <a:avLst/>
          </a:prstGeom>
          <a:ln w="15875">
            <a:solidFill>
              <a:srgbClr val="D6DEE7"/>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566928" y="6455664"/>
            <a:ext cx="9686239" cy="219456"/>
          </a:xfrm>
          <a:prstGeom prst="rect">
            <a:avLst/>
          </a:prstGeom>
          <a:noFill/>
        </p:spPr>
        <p:txBody>
          <a:bodyPr wrap="square" anchor="t" lIns="0" rIns="0" tIns="0" bIns="0">
            <a:spAutoFit/>
          </a:bodyPr>
          <a:lstStyle/>
          <a:p>
            <a:pPr algn="l">
              <a:lnSpc>
                <a:spcPct val="118000"/>
              </a:lnSpc>
              <a:spcBef>
                <a:spcPts val="0"/>
              </a:spcBef>
              <a:spcAft>
                <a:spcPts val="0"/>
              </a:spcAft>
            </a:pPr>
            <a:r>
              <a:rPr sz="950" b="0" i="0">
                <a:solidFill>
                  <a:srgbClr val="5B6B7B"/>
                </a:solidFill>
                <a:latin typeface="Segoe UI"/>
                <a:ea typeface="맑은 고딕"/>
                <a:cs typeface="맑은 고딕"/>
              </a:rPr>
              <a:t>RNGD 4장 서버, 2026-08-29 실측</a:t>
            </a:r>
          </a:p>
        </p:txBody>
      </p:sp>
      <p:sp>
        <p:nvSpPr>
          <p:cNvPr id="6" name="TextBox 5"/>
          <p:cNvSpPr txBox="1"/>
          <p:nvPr/>
        </p:nvSpPr>
        <p:spPr>
          <a:xfrm>
            <a:off x="10527487" y="6455664"/>
            <a:ext cx="1097280" cy="219456"/>
          </a:xfrm>
          <a:prstGeom prst="rect">
            <a:avLst/>
          </a:prstGeom>
          <a:noFill/>
        </p:spPr>
        <p:txBody>
          <a:bodyPr wrap="square" anchor="t" lIns="0" rIns="0" tIns="0" bIns="0">
            <a:spAutoFit/>
          </a:bodyPr>
          <a:lstStyle/>
          <a:p>
            <a:pPr algn="r">
              <a:lnSpc>
                <a:spcPct val="118000"/>
              </a:lnSpc>
              <a:spcBef>
                <a:spcPts val="0"/>
              </a:spcBef>
              <a:spcAft>
                <a:spcPts val="0"/>
              </a:spcAft>
            </a:pPr>
            <a:r>
              <a:rPr sz="950" b="0" i="0">
                <a:solidFill>
                  <a:srgbClr val="5B6B7B"/>
                </a:solidFill>
                <a:latin typeface="Segoe UI"/>
                <a:ea typeface="맑은 고딕"/>
                <a:cs typeface="맑은 고딕"/>
              </a:rPr>
              <a:t>40</a:t>
            </a:r>
          </a:p>
        </p:txBody>
      </p:sp>
      <p:sp>
        <p:nvSpPr>
          <p:cNvPr id="7" name="TextBox 6"/>
          <p:cNvSpPr txBox="1"/>
          <p:nvPr/>
        </p:nvSpPr>
        <p:spPr>
          <a:xfrm>
            <a:off x="566928" y="1316736"/>
            <a:ext cx="11057839" cy="4956048"/>
          </a:xfrm>
          <a:prstGeom prst="rect">
            <a:avLst/>
          </a:prstGeom>
          <a:noFill/>
        </p:spPr>
        <p:txBody>
          <a:bodyPr wrap="square" anchor="t" lIns="0" rIns="0" tIns="0" bIns="0">
            <a:spAutoFit/>
          </a:bodyPr>
          <a:lstStyle/>
          <a:p>
            <a:pPr algn="l">
              <a:lnSpc>
                <a:spcPct val="118000"/>
              </a:lnSpc>
              <a:spcBef>
                <a:spcPts val="200"/>
              </a:spcBef>
              <a:spcAft>
                <a:spcPts val="200"/>
              </a:spcAft>
            </a:pPr>
            <a:r>
              <a:rPr sz="1600" b="0" i="0">
                <a:solidFill>
                  <a:srgbClr val="16202C"/>
                </a:solidFill>
                <a:latin typeface="Segoe UI"/>
                <a:ea typeface="맑은 고딕"/>
                <a:cs typeface="맑은 고딕"/>
              </a:rPr>
              <a:t>▪  Llama 3.1 8B  (579tok)</a:t>
            </a:r>
          </a:p>
          <a:p>
            <a:pPr algn="l">
              <a:lnSpc>
                <a:spcPct val="118000"/>
              </a:lnSpc>
              <a:spcBef>
                <a:spcPts val="200"/>
              </a:spcBef>
              <a:spcAft>
                <a:spcPts val="100"/>
              </a:spcAft>
            </a:pPr>
            <a:r>
              <a:rPr sz="1480" b="0" i="0">
                <a:solidFill>
                  <a:srgbClr val="2C3A4B"/>
                </a:solidFill>
                <a:latin typeface="Segoe UI"/>
                <a:ea typeface="맑은 고딕"/>
                <a:cs typeface="맑은 고딕"/>
              </a:rPr>
              <a:t>–  트랜스포머의 어텐션(Attention)은 자연어 처리에서 사용되는 신경망 구조 중 하나입니다. 어텐션은 '주의'라는 의미로, 입력 데이터 중 특정 부분에 집중하는 것을 의미합니다. 비유를 들어 설명해 드리겠습니다.  **비유: 음악 감상**  Imagine 당신이 음악 감상을 하면서, 음악의 모든 부분에 집중하는 것이 아니라, 특정 부분에만 집중하는 경우가 있습니다. 예를 들어, 음악의 시작 부분에 집중하여 그 부분의 멜로디를 잘 듣는 경우가 있습니다. 이때, 당신은 음악의 시작 부분에만 집중하고, 다른 부분은 거의 집중하지 않습니다. 이와 유사하게, 트랜스포머의 어텐션은 입력 데이터 중 특정 부분에 집중하여 그 부분의 정보를 잘 처리하는 것을 의미합니다.  **어텐션의 작동 방식**  트랜스포머의 어텐션은 3개의 주요 구성 요소로 구성됩니다.  1. **Query (질문)**: 입력 데이터 중 특정 부분에 집중할 부분을 지정합니다. 2. **Key (키)**: 입력 데이터의 모든 부분에 대한 정보를 나타냅니다. 3. **Value (값)**: 입력 데이터의 모든 부분의 정보를 나타냅니다.  어텐션은 Query와 Key를 사용하여 Score를 계산하고, Score가 높은 부분에 집중하여 Value를 사용하여 정보를 처리합니다.  **병렬화에 유리한 이유**  트랜스포머의 어텐션은 병렬화에 유리한 이유가 있습니다. 어텐션은 Query와 Key를 사용하여 Score를 계산하고, Score가 높은 부분에 집중하여 Value를 사용하여 정보를 처리합니다. 이 과정을 병렬화할 수 있기 때문에, 트랜스포머의 어텐션은 병렬화에 유리합니다.  순환신경망(RNN)과 비교할 때, RNN은 시간 순서에 따라 정보를 처리하기 때문에, 병렬화가 어렵습니다. 반면, 트랜스포머의 어텐션은 병렬화가 가능하여, 더 빠른 처리 속도를 제공합니다.  **결론**  트랜스포머의 어텐션은 입력 데이터 중 특정 부분에 집중하여 그 부분의 정보를 잘 처리하는 것을 의미합니다. 어텐션은 Query, Key, Value를 사용하여 Score를 계산하고, Score가 높은 부분에 집중하여 Value를 사용하여 정보를 처리합니다. 트랜스포머의 어텐션은 병렬화에 유리하여, 더 빠른 처리 속도를 제공합니다.</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46304" cy="6858000"/>
          </a:xfrm>
          <a:prstGeom prst="rect">
            <a:avLst/>
          </a:prstGeom>
          <a:solidFill>
            <a:srgbClr val="0B5FC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3" name="TextBox 2"/>
          <p:cNvSpPr txBox="1"/>
          <p:nvPr/>
        </p:nvSpPr>
        <p:spPr>
          <a:xfrm>
            <a:off x="566928" y="384048"/>
            <a:ext cx="11057839" cy="713232"/>
          </a:xfrm>
          <a:prstGeom prst="rect">
            <a:avLst/>
          </a:prstGeom>
          <a:noFill/>
        </p:spPr>
        <p:txBody>
          <a:bodyPr wrap="square" anchor="t" lIns="0" rIns="0" tIns="0" bIns="0">
            <a:spAutoFit/>
          </a:bodyPr>
          <a:lstStyle/>
          <a:p>
            <a:pPr algn="l">
              <a:lnSpc>
                <a:spcPct val="118000"/>
              </a:lnSpc>
              <a:spcBef>
                <a:spcPts val="0"/>
              </a:spcBef>
              <a:spcAft>
                <a:spcPts val="0"/>
              </a:spcAft>
            </a:pPr>
            <a:r>
              <a:rPr sz="3000" b="1" i="0">
                <a:solidFill>
                  <a:srgbClr val="16202C"/>
                </a:solidFill>
                <a:latin typeface="Segoe UI"/>
                <a:ea typeface="맑은 고딕"/>
                <a:cs typeface="맑은 고딕"/>
              </a:rPr>
              <a:t>답변 원문: 개념 설명 (10)</a:t>
            </a:r>
          </a:p>
        </p:txBody>
      </p:sp>
      <p:cxnSp>
        <p:nvCxnSpPr>
          <p:cNvPr id="4" name="Connector 3"/>
          <p:cNvCxnSpPr/>
          <p:nvPr/>
        </p:nvCxnSpPr>
        <p:spPr>
          <a:xfrm>
            <a:off x="566928" y="1097280"/>
            <a:ext cx="11057839" cy="0"/>
          </a:xfrm>
          <a:prstGeom prst="line">
            <a:avLst/>
          </a:prstGeom>
          <a:ln w="15875">
            <a:solidFill>
              <a:srgbClr val="D6DEE7"/>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566928" y="6455664"/>
            <a:ext cx="9686239" cy="219456"/>
          </a:xfrm>
          <a:prstGeom prst="rect">
            <a:avLst/>
          </a:prstGeom>
          <a:noFill/>
        </p:spPr>
        <p:txBody>
          <a:bodyPr wrap="square" anchor="t" lIns="0" rIns="0" tIns="0" bIns="0">
            <a:spAutoFit/>
          </a:bodyPr>
          <a:lstStyle/>
          <a:p>
            <a:pPr algn="l">
              <a:lnSpc>
                <a:spcPct val="118000"/>
              </a:lnSpc>
              <a:spcBef>
                <a:spcPts val="0"/>
              </a:spcBef>
              <a:spcAft>
                <a:spcPts val="0"/>
              </a:spcAft>
            </a:pPr>
            <a:r>
              <a:rPr sz="950" b="0" i="0">
                <a:solidFill>
                  <a:srgbClr val="5B6B7B"/>
                </a:solidFill>
                <a:latin typeface="Segoe UI"/>
                <a:ea typeface="맑은 고딕"/>
                <a:cs typeface="맑은 고딕"/>
              </a:rPr>
              <a:t>RNGD 4장 서버, 2026-08-29 실측</a:t>
            </a:r>
          </a:p>
        </p:txBody>
      </p:sp>
      <p:sp>
        <p:nvSpPr>
          <p:cNvPr id="6" name="TextBox 5"/>
          <p:cNvSpPr txBox="1"/>
          <p:nvPr/>
        </p:nvSpPr>
        <p:spPr>
          <a:xfrm>
            <a:off x="10527487" y="6455664"/>
            <a:ext cx="1097280" cy="219456"/>
          </a:xfrm>
          <a:prstGeom prst="rect">
            <a:avLst/>
          </a:prstGeom>
          <a:noFill/>
        </p:spPr>
        <p:txBody>
          <a:bodyPr wrap="square" anchor="t" lIns="0" rIns="0" tIns="0" bIns="0">
            <a:spAutoFit/>
          </a:bodyPr>
          <a:lstStyle/>
          <a:p>
            <a:pPr algn="r">
              <a:lnSpc>
                <a:spcPct val="118000"/>
              </a:lnSpc>
              <a:spcBef>
                <a:spcPts val="0"/>
              </a:spcBef>
              <a:spcAft>
                <a:spcPts val="0"/>
              </a:spcAft>
            </a:pPr>
            <a:r>
              <a:rPr sz="950" b="0" i="0">
                <a:solidFill>
                  <a:srgbClr val="5B6B7B"/>
                </a:solidFill>
                <a:latin typeface="Segoe UI"/>
                <a:ea typeface="맑은 고딕"/>
                <a:cs typeface="맑은 고딕"/>
              </a:rPr>
              <a:t>41</a:t>
            </a:r>
          </a:p>
        </p:txBody>
      </p:sp>
      <p:sp>
        <p:nvSpPr>
          <p:cNvPr id="7" name="TextBox 6"/>
          <p:cNvSpPr txBox="1"/>
          <p:nvPr/>
        </p:nvSpPr>
        <p:spPr>
          <a:xfrm>
            <a:off x="566928" y="1316736"/>
            <a:ext cx="11057839" cy="4956048"/>
          </a:xfrm>
          <a:prstGeom prst="rect">
            <a:avLst/>
          </a:prstGeom>
          <a:noFill/>
        </p:spPr>
        <p:txBody>
          <a:bodyPr wrap="square" anchor="t" lIns="0" rIns="0" tIns="0" bIns="0">
            <a:spAutoFit/>
          </a:bodyPr>
          <a:lstStyle/>
          <a:p>
            <a:pPr algn="l">
              <a:lnSpc>
                <a:spcPct val="118000"/>
              </a:lnSpc>
              <a:spcBef>
                <a:spcPts val="200"/>
              </a:spcBef>
              <a:spcAft>
                <a:spcPts val="200"/>
              </a:spcAft>
            </a:pPr>
            <a:r>
              <a:rPr sz="1900" b="0" i="0">
                <a:solidFill>
                  <a:srgbClr val="16202C"/>
                </a:solidFill>
                <a:latin typeface="Segoe UI"/>
                <a:ea typeface="맑은 고딕"/>
                <a:cs typeface="맑은 고딕"/>
              </a:rPr>
              <a:t>▪  Qwen3 8B  (1024tok)</a:t>
            </a:r>
          </a:p>
          <a:p>
            <a:pPr algn="l">
              <a:lnSpc>
                <a:spcPct val="118000"/>
              </a:lnSpc>
              <a:spcBef>
                <a:spcPts val="200"/>
              </a:spcBef>
              <a:spcAft>
                <a:spcPts val="100"/>
              </a:spcAft>
            </a:pPr>
            <a:r>
              <a:rPr sz="1780" b="0" i="0">
                <a:solidFill>
                  <a:srgbClr val="2C3A4B"/>
                </a:solidFill>
                <a:latin typeface="Segoe UI"/>
                <a:ea typeface="맑은 고딕"/>
                <a:cs typeface="맑은 고딕"/>
              </a:rPr>
              <a:t>–  트랜스포머의 **어텐션**(Attention)은 입력 데이터의 중요한 부분에 집중하여 처리하는 기법입니다. 처음 배우는 사람에게 설명하기 위해 **도서관 라이브러리원**이라는 비유를 사용해보겠습니다.  ---  ### 📚 비유: 도서관 라이브러리원의 질문 응답 - **문제**: "이 책의 주제는 무엇인가요?"라는 질문을 받았을 때, 라이브러리원은 수많은 책 중에서 **관련된 책만 선택**해 읽습니다.   - **어텐션의 역할**: 라이브러리원은 모든 책을 둘러보고, 각 책이 질문에 얼마나 관련된지를 판단합니다. 예를 들어, "AI"라는 키워드가 포함된 책은 더 중요하게 보고, "역사"라는 키워드가 있는 책은 덜 중요하게 처리합니다.   - **결과**: 질문에 대한 정확한 답변을 위해 **필요한 정보만 집중**해서 처리할 수 있습니다.  ---  ### 🧠 트랜스포머의 어텐션은 어떻게 작동하는가? - **입력 문장**: "나는 오늘 날씨가 좋다"   - **어텐션 메커니즘**:     1. 각 단어(나, 오늘, 날씨, 좋다)를 처리할 때, **모든 단어를 동시에 살펴보며** 어떤 단어가 더 중요할지를 계산합니다.     2. 예를 들어, "날씨"라는 단어는 "좋다"와 가장 관련이 깊기 때문에, "좋다"를 처리할 때 "날씨"에 더 많은 주의를 기울입니다.     3. 이 과정을 통해 문장의 전체 맥락을 이해하고, **의미를 더 정확하게 파악**합니다.  ---  ### 🔄 왜 순환신경망(RNN)보다</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46304" cy="6858000"/>
          </a:xfrm>
          <a:prstGeom prst="rect">
            <a:avLst/>
          </a:prstGeom>
          <a:solidFill>
            <a:srgbClr val="0B5FC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3" name="TextBox 2"/>
          <p:cNvSpPr txBox="1"/>
          <p:nvPr/>
        </p:nvSpPr>
        <p:spPr>
          <a:xfrm>
            <a:off x="566928" y="384048"/>
            <a:ext cx="11057839" cy="713232"/>
          </a:xfrm>
          <a:prstGeom prst="rect">
            <a:avLst/>
          </a:prstGeom>
          <a:noFill/>
        </p:spPr>
        <p:txBody>
          <a:bodyPr wrap="square" anchor="t" lIns="0" rIns="0" tIns="0" bIns="0">
            <a:spAutoFit/>
          </a:bodyPr>
          <a:lstStyle/>
          <a:p>
            <a:pPr algn="l">
              <a:lnSpc>
                <a:spcPct val="118000"/>
              </a:lnSpc>
              <a:spcBef>
                <a:spcPts val="0"/>
              </a:spcBef>
              <a:spcAft>
                <a:spcPts val="0"/>
              </a:spcAft>
            </a:pPr>
            <a:r>
              <a:rPr sz="3000" b="1" i="0">
                <a:solidFill>
                  <a:srgbClr val="16202C"/>
                </a:solidFill>
                <a:latin typeface="Segoe UI"/>
                <a:ea typeface="맑은 고딕"/>
                <a:cs typeface="맑은 고딕"/>
              </a:rPr>
              <a:t>답변 원문: 개념 설명 (11)</a:t>
            </a:r>
          </a:p>
        </p:txBody>
      </p:sp>
      <p:cxnSp>
        <p:nvCxnSpPr>
          <p:cNvPr id="4" name="Connector 3"/>
          <p:cNvCxnSpPr/>
          <p:nvPr/>
        </p:nvCxnSpPr>
        <p:spPr>
          <a:xfrm>
            <a:off x="566928" y="1097280"/>
            <a:ext cx="11057839" cy="0"/>
          </a:xfrm>
          <a:prstGeom prst="line">
            <a:avLst/>
          </a:prstGeom>
          <a:ln w="15875">
            <a:solidFill>
              <a:srgbClr val="D6DEE7"/>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566928" y="6455664"/>
            <a:ext cx="9686239" cy="219456"/>
          </a:xfrm>
          <a:prstGeom prst="rect">
            <a:avLst/>
          </a:prstGeom>
          <a:noFill/>
        </p:spPr>
        <p:txBody>
          <a:bodyPr wrap="square" anchor="t" lIns="0" rIns="0" tIns="0" bIns="0">
            <a:spAutoFit/>
          </a:bodyPr>
          <a:lstStyle/>
          <a:p>
            <a:pPr algn="l">
              <a:lnSpc>
                <a:spcPct val="118000"/>
              </a:lnSpc>
              <a:spcBef>
                <a:spcPts val="0"/>
              </a:spcBef>
              <a:spcAft>
                <a:spcPts val="0"/>
              </a:spcAft>
            </a:pPr>
            <a:r>
              <a:rPr sz="950" b="0" i="0">
                <a:solidFill>
                  <a:srgbClr val="5B6B7B"/>
                </a:solidFill>
                <a:latin typeface="Segoe UI"/>
                <a:ea typeface="맑은 고딕"/>
                <a:cs typeface="맑은 고딕"/>
              </a:rPr>
              <a:t>RNGD 4장 서버, 2026-08-29 실측</a:t>
            </a:r>
          </a:p>
        </p:txBody>
      </p:sp>
      <p:sp>
        <p:nvSpPr>
          <p:cNvPr id="6" name="TextBox 5"/>
          <p:cNvSpPr txBox="1"/>
          <p:nvPr/>
        </p:nvSpPr>
        <p:spPr>
          <a:xfrm>
            <a:off x="10527487" y="6455664"/>
            <a:ext cx="1097280" cy="219456"/>
          </a:xfrm>
          <a:prstGeom prst="rect">
            <a:avLst/>
          </a:prstGeom>
          <a:noFill/>
        </p:spPr>
        <p:txBody>
          <a:bodyPr wrap="square" anchor="t" lIns="0" rIns="0" tIns="0" bIns="0">
            <a:spAutoFit/>
          </a:bodyPr>
          <a:lstStyle/>
          <a:p>
            <a:pPr algn="r">
              <a:lnSpc>
                <a:spcPct val="118000"/>
              </a:lnSpc>
              <a:spcBef>
                <a:spcPts val="0"/>
              </a:spcBef>
              <a:spcAft>
                <a:spcPts val="0"/>
              </a:spcAft>
            </a:pPr>
            <a:r>
              <a:rPr sz="950" b="0" i="0">
                <a:solidFill>
                  <a:srgbClr val="5B6B7B"/>
                </a:solidFill>
                <a:latin typeface="Segoe UI"/>
                <a:ea typeface="맑은 고딕"/>
                <a:cs typeface="맑은 고딕"/>
              </a:rPr>
              <a:t>42</a:t>
            </a:r>
          </a:p>
        </p:txBody>
      </p:sp>
      <p:sp>
        <p:nvSpPr>
          <p:cNvPr id="7" name="TextBox 6"/>
          <p:cNvSpPr txBox="1"/>
          <p:nvPr/>
        </p:nvSpPr>
        <p:spPr>
          <a:xfrm>
            <a:off x="566928" y="1316736"/>
            <a:ext cx="11057839" cy="4956048"/>
          </a:xfrm>
          <a:prstGeom prst="rect">
            <a:avLst/>
          </a:prstGeom>
          <a:noFill/>
        </p:spPr>
        <p:txBody>
          <a:bodyPr wrap="square" anchor="t" lIns="0" rIns="0" tIns="0" bIns="0">
            <a:spAutoFit/>
          </a:bodyPr>
          <a:lstStyle/>
          <a:p>
            <a:pPr algn="l">
              <a:lnSpc>
                <a:spcPct val="118000"/>
              </a:lnSpc>
              <a:spcBef>
                <a:spcPts val="200"/>
              </a:spcBef>
              <a:spcAft>
                <a:spcPts val="200"/>
              </a:spcAft>
            </a:pPr>
            <a:r>
              <a:rPr sz="1900" b="0" i="0">
                <a:solidFill>
                  <a:srgbClr val="16202C"/>
                </a:solidFill>
                <a:latin typeface="Segoe UI"/>
                <a:ea typeface="맑은 고딕"/>
                <a:cs typeface="맑은 고딕"/>
              </a:rPr>
              <a:t>▪  Qwen3 4B  (1024tok)</a:t>
            </a:r>
          </a:p>
          <a:p>
            <a:pPr algn="l">
              <a:lnSpc>
                <a:spcPct val="118000"/>
              </a:lnSpc>
              <a:spcBef>
                <a:spcPts val="200"/>
              </a:spcBef>
              <a:spcAft>
                <a:spcPts val="100"/>
              </a:spcAft>
            </a:pPr>
            <a:r>
              <a:rPr sz="1780" b="0" i="0">
                <a:solidFill>
                  <a:srgbClr val="2C3A4B"/>
                </a:solidFill>
                <a:latin typeface="Segoe UI"/>
                <a:ea typeface="맑은 고딕"/>
                <a:cs typeface="맑은 고딕"/>
              </a:rPr>
              <a:t>–  트랜스포머의 **어텐션(Attention)**은 인공지능 모델이 입력 데이터에서 중요한 정보를 효율적으로 추출하는 메커니즘입니다. 처음 배우는 사람에게는 다음과 같은 비유로 설명할 수 있습니다:  ---  ### 🧠 **비유: "클래스에서의 대화"** 가상의 수업에서 학생들이 주제를 논의하고 있다고 상상해보세요. 예를 들어, "책의 주제를 이해하기 위해 서로의 의견을 듣는다"는 상황이죠.   - **어텐션**은 이 학생들이 **모든 다른 학생의 의견을 동시에 들으며, 가장 중요한 내용을 집중적으로 듣는** 능력을 말합니다.   - 예를 들어, "책의 주요 인물은 누구인가?"라는 질문을 받을 때, 학생들은 **모든 다른 학생의 답변을 동시에 보고, 가장 유용한 답변을 선택**할 수 있습니다.   - 이처럼, 트랜스포머는 입력 데이터(예: 문장)의 각 단어가 **모든 다른 단어를 동시에 살펴보며, 중요도를 판단**하는 방식으로 작동합니다.  ---  ### 🔍 **어텐션의 핵심: "중요도 가중치"** 트랜스포머는 입력 데이터의 각 요소(예: 단어)가 다른 요소들에 대해 **"어떻게 영향을 미치는가?"**를 계산합니다.   - 예를 들어, 문장 "나는 책을 읽고 있다"에서 "책"이라는 단어는 "읽고 있다"에 가장 중요하며, "나"는 덜 중요합니다.   - 이때, 어텐션은 각 단어가 다른 단어에 대해 **중요도를 가중치로 부여**해, 전체 의미를 더 잘 이해하게 도와줍니다.  ---  ### 🔄 **왜 순환신경망(RNN)보다 병렬화에 유리한가?** - **RNN**은 데이터를 **한 번에 하나씩</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46304" cy="6858000"/>
          </a:xfrm>
          <a:prstGeom prst="rect">
            <a:avLst/>
          </a:prstGeom>
          <a:solidFill>
            <a:srgbClr val="0B5FC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p>
        </p:txBody>
      </p:sp>
      <p:sp>
        <p:nvSpPr>
          <p:cNvPr id="3" name="TextBox 2"/>
          <p:cNvSpPr txBox="1"/>
          <p:nvPr/>
        </p:nvSpPr>
        <p:spPr>
          <a:xfrm>
            <a:off x="566928" y="384048"/>
            <a:ext cx="11057839" cy="713232"/>
          </a:xfrm>
          <a:prstGeom prst="rect">
            <a:avLst/>
          </a:prstGeom>
          <a:noFill/>
        </p:spPr>
        <p:txBody>
          <a:bodyPr wrap="square" anchor="t" lIns="0" rIns="0" tIns="0" bIns="0">
            <a:spAutoFit/>
          </a:bodyPr>
          <a:lstStyle/>
          <a:p>
            <a:pPr algn="l">
              <a:lnSpc>
                <a:spcPct val="118000"/>
              </a:lnSpc>
              <a:spcBef>
                <a:spcPts val="0"/>
              </a:spcBef>
              <a:spcAft>
                <a:spcPts val="0"/>
              </a:spcAft>
            </a:pPr>
            <a:r>
              <a:rPr sz="3000" b="1" i="0">
                <a:solidFill>
                  <a:srgbClr val="16202C"/>
                </a:solidFill>
                <a:latin typeface="Segoe UI"/>
                <a:ea typeface="맑은 고딕"/>
                <a:cs typeface="맑은 고딕"/>
              </a:rPr>
              <a:t>답변 원문: 개념 설명 (12)</a:t>
            </a:r>
          </a:p>
        </p:txBody>
      </p:sp>
      <p:cxnSp>
        <p:nvCxnSpPr>
          <p:cNvPr id="4" name="Connector 3"/>
          <p:cNvCxnSpPr/>
          <p:nvPr/>
        </p:nvCxnSpPr>
        <p:spPr>
          <a:xfrm>
            <a:off x="566928" y="1097280"/>
            <a:ext cx="11057839" cy="0"/>
          </a:xfrm>
          <a:prstGeom prst="line">
            <a:avLst/>
          </a:prstGeom>
          <a:ln w="15875">
            <a:solidFill>
              <a:srgbClr val="D6DEE7"/>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566928" y="6455664"/>
            <a:ext cx="9686239" cy="219456"/>
          </a:xfrm>
          <a:prstGeom prst="rect">
            <a:avLst/>
          </a:prstGeom>
          <a:noFill/>
        </p:spPr>
        <p:txBody>
          <a:bodyPr wrap="square" anchor="t" lIns="0" rIns="0" tIns="0" bIns="0">
            <a:spAutoFit/>
          </a:bodyPr>
          <a:lstStyle/>
          <a:p>
            <a:pPr algn="l">
              <a:lnSpc>
                <a:spcPct val="118000"/>
              </a:lnSpc>
              <a:spcBef>
                <a:spcPts val="0"/>
              </a:spcBef>
              <a:spcAft>
                <a:spcPts val="0"/>
              </a:spcAft>
            </a:pPr>
            <a:r>
              <a:rPr sz="950" b="0" i="0">
                <a:solidFill>
                  <a:srgbClr val="5B6B7B"/>
                </a:solidFill>
                <a:latin typeface="Segoe UI"/>
                <a:ea typeface="맑은 고딕"/>
                <a:cs typeface="맑은 고딕"/>
              </a:rPr>
              <a:t>RNGD 4장 서버, 2026-08-29 실측</a:t>
            </a:r>
          </a:p>
        </p:txBody>
      </p:sp>
      <p:sp>
        <p:nvSpPr>
          <p:cNvPr id="6" name="TextBox 5"/>
          <p:cNvSpPr txBox="1"/>
          <p:nvPr/>
        </p:nvSpPr>
        <p:spPr>
          <a:xfrm>
            <a:off x="10527487" y="6455664"/>
            <a:ext cx="1097280" cy="219456"/>
          </a:xfrm>
          <a:prstGeom prst="rect">
            <a:avLst/>
          </a:prstGeom>
          <a:noFill/>
        </p:spPr>
        <p:txBody>
          <a:bodyPr wrap="square" anchor="t" lIns="0" rIns="0" tIns="0" bIns="0">
            <a:spAutoFit/>
          </a:bodyPr>
          <a:lstStyle/>
          <a:p>
            <a:pPr algn="r">
              <a:lnSpc>
                <a:spcPct val="118000"/>
              </a:lnSpc>
              <a:spcBef>
                <a:spcPts val="0"/>
              </a:spcBef>
              <a:spcAft>
                <a:spcPts val="0"/>
              </a:spcAft>
            </a:pPr>
            <a:r>
              <a:rPr sz="950" b="0" i="0">
                <a:solidFill>
                  <a:srgbClr val="5B6B7B"/>
                </a:solidFill>
                <a:latin typeface="Segoe UI"/>
                <a:ea typeface="맑은 고딕"/>
                <a:cs typeface="맑은 고딕"/>
              </a:rPr>
              <a:t>43</a:t>
            </a:r>
          </a:p>
        </p:txBody>
      </p:sp>
      <p:sp>
        <p:nvSpPr>
          <p:cNvPr id="7" name="TextBox 6"/>
          <p:cNvSpPr txBox="1"/>
          <p:nvPr/>
        </p:nvSpPr>
        <p:spPr>
          <a:xfrm>
            <a:off x="566928" y="1316736"/>
            <a:ext cx="11057839" cy="4956048"/>
          </a:xfrm>
          <a:prstGeom prst="rect">
            <a:avLst/>
          </a:prstGeom>
          <a:noFill/>
        </p:spPr>
        <p:txBody>
          <a:bodyPr wrap="square" anchor="t" lIns="0" rIns="0" tIns="0" bIns="0">
            <a:spAutoFit/>
          </a:bodyPr>
          <a:lstStyle/>
          <a:p>
            <a:pPr algn="l">
              <a:lnSpc>
                <a:spcPct val="118000"/>
              </a:lnSpc>
              <a:spcBef>
                <a:spcPts val="200"/>
              </a:spcBef>
              <a:spcAft>
                <a:spcPts val="200"/>
              </a:spcAft>
            </a:pPr>
            <a:r>
              <a:rPr sz="1900" b="0" i="0">
                <a:solidFill>
                  <a:srgbClr val="16202C"/>
                </a:solidFill>
                <a:latin typeface="Segoe UI"/>
                <a:ea typeface="맑은 고딕"/>
                <a:cs typeface="맑은 고딕"/>
              </a:rPr>
              <a:t>▪  Qwen2.5 0.5B  (291tok)</a:t>
            </a:r>
          </a:p>
          <a:p>
            <a:pPr algn="l">
              <a:lnSpc>
                <a:spcPct val="118000"/>
              </a:lnSpc>
              <a:spcBef>
                <a:spcPts val="200"/>
              </a:spcBef>
              <a:spcAft>
                <a:spcPts val="100"/>
              </a:spcAft>
            </a:pPr>
            <a:r>
              <a:rPr sz="1780" b="0" i="0">
                <a:solidFill>
                  <a:srgbClr val="2C3A4B"/>
                </a:solidFill>
                <a:latin typeface="Segoe UI"/>
                <a:ea typeface="맑은 고딕"/>
                <a:cs typeface="맑은 고딕"/>
              </a:rPr>
              <a:t>–  물론입니다. 트랜스포머의 어텐션은 비유적으로 "어린 시절"을 말합니다. 이는 트랜스포머가 학습한 데이터를 통해, 특정 문장이나 단어를 추출하고, 그에 대한 정보를 더 잘 이해하고, 이를 통해 새로운 문장이나 단어를 추출하는 과정을 말합니다.  비유를 통해 설명하면, 트랜스포머의 어텐션은 학습된 데이터를 통해 문장이나 단어를 더 잘 이해하고, 이를 통해 새로운 문장이나 단어를 추출하는 과정을 의미합니다. 이는 순환 신경망보다 병렬화에 유리한 이유를 설명합니다. 순환 신경망은 데이터를 순환적으로 처리하여, 각 단계의 결과를 학습된 데이터에 반영하도록 설계되어 있습니다. 이는 데이터를 더 많이 처리할 수 있기 때문에, 학습된 데이터를 더 잘 이해하고, 새로운 문장이나 단어를 추출하는 데 더 효율적입니다. 반면, 병렬화는 데이터를 처리할 수록 더 많은 단계를 처리할 수 있기 때문에, 학습된 데이터를 더 잘 이해하고, 새로운 문장이나 단어를 추출하는 데 더 효율적입니다.</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