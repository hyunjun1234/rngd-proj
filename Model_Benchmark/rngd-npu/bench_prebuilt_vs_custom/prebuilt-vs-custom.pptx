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F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633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628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  <a:ea typeface="맑은 고딕"/>
                <a:cs typeface="맑은 고딕"/>
              </a:rPr>
              <a:t>직접 빌드한 모델은 배포판보다 빠른가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0" i="0">
                <a:solidFill>
                  <a:srgbClr val="C9DEF7"/>
                </a:solidFill>
                <a:latin typeface="Segoe UI"/>
                <a:ea typeface="맑은 고딕"/>
                <a:cs typeface="맑은 고딕"/>
              </a:rPr>
              <a:t>같은 입력, 같은 조건으로 prebuilt FXB 와 우리가 빌드한 tp8 아티팩트를 재 봤다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3628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EC1EB"/>
                </a:solidFill>
                <a:latin typeface="Segoe UI"/>
                <a:ea typeface="맑은 고딕"/>
                <a:cs typeface="맑은 고딕"/>
              </a:rPr>
              <a:t>RNGD 4장 서버, 2026-08-28 실측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무엇과 무엇을 비교했나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822960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4장 서버, 2026-08-28 실측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그림 1: 같은 모델이 서빙되는 두 경로, 배포 FXB 번들과 우리가 빌드한 v2 아티팩트</a:t>
            </a:r>
          </a:p>
        </p:txBody>
      </p:sp>
      <p:grpSp>
        <p:nvGrpSpPr>
          <p:cNvPr id="8" name="도해 paths"/>
          <p:cNvGrpSpPr/>
          <p:nvPr/>
        </p:nvGrpSpPr>
        <p:grpSpPr>
          <a:xfrm>
            <a:off x="566928" y="1554480"/>
            <a:ext cx="11057839" cy="2971567"/>
            <a:chOff x="566928" y="1554480"/>
            <a:chExt cx="11057839" cy="2971567"/>
          </a:xfrm>
        </p:grpSpPr>
        <p:sp>
          <p:nvSpPr>
            <p:cNvPr id="9" name="TextBox 8"/>
            <p:cNvSpPr txBox="1"/>
            <p:nvPr/>
          </p:nvSpPr>
          <p:spPr>
            <a:xfrm>
              <a:off x="566928" y="1554480"/>
              <a:ext cx="2796097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(a) prebuilt: 퓨리오사가 배포한 FXB 번들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66928" y="1892893"/>
              <a:ext cx="1592569" cy="534195"/>
            </a:xfrm>
            <a:prstGeom prst="roundRect">
              <a:avLst>
                <a:gd name="adj" fmla="val 10000"/>
              </a:avLst>
            </a:prstGeom>
            <a:solidFill>
              <a:srgbClr val="E3E5EA"/>
            </a:solidFill>
            <a:ln w="17361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086373" y="1949517"/>
              <a:ext cx="553680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HF 허브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93964" y="2170941"/>
              <a:ext cx="1138497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furiosa-ai/&lt;모델&gt;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2199562" y="2159990"/>
              <a:ext cx="160258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 13"/>
            <p:cNvSpPr/>
            <p:nvPr/>
          </p:nvSpPr>
          <p:spPr>
            <a:xfrm>
              <a:off x="2359820" y="2093216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4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2520079" y="1892893"/>
              <a:ext cx="1522456" cy="534195"/>
            </a:xfrm>
            <a:prstGeom prst="roundRect">
              <a:avLst>
                <a:gd name="adj" fmla="val 10000"/>
              </a:avLst>
            </a:prstGeom>
            <a:solidFill>
              <a:srgbClr val="E3E5EA"/>
            </a:solidFill>
            <a:ln w="17361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838686" y="1949517"/>
              <a:ext cx="885241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FXB 파일 1개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648115" y="2170941"/>
              <a:ext cx="126638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…-2606290751.fxb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4082600" y="2159990"/>
              <a:ext cx="160258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4242858" y="2093216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4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4403117" y="1892893"/>
              <a:ext cx="1535477" cy="534195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361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03073" y="1949517"/>
              <a:ext cx="1135565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entrypoint 경로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659170" y="2170941"/>
              <a:ext cx="102337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TP=32, 카드 4장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5978658" y="2159990"/>
              <a:ext cx="16025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Freeform 23"/>
            <p:cNvSpPr/>
            <p:nvPr/>
          </p:nvSpPr>
          <p:spPr>
            <a:xfrm>
              <a:off x="6138917" y="2093216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4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299176" y="1892893"/>
              <a:ext cx="1031664" cy="534195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361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653414" y="1949517"/>
              <a:ext cx="323188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서빙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489402" y="2170941"/>
              <a:ext cx="65121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포트 8410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66928" y="2531523"/>
              <a:ext cx="427381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가중치도 컴파일 결과도 번들 하나에 들어 있다, 우리가 만지는 부분이 없다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66928" y="3023517"/>
              <a:ext cx="2961197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(b) custom: 우리가 직접 빌드한 v2 아티팩트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566928" y="3361929"/>
              <a:ext cx="1081545" cy="534195"/>
            </a:xfrm>
            <a:prstGeom prst="roundRect">
              <a:avLst>
                <a:gd name="adj" fmla="val 10000"/>
              </a:avLst>
            </a:prstGeom>
            <a:solidFill>
              <a:srgbClr val="E3E5EA"/>
            </a:solidFill>
            <a:ln w="17361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63285" y="3418554"/>
              <a:ext cx="688831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HF 가중치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08738" y="3639978"/>
              <a:ext cx="59792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원본 모델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1688537" y="3629027"/>
              <a:ext cx="16025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Freeform 33"/>
            <p:cNvSpPr/>
            <p:nvPr/>
          </p:nvSpPr>
          <p:spPr>
            <a:xfrm>
              <a:off x="1848796" y="3562252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5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009055" y="3361929"/>
              <a:ext cx="1686788" cy="534195"/>
            </a:xfrm>
            <a:prstGeom prst="roundRect">
              <a:avLst>
                <a:gd name="adj" fmla="val 10000"/>
              </a:avLst>
            </a:prstGeom>
            <a:solidFill>
              <a:srgbClr val="E3E5EA"/>
            </a:solidFill>
            <a:ln w="17361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224362" y="3418554"/>
              <a:ext cx="1256173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furiosa-llm build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350509" y="3639978"/>
              <a:ext cx="100388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2026-07-27~29</a:t>
              </a:r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3735907" y="3629027"/>
              <a:ext cx="16025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reeform 38"/>
            <p:cNvSpPr/>
            <p:nvPr/>
          </p:nvSpPr>
          <p:spPr>
            <a:xfrm>
              <a:off x="3896166" y="3562252"/>
              <a:ext cx="120193" cy="133549"/>
            </a:xfrm>
            <a:custGeom>
              <a:avLst/>
              <a:gdLst/>
              <a:ahLst/>
              <a:cxnLst/>
              <a:rect l="l" t="t" r="r" b="b"/>
              <a:pathLst>
                <a:path w="120193" h="133549">
                  <a:moveTo>
                    <a:pt x="0" y="0"/>
                  </a:moveTo>
                  <a:lnTo>
                    <a:pt x="120193" y="66775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4056424" y="3361929"/>
              <a:ext cx="1943135" cy="534195"/>
            </a:xfrm>
            <a:prstGeom prst="roundRect">
              <a:avLst>
                <a:gd name="adj" fmla="val 10000"/>
              </a:avLst>
            </a:prstGeom>
            <a:solidFill>
              <a:srgbClr val="FFD34D"/>
            </a:solidFill>
            <a:ln w="17361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579421" y="3418554"/>
              <a:ext cx="897141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아티팩트 폴더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345020" y="3639978"/>
              <a:ext cx="136594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artifact.json + 가중치</a:t>
              </a:r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6039623" y="3629027"/>
              <a:ext cx="16025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Freeform 43"/>
            <p:cNvSpPr/>
            <p:nvPr/>
          </p:nvSpPr>
          <p:spPr>
            <a:xfrm>
              <a:off x="6199882" y="3562252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5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6360141" y="3361929"/>
              <a:ext cx="1384166" cy="534195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361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541587" y="3418554"/>
              <a:ext cx="1021274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next_gen 경로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579451" y="3639978"/>
              <a:ext cx="94554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TP=8, 카드 1장</a:t>
              </a:r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7784372" y="3629027"/>
              <a:ext cx="160258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Freeform 48"/>
            <p:cNvSpPr/>
            <p:nvPr/>
          </p:nvSpPr>
          <p:spPr>
            <a:xfrm>
              <a:off x="7944630" y="3562252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5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8104889" y="3361929"/>
              <a:ext cx="1031664" cy="534195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7361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459127" y="3418554"/>
              <a:ext cx="323188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서빙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8295115" y="3639978"/>
              <a:ext cx="65121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포트 8410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66928" y="3973850"/>
              <a:ext cx="556670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노란 상자는 사람이 손댈 수 있는 곳이다, MoE 게이트를 지나려고 여기의 model_type 을 고쳤다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66928" y="4313331"/>
              <a:ext cx="4774957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같은 모델을 라우터가 두 갈래로 서빙한다, 이름 뒤 @tp8 이 직접 빌드한 쪽이다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171416" y="4321077"/>
              <a:ext cx="345335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coding-agent/furiosa_router.py 의 REGISTRY tps 필드</a:t>
              </a:r>
            </a:p>
          </p:txBody>
        </p:sp>
      </p:grpSp>
      <p:sp>
        <p:nvSpPr>
          <p:cNvPr id="56" name="TextBox 55"/>
          <p:cNvSpPr txBox="1"/>
          <p:nvPr/>
        </p:nvSpPr>
        <p:spPr>
          <a:xfrm>
            <a:off x="566928" y="4763791"/>
            <a:ext cx="11057839" cy="1508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라우터가 같은 모델을 두 갈래로 띄운다. 이름 그대로면 퓨리오사가 배포한 FXB 번들(tp32, 카드 4장), 이름 뒤에 @tp8 을 붙이면 우리가 2026-07-27~29 에 직접 빌드한 v2 아티팩트(tp8, 카드 1장)다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두 갈래는 런타임 코드 경로부터 다르다. serve 로그를 보면 FXB 는 furiosa_generator::entrypoint 를, v2 아티팩트는 furiosa_generator::next_gen 을 탄다. 같은 가중치라도 실행 경로가 같지 않다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직접 빌드한 8개 중 5개는 MoE 게이트를 지나려고 artifact.json 의 model_type 을 qwen3_moe 에서 qwen3 로 고쳐 두었다. 나머지 3개(Qwen3-32B, EXAONE, Llama)는 손대지 않았다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측정 방법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97280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4장 서버, 2026-08-28 실측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코드 1: bench.py, 같은 조건을 강제하는 부분과 시간을 재는 부분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09344"/>
            <a:ext cx="11057839" cy="4663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bench.py — 모델 하나마다 (1) 준비될 때까지 기다리고 (2) 프롬프트 4종을 스트리밍으로 재고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           (3) 같은 프롬프트 4개를 동시에 던져 총처리량을 잰다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PROMPTS   = [사실, 코드, 추론, 설명]        # 네 종류 고정, 모든 모델에 같은 문장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MAX_TOKENS = 1024                          # 256 이면 thinking 모델이 사고만 하다 끝난다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body = {'model': model, 'messages': [...], 'temperature': 0,   # greedy, 무작위성 제거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'max_tokens': MAX_TOKENS, 'stream': True,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'stream_options': {'include_usage': True}}             # 토큰 수를 서버에서 받는다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t0 = time.perf_counter()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이벤트 in 스트림: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조각 = delta.content 또는 delta.reasoning        # thinking 모델은 reasoning 으로 온다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if 조각 and ttft is None: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ttft = time.perf_counter() - t0              # 첫 토큰까지 = TTFT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total = time.perf_counter() - t0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decode_tps = (출력토큰 - 1) / (total - ttft)         # 첫 토큰 뒤의 순수 생성 속도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준비 판정: 상태가 'up' 이 되기 전에 요청을 보내면 타임아웃까지 통째로 버린다(실측 600s)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ready = router_status()['running'].get(model, {}).get('state') == 'up'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무엇을 쟀나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822960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4장 서버, 2026-08-28 실측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그림 2: 한 요청의 시간 축에서 TTFT 와 디코드 구간이 각각 어디인지, 그리고 같게 맞춘 조건 넷</a:t>
            </a:r>
          </a:p>
        </p:txBody>
      </p:sp>
      <p:grpSp>
        <p:nvGrpSpPr>
          <p:cNvPr id="8" name="도해 method"/>
          <p:cNvGrpSpPr/>
          <p:nvPr/>
        </p:nvGrpSpPr>
        <p:grpSpPr>
          <a:xfrm>
            <a:off x="566928" y="1554480"/>
            <a:ext cx="11057839" cy="2944857"/>
            <a:chOff x="566928" y="1554480"/>
            <a:chExt cx="11057839" cy="2944857"/>
          </a:xfrm>
        </p:grpSpPr>
        <p:sp>
          <p:nvSpPr>
            <p:cNvPr id="9" name="TextBox 8"/>
            <p:cNvSpPr txBox="1"/>
            <p:nvPr/>
          </p:nvSpPr>
          <p:spPr>
            <a:xfrm>
              <a:off x="566928" y="1554480"/>
              <a:ext cx="1390677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(a) 한 요청의 시간 축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1154543" y="2427088"/>
              <a:ext cx="10149707" cy="0"/>
            </a:xfrm>
            <a:prstGeom prst="line">
              <a:avLst/>
            </a:prstGeom>
            <a:ln w="18696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10"/>
            <p:cNvCxnSpPr/>
            <p:nvPr/>
          </p:nvCxnSpPr>
          <p:spPr>
            <a:xfrm>
              <a:off x="1154543" y="2320249"/>
              <a:ext cx="0" cy="213678"/>
            </a:xfrm>
            <a:prstGeom prst="line">
              <a:avLst/>
            </a:prstGeom>
            <a:ln w="18696">
              <a:solidFill>
                <a:srgbClr val="1620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855580" y="2611652"/>
              <a:ext cx="59792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요청 보냄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691969" y="2320249"/>
              <a:ext cx="0" cy="213678"/>
            </a:xfrm>
            <a:prstGeom prst="line">
              <a:avLst/>
            </a:prstGeom>
            <a:ln w="18696">
              <a:solidFill>
                <a:srgbClr val="1620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3457511" y="2611652"/>
              <a:ext cx="468916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첫 토큰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11304250" y="2320249"/>
              <a:ext cx="0" cy="213678"/>
            </a:xfrm>
            <a:prstGeom prst="line">
              <a:avLst/>
            </a:prstGeom>
            <a:ln w="18696">
              <a:solidFill>
                <a:srgbClr val="16202C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0577317" y="2611652"/>
              <a:ext cx="7269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마지막 토큰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154543" y="2106571"/>
              <a:ext cx="2537427" cy="186968"/>
            </a:xfrm>
            <a:prstGeom prst="rect">
              <a:avLst/>
            </a:prstGeom>
            <a:solidFill>
              <a:srgbClr val="FFD34D"/>
            </a:solidFill>
            <a:ln w="12019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225537" y="2090812"/>
              <a:ext cx="39543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TTFT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691969" y="2106571"/>
              <a:ext cx="7612280" cy="186968"/>
            </a:xfrm>
            <a:prstGeom prst="rect">
              <a:avLst/>
            </a:prstGeom>
            <a:solidFill>
              <a:srgbClr val="E3E5EA"/>
            </a:solidFill>
            <a:ln w="12019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197582" y="2090812"/>
              <a:ext cx="2601056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디코드 구간, 남은 토큰 수 ÷ 이 시간 = tok/s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66928" y="3210485"/>
              <a:ext cx="1222659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(b) 같게 맞춘 조건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66928" y="3548897"/>
              <a:ext cx="2547443" cy="560905"/>
            </a:xfrm>
            <a:prstGeom prst="roundRect">
              <a:avLst>
                <a:gd name="adj" fmla="val 9523"/>
              </a:avLst>
            </a:prstGeom>
            <a:solidFill>
              <a:srgbClr val="FFFFFF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543904" y="3618877"/>
              <a:ext cx="593491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프롬프트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29950" y="3840301"/>
              <a:ext cx="182139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사실, 코드, 추론, 설명 4종 고정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247920" y="3548897"/>
              <a:ext cx="1916425" cy="560905"/>
            </a:xfrm>
            <a:prstGeom prst="roundRect">
              <a:avLst>
                <a:gd name="adj" fmla="val 9523"/>
              </a:avLst>
            </a:prstGeom>
            <a:solidFill>
              <a:srgbClr val="FFFFFF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976963" y="3618877"/>
              <a:ext cx="458339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샘플링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430050" y="3840301"/>
              <a:ext cx="155216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temperature 0 (greedy)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5297894" y="3548897"/>
              <a:ext cx="1355520" cy="560905"/>
            </a:xfrm>
            <a:prstGeom prst="roundRect">
              <a:avLst>
                <a:gd name="adj" fmla="val 9523"/>
              </a:avLst>
            </a:prstGeom>
            <a:solidFill>
              <a:srgbClr val="FFFFFF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814060" y="3618877"/>
              <a:ext cx="323188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길이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419867" y="3840301"/>
              <a:ext cx="111157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max_tokens 256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6786962" y="3548897"/>
              <a:ext cx="3108348" cy="560905"/>
            </a:xfrm>
            <a:prstGeom prst="roundRect">
              <a:avLst>
                <a:gd name="adj" fmla="val 9523"/>
              </a:avLst>
            </a:prstGeom>
            <a:solidFill>
              <a:srgbClr val="FFFFFF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8111967" y="3618877"/>
              <a:ext cx="458339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동시성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156786" y="3840301"/>
              <a:ext cx="236870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단일 1개, 그리고 같은 프롬프트 4개 동시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6928" y="4286621"/>
              <a:ext cx="4944777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적재 시간은 따로 잰다, serve 로그의 첫 줄과 마지막 줄 간격이 순수 적재 시간이다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699368" y="4294367"/>
              <a:ext cx="292539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bench.py, chat/serve_logs/router-&lt;모델&gt;.log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566928" y="4737081"/>
            <a:ext cx="11057839" cy="15357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TTFT 는 요청을 보낸 순간부터 첫 토큰이 올 때까지다. 프롬프트를 읽는 시간(prefill)이 여기 들어간다. 디코드 속도는 첫 토큰 이후 남은 토큰을 초로 나눈 값이라 프롬프트 길이에 영향을 덜 받는다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총처리량은 같은 프롬프트 4개를 동시에 던져 전부 끝날 때까지의 벽시계로 나눈 값이다. 배치가 되는 서버일수록 단일 요청보다 크게 나온다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적재 시간은 bench.py 가 잰 값(전환 시간, 앞 모델을 내리는 시간 포함)과 serve 로그에서 뽑은 순수 적재 시간 두 가지를 따로 본다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속도는 어느 쪽이 빠른가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822960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4장 서버, 2026-08-28 실측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그림 3: 모델 쌍마다 prebuilt 와 custom 의 동시 4요청 총처리량, 그리고 단일 요청 디코드 속도</a:t>
            </a:r>
          </a:p>
        </p:txBody>
      </p:sp>
      <p:grpSp>
        <p:nvGrpSpPr>
          <p:cNvPr id="8" name="도해 speed"/>
          <p:cNvGrpSpPr/>
          <p:nvPr/>
        </p:nvGrpSpPr>
        <p:grpSpPr>
          <a:xfrm>
            <a:off x="566928" y="1554480"/>
            <a:ext cx="11057839" cy="2998276"/>
            <a:chOff x="566928" y="1554480"/>
            <a:chExt cx="11057839" cy="2998276"/>
          </a:xfrm>
        </p:grpSpPr>
        <p:sp>
          <p:nvSpPr>
            <p:cNvPr id="9" name="TextBox 8"/>
            <p:cNvSpPr txBox="1"/>
            <p:nvPr/>
          </p:nvSpPr>
          <p:spPr>
            <a:xfrm>
              <a:off x="566928" y="1554480"/>
              <a:ext cx="3010957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(a) 동시 4요청 총처리량, 막대 옆 숫자는 tok/s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6928" y="1855232"/>
              <a:ext cx="154473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Coder 30B  prebuilt 4장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37257" y="1892893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37257" y="1892893"/>
              <a:ext cx="2559095" cy="173613"/>
            </a:xfrm>
            <a:prstGeom prst="rect">
              <a:avLst/>
            </a:prstGeom>
            <a:solidFill>
              <a:srgbClr val="9DA5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16365" y="1855232"/>
              <a:ext cx="2839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139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6928" y="2042200"/>
              <a:ext cx="150897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Coder 30B  custom 1장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37257" y="2079861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37257" y="2079861"/>
              <a:ext cx="2956767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16365" y="2042200"/>
              <a:ext cx="89422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161  답변 깨짐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66928" y="2255878"/>
              <a:ext cx="160825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Qwen3 32B  prebuilt 4장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837257" y="2293539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37257" y="2293539"/>
              <a:ext cx="3472268" cy="173613"/>
            </a:xfrm>
            <a:prstGeom prst="rect">
              <a:avLst/>
            </a:prstGeom>
            <a:solidFill>
              <a:srgbClr val="9DA5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16365" y="2255878"/>
              <a:ext cx="2839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189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66928" y="2442846"/>
              <a:ext cx="1572497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Qwen3 32B  custom 1장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37257" y="2480507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837257" y="2480507"/>
              <a:ext cx="1686425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416365" y="2442846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92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66928" y="2656525"/>
              <a:ext cx="166308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Instruct  prebuilt 4장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37257" y="2694185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837257" y="2694185"/>
              <a:ext cx="2623533" cy="173613"/>
            </a:xfrm>
            <a:prstGeom prst="rect">
              <a:avLst/>
            </a:prstGeom>
            <a:solidFill>
              <a:srgbClr val="9DA5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16365" y="2656525"/>
              <a:ext cx="2839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142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6928" y="2843493"/>
              <a:ext cx="162732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Instruct  custom 1장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837257" y="2881154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837257" y="2881154"/>
              <a:ext cx="2474405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6416365" y="2843493"/>
              <a:ext cx="89422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134  답변 깨짐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6928" y="3057171"/>
              <a:ext cx="173249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Thinking  prebuilt 4장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37257" y="3094832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837257" y="3094832"/>
              <a:ext cx="2612486" cy="173613"/>
            </a:xfrm>
            <a:prstGeom prst="rect">
              <a:avLst/>
            </a:prstGeom>
            <a:solidFill>
              <a:srgbClr val="9DA5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416365" y="3057171"/>
              <a:ext cx="2839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142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66928" y="3244139"/>
              <a:ext cx="1696737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Thinking  custom 1장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837257" y="3281800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837257" y="3281800"/>
              <a:ext cx="2980701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416365" y="3244139"/>
              <a:ext cx="89422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162  답변 깨짐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66928" y="3457817"/>
              <a:ext cx="163321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EXAONE 4.0  prebuilt 4장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837257" y="3495478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416365" y="3457817"/>
              <a:ext cx="70940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-  측정 실패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566928" y="3644786"/>
              <a:ext cx="1597457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EXAONE 4.0  custom 1장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2837257" y="3682446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837257" y="3682446"/>
              <a:ext cx="1517046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416365" y="3644786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82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66928" y="3858464"/>
              <a:ext cx="112727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 prebuilt 4장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2837257" y="3896124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416365" y="3858464"/>
              <a:ext cx="70940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-  측정 실패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66928" y="4045432"/>
              <a:ext cx="109152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 custom 1장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837257" y="4083093"/>
              <a:ext cx="3472268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2837257" y="4083093"/>
              <a:ext cx="2936515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16365" y="4045432"/>
              <a:ext cx="89422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160  답변 깨짐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8366177" y="1554480"/>
              <a:ext cx="905207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(b) 단일 요청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366177" y="1837069"/>
              <a:ext cx="1634617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TTFT 는 양쪽 다 0.1초 안팎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366177" y="2077457"/>
              <a:ext cx="154950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디코드 속도 중앙값, tok/s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366177" y="2237716"/>
              <a:ext cx="723147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Coder 30B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10296825" y="2237716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71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11418634" y="2237716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61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366177" y="2438039"/>
              <a:ext cx="78666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Qwen3 32B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10296825" y="2438039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55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11418634" y="2438039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25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366177" y="2638362"/>
              <a:ext cx="84149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Instruct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0296825" y="2638362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72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1418634" y="2638362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62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8366177" y="2838685"/>
              <a:ext cx="91091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Thinking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10296825" y="2838685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71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1418634" y="2838685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62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8366177" y="3039008"/>
              <a:ext cx="81162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EXAONE 4.0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0403817" y="3039008"/>
              <a:ext cx="9914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-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1418634" y="3039008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24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8366177" y="3239331"/>
              <a:ext cx="30569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0403817" y="3239331"/>
              <a:ext cx="9914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-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11418634" y="3239331"/>
              <a:ext cx="20613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61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9931956" y="1997328"/>
              <a:ext cx="57100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prebuilt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1089524" y="1997328"/>
              <a:ext cx="53524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custom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66928" y="4340040"/>
              <a:ext cx="5657113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카드 수가 다르다, prebuilt 는 4장 custom 은 1장이므로 카드당으로 보면 격차가 더 벌어진다</a:t>
              </a:r>
            </a:p>
          </p:txBody>
        </p:sp>
      </p:grpSp>
      <p:sp>
        <p:nvSpPr>
          <p:cNvPr id="80" name="TextBox 79"/>
          <p:cNvSpPr txBox="1"/>
          <p:nvPr/>
        </p:nvSpPr>
        <p:spPr>
          <a:xfrm>
            <a:off x="566928" y="4790500"/>
            <a:ext cx="11057839" cy="14822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카드 수가 다르다는 점을 먼저 봐야 한다. prebuilt 는 4장을 독점하고 custom tp8 은 1장만 쓴다. 카드당으로 환산하면 격차가 네 배 더 벌어진다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TTFT 는 두 갈래 모두 0.1초 안팎이라 사람이 느끼는 첫 응답 속도에는 차이가 없다. 차이는 디코드 속도와 동시 처리에서 난다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다만 이 숫자는 답변이 멀쩡한 경우에만 뜻이 있다. 깨진 모델도 토큰은 빠르게 뱉는다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모델을 올리는 데 얼마나 걸리나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822960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4장 서버, 2026-08-28 실측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그림 4: serve 로그 기준 순수 적재 시간, 배포 FXB 와 직접 빌드한 tp8 아티팩트</a:t>
            </a:r>
          </a:p>
        </p:txBody>
      </p:sp>
      <p:grpSp>
        <p:nvGrpSpPr>
          <p:cNvPr id="8" name="도해 load"/>
          <p:cNvGrpSpPr/>
          <p:nvPr/>
        </p:nvGrpSpPr>
        <p:grpSpPr>
          <a:xfrm>
            <a:off x="566928" y="1554480"/>
            <a:ext cx="11057839" cy="2811308"/>
            <a:chOff x="566928" y="1554480"/>
            <a:chExt cx="11057839" cy="2811308"/>
          </a:xfrm>
        </p:grpSpPr>
        <p:sp>
          <p:nvSpPr>
            <p:cNvPr id="9" name="TextBox 8"/>
            <p:cNvSpPr txBox="1"/>
            <p:nvPr/>
          </p:nvSpPr>
          <p:spPr>
            <a:xfrm>
              <a:off x="566928" y="1554480"/>
              <a:ext cx="2521187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(a) serve 로그 기준 순수 적재 시간, 초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6928" y="1855232"/>
              <a:ext cx="130648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Coder 30B  prebuilt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37257" y="1892893"/>
              <a:ext cx="7478732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837257" y="1892893"/>
              <a:ext cx="7478732" cy="173613"/>
            </a:xfrm>
            <a:prstGeom prst="rect">
              <a:avLst/>
            </a:prstGeom>
            <a:solidFill>
              <a:srgbClr val="9DA5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422828" y="1855232"/>
              <a:ext cx="34958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938s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6928" y="2068910"/>
              <a:ext cx="127073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Coder 30B  custom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37257" y="2106571"/>
              <a:ext cx="7478732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837257" y="2106571"/>
              <a:ext cx="168232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422828" y="2068910"/>
              <a:ext cx="2717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21s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66928" y="2282588"/>
              <a:ext cx="137001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Qwen3 32B  prebuilt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837257" y="2320249"/>
              <a:ext cx="7478732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2837257" y="2320249"/>
              <a:ext cx="1683113" cy="173613"/>
            </a:xfrm>
            <a:prstGeom prst="rect">
              <a:avLst/>
            </a:prstGeom>
            <a:solidFill>
              <a:srgbClr val="9DA5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0422828" y="2282588"/>
              <a:ext cx="34958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211s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66928" y="2496266"/>
              <a:ext cx="133425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Qwen3 32B  custom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2837257" y="2533927"/>
              <a:ext cx="7478732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2837257" y="2533927"/>
              <a:ext cx="192151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422828" y="2496266"/>
              <a:ext cx="2717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24s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66928" y="2709944"/>
              <a:ext cx="142483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Instruct  prebuilt</a:t>
              </a: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837257" y="2747605"/>
              <a:ext cx="7478732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837257" y="2747605"/>
              <a:ext cx="2170267" cy="173613"/>
            </a:xfrm>
            <a:prstGeom prst="rect">
              <a:avLst/>
            </a:prstGeom>
            <a:solidFill>
              <a:srgbClr val="9DA5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0422828" y="2709944"/>
              <a:ext cx="34958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272s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6928" y="2923622"/>
              <a:ext cx="138908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Instruct  custom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2837257" y="2961283"/>
              <a:ext cx="7478732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837257" y="2961283"/>
              <a:ext cx="187367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0422828" y="2923622"/>
              <a:ext cx="2717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24s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6928" y="3137300"/>
              <a:ext cx="149425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Thinking  prebuilt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837257" y="3174961"/>
              <a:ext cx="7478732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837257" y="3174961"/>
              <a:ext cx="345234" cy="173613"/>
            </a:xfrm>
            <a:prstGeom prst="rect">
              <a:avLst/>
            </a:prstGeom>
            <a:solidFill>
              <a:srgbClr val="9DA5B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0422828" y="3137300"/>
              <a:ext cx="2717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43s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566928" y="3350978"/>
              <a:ext cx="145849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Thinking  custom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837257" y="3388639"/>
              <a:ext cx="7478732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Rectangle 39"/>
            <p:cNvSpPr/>
            <p:nvPr/>
          </p:nvSpPr>
          <p:spPr>
            <a:xfrm>
              <a:off x="2837257" y="3388639"/>
              <a:ext cx="179394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0422828" y="3350978"/>
              <a:ext cx="2717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22s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66928" y="3564656"/>
              <a:ext cx="1359213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EXAONE 4.0  custom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837257" y="3602317"/>
              <a:ext cx="7478732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2837257" y="3602317"/>
              <a:ext cx="241584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10422828" y="3564656"/>
              <a:ext cx="2717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30s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66928" y="3778334"/>
              <a:ext cx="853277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 custom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2837257" y="3815995"/>
              <a:ext cx="7478732" cy="173613"/>
            </a:xfrm>
            <a:prstGeom prst="rect">
              <a:avLst/>
            </a:prstGeom>
            <a:solidFill>
              <a:srgbClr val="EEF2F7"/>
            </a:solidFill>
            <a:ln w="10683">
              <a:solidFill>
                <a:srgbClr val="5B6B7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837257" y="3815995"/>
              <a:ext cx="171421" cy="173613"/>
            </a:xfrm>
            <a:prstGeom prst="rect">
              <a:avLst/>
            </a:prstGeom>
            <a:solidFill>
              <a:srgbClr val="FFD34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10422828" y="3778334"/>
              <a:ext cx="2717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22s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66928" y="4153072"/>
              <a:ext cx="6430120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prebuilt 는 4장에 펼치느라 오래 걸리고, custom tp8 은 카드 1장이라 짧다, 적재에 실패한 두 모델은 뺐다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822486" y="4160818"/>
              <a:ext cx="280228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serve 로그의 Loading LLM 부터 기동 완료까지</a:t>
              </a: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66928" y="4603532"/>
            <a:ext cx="11057839" cy="16692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라우터는 카드가 모자라면 쓰던 모델을 내리고 새로 올린다. 그래서 사용자가 체감하는 전환 시간은 여기에 내리는 시간이 더해진다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tp8 아티팩트는 카드 하나에 올리므로 짧고, tp32 FXB 는 4장에 펼치느라 길다. 모델을 자주 바꾸는 환경이라면 이 차이가 크게 다가온다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답변은 멀쩡한가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822960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4장 서버, 2026-08-28 실측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그림 5: 직접 빌드한 아티팩트별로 네 프롬프트의 답변이 정상인지, MoE 위장 여부와 나란히</a:t>
            </a:r>
          </a:p>
        </p:txBody>
      </p:sp>
      <p:grpSp>
        <p:nvGrpSpPr>
          <p:cNvPr id="8" name="도해 quality"/>
          <p:cNvGrpSpPr/>
          <p:nvPr/>
        </p:nvGrpSpPr>
        <p:grpSpPr>
          <a:xfrm>
            <a:off x="566928" y="1554480"/>
            <a:ext cx="11057839" cy="2731179"/>
            <a:chOff x="566928" y="1554480"/>
            <a:chExt cx="11057839" cy="2731179"/>
          </a:xfrm>
        </p:grpSpPr>
        <p:sp>
          <p:nvSpPr>
            <p:cNvPr id="9" name="TextBox 8"/>
            <p:cNvSpPr txBox="1"/>
            <p:nvPr/>
          </p:nvSpPr>
          <p:spPr>
            <a:xfrm>
              <a:off x="566928" y="1554480"/>
              <a:ext cx="2872581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(a) 아티팩트별 답변 상태, 프롬프트 4종 모두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17684" y="1676811"/>
              <a:ext cx="91076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MoE 위장 여부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66928" y="1946312"/>
              <a:ext cx="1549166" cy="30716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21851" y="1997328"/>
              <a:ext cx="123931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Coder 30B custom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3772099" y="1946312"/>
              <a:ext cx="1201939" cy="307162"/>
            </a:xfrm>
            <a:prstGeom prst="roundRect">
              <a:avLst>
                <a:gd name="adj" fmla="val 13043"/>
              </a:avLst>
            </a:prstGeom>
            <a:solidFill>
              <a:srgbClr val="FFD34D"/>
            </a:solidFill>
            <a:ln w="13354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154315" y="1997328"/>
              <a:ext cx="437506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위장함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107587" y="1946312"/>
              <a:ext cx="988261" cy="307162"/>
            </a:xfrm>
            <a:prstGeom prst="roundRect">
              <a:avLst>
                <a:gd name="adj" fmla="val 13043"/>
              </a:avLst>
            </a:prstGeom>
            <a:solidFill>
              <a:srgbClr val="9DA5B8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26453" y="1997328"/>
              <a:ext cx="55052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깨짐 4/4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566928" y="2293539"/>
              <a:ext cx="1549166" cy="30716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90090" y="2344555"/>
              <a:ext cx="130284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Qwen3 32B custom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3772099" y="2293539"/>
              <a:ext cx="1201939" cy="307162"/>
            </a:xfrm>
            <a:prstGeom prst="roundRect">
              <a:avLst>
                <a:gd name="adj" fmla="val 13043"/>
              </a:avLst>
            </a:prstGeom>
            <a:solidFill>
              <a:srgbClr val="EEF2F7"/>
            </a:solidFill>
            <a:ln w="13354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218819" y="2344555"/>
              <a:ext cx="30849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원본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107587" y="2293539"/>
              <a:ext cx="988261" cy="30716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26453" y="2344555"/>
              <a:ext cx="55052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정상 4/4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66928" y="2640766"/>
              <a:ext cx="1759505" cy="30716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67845" y="2691781"/>
              <a:ext cx="135767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Instruct custom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3772099" y="2640766"/>
              <a:ext cx="1201939" cy="307162"/>
            </a:xfrm>
            <a:prstGeom prst="roundRect">
              <a:avLst>
                <a:gd name="adj" fmla="val 13043"/>
              </a:avLst>
            </a:prstGeom>
            <a:solidFill>
              <a:srgbClr val="FFD34D"/>
            </a:solidFill>
            <a:ln w="13354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154315" y="2691781"/>
              <a:ext cx="437506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위장함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107587" y="2640766"/>
              <a:ext cx="988261" cy="307162"/>
            </a:xfrm>
            <a:prstGeom prst="roundRect">
              <a:avLst>
                <a:gd name="adj" fmla="val 13043"/>
              </a:avLst>
            </a:prstGeom>
            <a:solidFill>
              <a:srgbClr val="9DA5B8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26453" y="2691781"/>
              <a:ext cx="55052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깨짐 4/4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566928" y="2987993"/>
              <a:ext cx="1759505" cy="30716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3139" y="3039008"/>
              <a:ext cx="142708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Thinking custom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3772099" y="2987993"/>
              <a:ext cx="1201939" cy="307162"/>
            </a:xfrm>
            <a:prstGeom prst="roundRect">
              <a:avLst>
                <a:gd name="adj" fmla="val 13043"/>
              </a:avLst>
            </a:prstGeom>
            <a:solidFill>
              <a:srgbClr val="FFD34D"/>
            </a:solidFill>
            <a:ln w="13354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154315" y="3039008"/>
              <a:ext cx="437506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위장함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107587" y="2987993"/>
              <a:ext cx="988261" cy="307162"/>
            </a:xfrm>
            <a:prstGeom prst="roundRect">
              <a:avLst>
                <a:gd name="adj" fmla="val 13043"/>
              </a:avLst>
            </a:prstGeom>
            <a:solidFill>
              <a:srgbClr val="9DA5B8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26453" y="3039008"/>
              <a:ext cx="55052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깨짐 4/4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566928" y="3335219"/>
              <a:ext cx="1619279" cy="30716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12666" y="3386235"/>
              <a:ext cx="132780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EXAONE 4.0 custom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3772099" y="3335219"/>
              <a:ext cx="1201939" cy="307162"/>
            </a:xfrm>
            <a:prstGeom prst="roundRect">
              <a:avLst>
                <a:gd name="adj" fmla="val 13043"/>
              </a:avLst>
            </a:prstGeom>
            <a:solidFill>
              <a:srgbClr val="EEF2F7"/>
            </a:solidFill>
            <a:ln w="13354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218819" y="3386235"/>
              <a:ext cx="30849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원본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107587" y="3335219"/>
              <a:ext cx="988261" cy="30716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26453" y="3386235"/>
              <a:ext cx="55052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정상 4/4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566928" y="3682446"/>
              <a:ext cx="1128487" cy="307162"/>
            </a:xfrm>
            <a:prstGeom prst="roundRect">
              <a:avLst>
                <a:gd name="adj" fmla="val 13043"/>
              </a:avLst>
            </a:prstGeom>
            <a:solidFill>
              <a:srgbClr val="FFFFFF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20239" y="3733462"/>
              <a:ext cx="821866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A3B custom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3772099" y="3682446"/>
              <a:ext cx="1201939" cy="307162"/>
            </a:xfrm>
            <a:prstGeom prst="roundRect">
              <a:avLst>
                <a:gd name="adj" fmla="val 13043"/>
              </a:avLst>
            </a:prstGeom>
            <a:solidFill>
              <a:srgbClr val="FFD34D"/>
            </a:solidFill>
            <a:ln w="13354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154315" y="3733462"/>
              <a:ext cx="437506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위장함</a:t>
              </a:r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5107587" y="3682446"/>
              <a:ext cx="988261" cy="307162"/>
            </a:xfrm>
            <a:prstGeom prst="roundRect">
              <a:avLst>
                <a:gd name="adj" fmla="val 13043"/>
              </a:avLst>
            </a:prstGeom>
            <a:solidFill>
              <a:srgbClr val="9DA5B8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326453" y="3733462"/>
              <a:ext cx="55052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깨짐 3/4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030689" y="1554480"/>
              <a:ext cx="2316310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(b) 같은 프롬프트에 대한 답변 첫 줄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7030689" y="1783650"/>
              <a:ext cx="1275077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Coder 30B prebuilt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8740113" y="1783650"/>
              <a:ext cx="2471066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대한민국의 수도는 서울이다.   서울은 조선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030689" y="1983973"/>
              <a:ext cx="123931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Coder 30B custom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8740113" y="1983973"/>
              <a:ext cx="101636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같은 문자만 반복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030689" y="2224361"/>
              <a:ext cx="133859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Qwen3 32B prebuilt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740113" y="2224361"/>
              <a:ext cx="2666261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대한민국의 수도는 서울입니다. 서울은 조선시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030689" y="2424684"/>
              <a:ext cx="130284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Qwen3 32B custom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740113" y="2424684"/>
              <a:ext cx="251271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대한민국의 수도는 서울입니다. 서울은 194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7030689" y="2665072"/>
              <a:ext cx="139342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A3B Instruct prebuilt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740113" y="2665072"/>
              <a:ext cx="223492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대한민국의 수도는 서울이다.   1910년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7030689" y="2865395"/>
              <a:ext cx="135767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A3B Instruct custom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8740113" y="2865395"/>
              <a:ext cx="101636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같은 문자만 반복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030689" y="3105783"/>
              <a:ext cx="146284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A3B Thinking prebuilt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8740113" y="3105783"/>
              <a:ext cx="107974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사고만(예산 부족)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030689" y="3306106"/>
              <a:ext cx="142708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A3B Thinking custom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740113" y="3306106"/>
              <a:ext cx="101636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같은 문자만 반복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66928" y="4072943"/>
              <a:ext cx="4747779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처리량만 보면 custom 이 이기지만, 답변을 같이 보지 않으면 깨진 것을 놓친다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8484261" y="3867011"/>
              <a:ext cx="3140506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답변 원문은 results/&lt;모델&gt;.json 에 전부 저장돼 있다</a:t>
              </a: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566928" y="4523403"/>
            <a:ext cx="11057839" cy="17493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속도만 보면 custom 이 이기는 것처럼 보이지만, 답변을 같이 보면 MoE 위장을 한 아티팩트가 뜻 없는 문자를 반복한다. 처리량 지표는 깨진 출력도 똑같이 빠르게 센다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위장하지 않은 아티팩트(Qwen3-32B, EXAONE, Llama)는 셋 다 정상이고, 위장한 다섯은 모두 깨졌다. 깨진 쪽은 같은 문자를 반복하거나 질문과 무관한 다른 언어를 쏟아낸다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84048"/>
            <a:ext cx="11057839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게이트를 우회한 코드와 그 대가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097280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4장 서버, 2026-08-28 실측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코드 2: masquerade_moe.sh 가 바꾼 필드와 moe_check2.py 의 검증 절차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609344"/>
            <a:ext cx="11057839" cy="4663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73152" tIns="128016" bIns="36576"/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masquerade_moe.sh 가 한 일: artifact.json 의 model_type 문자열을 바꾼다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"model_metadata":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"model_type": "qwen3_moe",        →  "qwen3"      # 게이트가 보는 값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"hf_configs": {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"architectures": ["Qwen3MoeForCausalLM"]  →  ["Qwen3ForCausalLM"]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"num_local_experts": 128,     ← 이 MoE 키 8개가 함께 사라졌다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"num_experts_per_tok": 8,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      "moe_intermediate_size": 768, …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게이트가 실제로 뱉는 말 (원본 그대로 띄웠을 때)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pyo3_runtime.PanicException: Unsupported model metadata: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ModelMetadata { model_type: Some(Qwen3Moe), task: Some(Generate), … }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검증 실험(moe_check2.py): 세 가지로 바꿔 가며 같은 질문을 던진다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for 변형 in [위장본, 원본 qwen3_moe, 위장 + MoE키 8개 복원]: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artifact.json 을 그 변형으로 교체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kill_backend(model)          # 라우터가 다시 올리도록 백엔드를 죽인다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E6EDF3"/>
                </a:solidFill>
                <a:latin typeface="Consolas"/>
                <a:ea typeface="Consolas"/>
                <a:cs typeface="Consolas"/>
              </a:rPr>
              <a:t>    답 = 라우터에 같은 질문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400" b="0" i="0">
                <a:solidFill>
                  <a:srgbClr val="7D91A8"/>
                </a:solidFill>
                <a:latin typeface="Consolas"/>
                <a:ea typeface="Consolas"/>
                <a:cs typeface="Consolas"/>
              </a:rPr>
              <a:t># 결과: 위장본 깨짐 / 원본 안 뜸 / MoE키 복원본도 깨짐 → 키 소실은 원인이 아니다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게이트는 무엇을 막고 있었나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822960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4장 서버, 2026-08-28 실측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그림 6: 같은 MoE 모델이 배포 FXB 와 직접 빌드 v2 에서 갈리는 지점, 그리고 우회했을 때 벌어지는 일</a:t>
            </a:r>
          </a:p>
        </p:txBody>
      </p:sp>
      <p:grpSp>
        <p:nvGrpSpPr>
          <p:cNvPr id="8" name="도해 gate"/>
          <p:cNvGrpSpPr/>
          <p:nvPr/>
        </p:nvGrpSpPr>
        <p:grpSpPr>
          <a:xfrm>
            <a:off x="566928" y="1554480"/>
            <a:ext cx="11057839" cy="3129903"/>
            <a:chOff x="566928" y="1554480"/>
            <a:chExt cx="11057839" cy="3129903"/>
          </a:xfrm>
        </p:grpSpPr>
        <p:sp>
          <p:nvSpPr>
            <p:cNvPr id="9" name="TextBox 8"/>
            <p:cNvSpPr txBox="1"/>
            <p:nvPr/>
          </p:nvSpPr>
          <p:spPr>
            <a:xfrm>
              <a:off x="566928" y="1554480"/>
              <a:ext cx="1797052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(a) 같은 MoE 모델, 두 경로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66928" y="1946312"/>
              <a:ext cx="1736134" cy="360582"/>
            </a:xfrm>
            <a:prstGeom prst="roundRect">
              <a:avLst>
                <a:gd name="adj" fmla="val 14814"/>
              </a:avLst>
            </a:prstGeom>
            <a:solidFill>
              <a:srgbClr val="FFFFFF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34280" y="2024038"/>
              <a:ext cx="60143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배포 FXB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2329772" y="2119926"/>
              <a:ext cx="10683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2436611" y="2053151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5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2583515" y="1946312"/>
              <a:ext cx="2003232" cy="360582"/>
            </a:xfrm>
            <a:prstGeom prst="roundRect">
              <a:avLst>
                <a:gd name="adj" fmla="val 14814"/>
              </a:avLst>
            </a:prstGeom>
            <a:solidFill>
              <a:srgbClr val="FFFFFF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066924" y="2024038"/>
              <a:ext cx="103641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entrypoint 경로</a:t>
              </a:r>
            </a:p>
          </p:txBody>
        </p:sp>
        <p:cxnSp>
          <p:nvCxnSpPr>
            <p:cNvPr id="16" name="Connector 15"/>
            <p:cNvCxnSpPr/>
            <p:nvPr/>
          </p:nvCxnSpPr>
          <p:spPr>
            <a:xfrm>
              <a:off x="4613456" y="2119926"/>
              <a:ext cx="10683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Freeform 16"/>
            <p:cNvSpPr/>
            <p:nvPr/>
          </p:nvSpPr>
          <p:spPr>
            <a:xfrm>
              <a:off x="4720295" y="2053151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5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867199" y="1946312"/>
              <a:ext cx="1469037" cy="360582"/>
            </a:xfrm>
            <a:prstGeom prst="roundRect">
              <a:avLst>
                <a:gd name="adj" fmla="val 14814"/>
              </a:avLst>
            </a:prstGeom>
            <a:solidFill>
              <a:srgbClr val="EEF2F7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291046" y="2024038"/>
              <a:ext cx="62134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MoE 지원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6362945" y="2119926"/>
              <a:ext cx="10683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20"/>
            <p:cNvSpPr/>
            <p:nvPr/>
          </p:nvSpPr>
          <p:spPr>
            <a:xfrm>
              <a:off x="6469784" y="2053151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5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616688" y="1946312"/>
              <a:ext cx="2003232" cy="360582"/>
            </a:xfrm>
            <a:prstGeom prst="roundRect">
              <a:avLst>
                <a:gd name="adj" fmla="val 14814"/>
              </a:avLst>
            </a:prstGeom>
            <a:solidFill>
              <a:srgbClr val="EEF2F7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319341" y="2024038"/>
              <a:ext cx="59792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정상 답변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66928" y="2427088"/>
              <a:ext cx="1736134" cy="360582"/>
            </a:xfrm>
            <a:prstGeom prst="roundRect">
              <a:avLst>
                <a:gd name="adj" fmla="val 14814"/>
              </a:avLst>
            </a:prstGeom>
            <a:solidFill>
              <a:srgbClr val="FFFFFF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38155" y="2504813"/>
              <a:ext cx="79368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직접 빌드 v2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2329772" y="2600701"/>
              <a:ext cx="10683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 26"/>
            <p:cNvSpPr/>
            <p:nvPr/>
          </p:nvSpPr>
          <p:spPr>
            <a:xfrm>
              <a:off x="2436611" y="2533927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4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2583515" y="2427088"/>
              <a:ext cx="2003232" cy="360582"/>
            </a:xfrm>
            <a:prstGeom prst="roundRect">
              <a:avLst>
                <a:gd name="adj" fmla="val 14814"/>
              </a:avLst>
            </a:prstGeom>
            <a:solidFill>
              <a:srgbClr val="FFFFFF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15373" y="2504813"/>
              <a:ext cx="939516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next_gen 경로</a:t>
              </a:r>
            </a:p>
          </p:txBody>
        </p:sp>
        <p:cxnSp>
          <p:nvCxnSpPr>
            <p:cNvPr id="30" name="Connector 29"/>
            <p:cNvCxnSpPr/>
            <p:nvPr/>
          </p:nvCxnSpPr>
          <p:spPr>
            <a:xfrm>
              <a:off x="4613456" y="2600701"/>
              <a:ext cx="10683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Freeform 30"/>
            <p:cNvSpPr/>
            <p:nvPr/>
          </p:nvSpPr>
          <p:spPr>
            <a:xfrm>
              <a:off x="4720295" y="2533927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4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4867199" y="2427088"/>
              <a:ext cx="1469037" cy="360582"/>
            </a:xfrm>
            <a:prstGeom prst="roundRect">
              <a:avLst>
                <a:gd name="adj" fmla="val 14814"/>
              </a:avLst>
            </a:prstGeom>
            <a:solidFill>
              <a:srgbClr val="FFD34D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226542" y="2504813"/>
              <a:ext cx="75035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MoE 미지원</a:t>
              </a:r>
            </a:p>
          </p:txBody>
        </p:sp>
        <p:cxnSp>
          <p:nvCxnSpPr>
            <p:cNvPr id="34" name="Connector 33"/>
            <p:cNvCxnSpPr/>
            <p:nvPr/>
          </p:nvCxnSpPr>
          <p:spPr>
            <a:xfrm>
              <a:off x="6362945" y="2600701"/>
              <a:ext cx="10683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reeform 34"/>
            <p:cNvSpPr/>
            <p:nvPr/>
          </p:nvSpPr>
          <p:spPr>
            <a:xfrm>
              <a:off x="6469784" y="2533927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4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6616688" y="2427088"/>
              <a:ext cx="2003232" cy="360582"/>
            </a:xfrm>
            <a:prstGeom prst="roundRect">
              <a:avLst>
                <a:gd name="adj" fmla="val 14814"/>
              </a:avLst>
            </a:prstGeom>
            <a:solidFill>
              <a:srgbClr val="FFD34D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25829" y="2504813"/>
              <a:ext cx="98494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게이트가 막는다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566928" y="3014702"/>
              <a:ext cx="11057839" cy="320517"/>
            </a:xfrm>
            <a:prstGeom prst="roundRect">
              <a:avLst>
                <a:gd name="adj" fmla="val 12500"/>
              </a:avLst>
            </a:prstGeom>
            <a:solidFill>
              <a:srgbClr val="0F1B2A"/>
            </a:solidFill>
            <a:ln w="13354">
              <a:solidFill>
                <a:srgbClr val="0F1B2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27187" y="3065718"/>
              <a:ext cx="6644619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E6EDF3"/>
                  </a:solidFill>
                  <a:latin typeface="맑은 고딕"/>
                  <a:ea typeface="맑은 고딕"/>
                  <a:cs typeface="맑은 고딕"/>
                </a:rPr>
                <a:t>PanicException: Unsupported model metadata: ModelMetadata { model_type: Some(Qwen3Moe), … }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66928" y="3504292"/>
              <a:ext cx="1963995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(b) 우회하면 무슨 일이 생기나</a:t>
              </a: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566928" y="3815995"/>
              <a:ext cx="2213571" cy="454066"/>
            </a:xfrm>
            <a:prstGeom prst="roundRect">
              <a:avLst>
                <a:gd name="adj" fmla="val 11764"/>
              </a:avLst>
            </a:prstGeom>
            <a:solidFill>
              <a:srgbClr val="EEF2F7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292719" y="3845910"/>
              <a:ext cx="761989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게이트 우회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13585" y="4040624"/>
              <a:ext cx="1920258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model_type 을 qwen3 로 고침</a:t>
              </a:r>
            </a:p>
          </p:txBody>
        </p:sp>
        <p:cxnSp>
          <p:nvCxnSpPr>
            <p:cNvPr id="44" name="Connector 43"/>
            <p:cNvCxnSpPr/>
            <p:nvPr/>
          </p:nvCxnSpPr>
          <p:spPr>
            <a:xfrm>
              <a:off x="2807209" y="4043028"/>
              <a:ext cx="8012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reeform 44"/>
            <p:cNvSpPr/>
            <p:nvPr/>
          </p:nvSpPr>
          <p:spPr>
            <a:xfrm>
              <a:off x="2887338" y="3976254"/>
              <a:ext cx="120194" cy="133548"/>
            </a:xfrm>
            <a:custGeom>
              <a:avLst/>
              <a:gdLst/>
              <a:ahLst/>
              <a:cxnLst/>
              <a:rect l="l" t="t" r="r" b="b"/>
              <a:pathLst>
                <a:path w="120194" h="133548">
                  <a:moveTo>
                    <a:pt x="0" y="0"/>
                  </a:moveTo>
                  <a:lnTo>
                    <a:pt x="120194" y="66774"/>
                  </a:lnTo>
                  <a:lnTo>
                    <a:pt x="0" y="133548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Rounded Rectangle 45"/>
            <p:cNvSpPr/>
            <p:nvPr/>
          </p:nvSpPr>
          <p:spPr>
            <a:xfrm>
              <a:off x="3020887" y="3815995"/>
              <a:ext cx="2844589" cy="454066"/>
            </a:xfrm>
            <a:prstGeom prst="roundRect">
              <a:avLst>
                <a:gd name="adj" fmla="val 11764"/>
              </a:avLst>
            </a:prstGeom>
            <a:solidFill>
              <a:srgbClr val="EEF2F7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129762" y="3845910"/>
              <a:ext cx="626838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적재 성공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3338690" y="4040624"/>
              <a:ext cx="220898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가중치 29 GiB 정상 로드, 서버도 뜬다</a:t>
              </a:r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5892186" y="4043028"/>
              <a:ext cx="8012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Freeform 49"/>
            <p:cNvSpPr/>
            <p:nvPr/>
          </p:nvSpPr>
          <p:spPr>
            <a:xfrm>
              <a:off x="5972315" y="3976254"/>
              <a:ext cx="120194" cy="133548"/>
            </a:xfrm>
            <a:custGeom>
              <a:avLst/>
              <a:gdLst/>
              <a:ahLst/>
              <a:cxnLst/>
              <a:rect l="l" t="t" r="r" b="b"/>
              <a:pathLst>
                <a:path w="120194" h="133548">
                  <a:moveTo>
                    <a:pt x="0" y="0"/>
                  </a:moveTo>
                  <a:lnTo>
                    <a:pt x="120194" y="66774"/>
                  </a:lnTo>
                  <a:lnTo>
                    <a:pt x="0" y="133548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6105864" y="3815995"/>
              <a:ext cx="2283684" cy="454066"/>
            </a:xfrm>
            <a:prstGeom prst="roundRect">
              <a:avLst>
                <a:gd name="adj" fmla="val 11764"/>
              </a:avLst>
            </a:prstGeom>
            <a:solidFill>
              <a:srgbClr val="EEF2F7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934287" y="3845910"/>
              <a:ext cx="626838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에러 없음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385595" y="4040624"/>
              <a:ext cx="172422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로그에 아무 경고도 안 남는다</a:t>
              </a:r>
            </a:p>
          </p:txBody>
        </p:sp>
        <p:cxnSp>
          <p:nvCxnSpPr>
            <p:cNvPr id="54" name="Connector 53"/>
            <p:cNvCxnSpPr/>
            <p:nvPr/>
          </p:nvCxnSpPr>
          <p:spPr>
            <a:xfrm>
              <a:off x="8416258" y="4043028"/>
              <a:ext cx="8012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reeform 54"/>
            <p:cNvSpPr/>
            <p:nvPr/>
          </p:nvSpPr>
          <p:spPr>
            <a:xfrm>
              <a:off x="8496387" y="3976254"/>
              <a:ext cx="120194" cy="133548"/>
            </a:xfrm>
            <a:custGeom>
              <a:avLst/>
              <a:gdLst/>
              <a:ahLst/>
              <a:cxnLst/>
              <a:rect l="l" t="t" r="r" b="b"/>
              <a:pathLst>
                <a:path w="120194" h="133548">
                  <a:moveTo>
                    <a:pt x="0" y="0"/>
                  </a:moveTo>
                  <a:lnTo>
                    <a:pt x="120194" y="66774"/>
                  </a:lnTo>
                  <a:lnTo>
                    <a:pt x="0" y="133548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8629936" y="3815995"/>
              <a:ext cx="2844589" cy="454066"/>
            </a:xfrm>
            <a:prstGeom prst="roundRect">
              <a:avLst>
                <a:gd name="adj" fmla="val 11764"/>
              </a:avLst>
            </a:prstGeom>
            <a:solidFill>
              <a:srgbClr val="FFD34D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9738811" y="3845910"/>
              <a:ext cx="626838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답이 틀림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961410" y="4040624"/>
              <a:ext cx="218164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뜻 없는 출력, 실행마다 양상이 다르다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66928" y="4340040"/>
              <a:ext cx="5164398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터지면 알아채지만 조용히 틀리면 그대로 쓴다, 속도만 보는 벤치는 이것을 통과시킨다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478652" y="4481335"/>
              <a:ext cx="314611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chat/serve_logs/router.log, furiosa-llm 2026.3.0</a:t>
              </a:r>
            </a:p>
          </p:txBody>
        </p:sp>
      </p:grpSp>
      <p:sp>
        <p:nvSpPr>
          <p:cNvPr id="61" name="TextBox 60"/>
          <p:cNvSpPr txBox="1"/>
          <p:nvPr/>
        </p:nvSpPr>
        <p:spPr>
          <a:xfrm>
            <a:off x="566928" y="4922127"/>
            <a:ext cx="11057839" cy="13506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furiosa-llm 2026.3.0 의 v2 아티팩트 경로는 Qwen3Moe 를 지원하지 않는다고 명시적으로 거부한다. 같은 MoE 모델이라도 퓨리오사가 배포한 FXB 번들로는 정상 동작한다 — 이번 측정에서 prebuilt Coder 와 A3B 계열이 모두 제대로 답했다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model_type 문자열만 바꾸면 검사는 지나가지만 실행은 고쳐지지 않는다. 가중치는 MoE 구조 그대로인데 런타임이 dense 로 다루므로 결과가 틀린다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실패는 예외도 경고도 남기지 않는다. 오히려 처리량과 지연은 정상 모델과 비슷하거나 더 좋게 나오므로, 속도만 재는 벤치는 이것을 걸러내지 못한다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5F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사라진 설정 키가 원인인가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822960"/>
            <a:ext cx="11057839" cy="0"/>
          </a:xfrm>
          <a:prstGeom prst="line">
            <a:avLst/>
          </a:prstGeom>
          <a:ln w="15875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6455664"/>
            <a:ext cx="96862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RNGD 4장 서버, 2026-08-28 실측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6455664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7B"/>
                </a:solidFill>
                <a:latin typeface="Segoe UI"/>
                <a:ea typeface="맑은 고딕"/>
                <a:cs typeface="맑은 고딕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15568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그림 7: artifact.json 을 세 가지로 바꿔 같은 질문을 던진 결과, 가설을 기각한 실험</a:t>
            </a:r>
          </a:p>
        </p:txBody>
      </p:sp>
      <p:grpSp>
        <p:nvGrpSpPr>
          <p:cNvPr id="8" name="도해 verify"/>
          <p:cNvGrpSpPr/>
          <p:nvPr/>
        </p:nvGrpSpPr>
        <p:grpSpPr>
          <a:xfrm>
            <a:off x="566928" y="1554480"/>
            <a:ext cx="11057839" cy="2757889"/>
            <a:chOff x="566928" y="1554480"/>
            <a:chExt cx="11057839" cy="2757889"/>
          </a:xfrm>
        </p:grpSpPr>
        <p:sp>
          <p:nvSpPr>
            <p:cNvPr id="9" name="TextBox 8"/>
            <p:cNvSpPr txBox="1"/>
            <p:nvPr/>
          </p:nvSpPr>
          <p:spPr>
            <a:xfrm>
              <a:off x="566928" y="1554480"/>
              <a:ext cx="3589805" cy="222385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21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(a) artifact.json 을 세 가지로 바꿔 같은 질문을 던졌다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66928" y="1946312"/>
              <a:ext cx="2460636" cy="534195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568076" y="2002937"/>
              <a:ext cx="458339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위장본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8205" y="2224361"/>
              <a:ext cx="2158082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model_type=qwen3, MoE 키 없음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054274" y="2213410"/>
              <a:ext cx="13354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 13"/>
            <p:cNvSpPr/>
            <p:nvPr/>
          </p:nvSpPr>
          <p:spPr>
            <a:xfrm>
              <a:off x="3187823" y="2146635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5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4573391" y="1946312"/>
              <a:ext cx="7051376" cy="534195"/>
            </a:xfrm>
            <a:prstGeom prst="roundRect">
              <a:avLst>
                <a:gd name="adj" fmla="val 10000"/>
              </a:avLst>
            </a:prstGeom>
            <a:solidFill>
              <a:srgbClr val="EEF2F7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733650" y="2002937"/>
              <a:ext cx="1200791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떴지만 답이 아니다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733650" y="2224361"/>
              <a:ext cx="254412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질문과 무관한 내용 199자, 한국어가 아니다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566928" y="2560637"/>
              <a:ext cx="2741089" cy="534195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775878" y="2617261"/>
              <a:ext cx="323188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원본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2982" y="2838685"/>
              <a:ext cx="252898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model_type=qwen3_moe, MoE 키 있음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3334726" y="2827734"/>
              <a:ext cx="13354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Freeform 21"/>
            <p:cNvSpPr/>
            <p:nvPr/>
          </p:nvSpPr>
          <p:spPr>
            <a:xfrm>
              <a:off x="3468275" y="2760960"/>
              <a:ext cx="120194" cy="133548"/>
            </a:xfrm>
            <a:custGeom>
              <a:avLst/>
              <a:gdLst/>
              <a:ahLst/>
              <a:cxnLst/>
              <a:rect l="l" t="t" r="r" b="b"/>
              <a:pathLst>
                <a:path w="120194" h="133548">
                  <a:moveTo>
                    <a:pt x="0" y="0"/>
                  </a:moveTo>
                  <a:lnTo>
                    <a:pt x="120194" y="66774"/>
                  </a:lnTo>
                  <a:lnTo>
                    <a:pt x="0" y="133548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573391" y="2560637"/>
              <a:ext cx="7051376" cy="534195"/>
            </a:xfrm>
            <a:prstGeom prst="roundRect">
              <a:avLst>
                <a:gd name="adj" fmla="val 10000"/>
              </a:avLst>
            </a:prstGeom>
            <a:solidFill>
              <a:srgbClr val="EEF2F7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33650" y="2617261"/>
              <a:ext cx="761989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뜨지 못했다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733650" y="2838685"/>
              <a:ext cx="2984715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서빙 실패(state=error) — 게이트에 막혔을 수 있다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66928" y="3174961"/>
              <a:ext cx="2600862" cy="534195"/>
            </a:xfrm>
            <a:prstGeom prst="roundRect">
              <a:avLst>
                <a:gd name="adj" fmla="val 10000"/>
              </a:avLst>
            </a:prstGeom>
            <a:solidFill>
              <a:srgbClr val="FFD34D"/>
            </a:solidFill>
            <a:ln w="16025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638190" y="3231586"/>
              <a:ext cx="458339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절충본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23814" y="3453009"/>
              <a:ext cx="2287090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model_type=qwen3, MoE 키 되살림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3194500" y="3442058"/>
              <a:ext cx="133549" cy="0"/>
            </a:xfrm>
            <a:prstGeom prst="line">
              <a:avLst/>
            </a:prstGeom>
            <a:ln w="24038">
              <a:solidFill>
                <a:srgbClr val="5B6B7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3328049" y="3375284"/>
              <a:ext cx="120194" cy="133549"/>
            </a:xfrm>
            <a:custGeom>
              <a:avLst/>
              <a:gdLst/>
              <a:ahLst/>
              <a:cxnLst/>
              <a:rect l="l" t="t" r="r" b="b"/>
              <a:pathLst>
                <a:path w="120194" h="133549">
                  <a:moveTo>
                    <a:pt x="0" y="0"/>
                  </a:moveTo>
                  <a:lnTo>
                    <a:pt x="120194" y="66774"/>
                  </a:lnTo>
                  <a:lnTo>
                    <a:pt x="0" y="133549"/>
                  </a:lnTo>
                  <a:close/>
                </a:path>
              </a:pathLst>
            </a:custGeom>
            <a:solidFill>
              <a:srgbClr val="5B6B7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4573391" y="3174961"/>
              <a:ext cx="7051376" cy="534195"/>
            </a:xfrm>
            <a:prstGeom prst="roundRect">
              <a:avLst>
                <a:gd name="adj" fmla="val 10000"/>
              </a:avLst>
            </a:prstGeom>
            <a:solidFill>
              <a:srgbClr val="EEF2F7"/>
            </a:solidFill>
            <a:ln w="14690">
              <a:solidFill>
                <a:srgbClr val="25376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33650" y="3231586"/>
              <a:ext cx="1200791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떴지만 답이 아니다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733650" y="3453009"/>
              <a:ext cx="254412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0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질문과 무관한 내용 148자, 한국어가 아니다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66928" y="3832555"/>
              <a:ext cx="4255652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1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셋 중 어느 것도 질문에 답하지 못했다, MoE 키를 되살려도 마찬가지다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66928" y="4099653"/>
              <a:ext cx="4309272" cy="21271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l"/>
              <a:r>
                <a:rPr sz="1160" b="0">
                  <a:solidFill>
                    <a:srgbClr val="16202C"/>
                  </a:solidFill>
                  <a:latin typeface="맑은 고딕"/>
                  <a:ea typeface="맑은 고딕"/>
                  <a:cs typeface="맑은 고딕"/>
                </a:rPr>
                <a:t>사라진 설정 키가 원인이라는 가설은 기각됐다, 원인은 실행 경로 자체다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543903" y="4107398"/>
              <a:ext cx="1080864" cy="203048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r"/>
              <a:r>
                <a:rPr sz="1100" b="0">
                  <a:solidFill>
                    <a:srgbClr val="5B6B7B"/>
                  </a:solidFill>
                  <a:latin typeface="맑은 고딕"/>
                  <a:ea typeface="맑은 고딕"/>
                  <a:cs typeface="맑은 고딕"/>
                </a:rPr>
                <a:t>moe_check2.py</a:t>
              </a: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566928" y="4550113"/>
            <a:ext cx="11057839" cy="17226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위장할 때 MoE 설정 키 8개가 함께 지워지는 것은 사실이다. 그래서 그 키만 되살리고 model_type 위장은 유지한 절충본을 만들어 다시 띄워 봤다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절충본도 여전히 질문에 답하지 못했다. 따라서 원인은 메타데이터에 빠진 값이 아니라 실행 경로가 MoE 를 다루지 못한다는 사실 자체다</a:t>
            </a:r>
          </a:p>
          <a:p>
            <a:pPr algn="l">
              <a:lnSpc>
                <a:spcPct val="118000"/>
              </a:lnSpc>
              <a:spcBef>
                <a:spcPts val="600"/>
              </a:spcBef>
              <a:spcAft>
                <a:spcPts val="200"/>
              </a:spcAft>
            </a:pPr>
            <a:r>
              <a:rPr sz="1200" b="0" i="0">
                <a:solidFill>
                  <a:srgbClr val="16202C"/>
                </a:solidFill>
                <a:latin typeface="Segoe UI"/>
                <a:ea typeface="맑은 고딕"/>
                <a:cs typeface="맑은 고딕"/>
              </a:rPr>
              <a:t>▪  이 실험은 라우터를 거쳐 실제 서빙 경로로 했다. 끝난 뒤 artifact.json 은 원래 상태로 되돌려 두었다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